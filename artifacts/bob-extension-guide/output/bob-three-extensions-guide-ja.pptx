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1d56c44e824a60" /><Relationship Type="http://schemas.openxmlformats.org/officeDocument/2006/relationships/extended-properties" Target="/docProps/app.xml" Id="R2725e797ad394c4f" /><Relationship Type="http://schemas.openxmlformats.org/officeDocument/2006/relationships/officeDocument" Target="/ppt/presentation.xml" Id="R69047f19871c49ea" /></Relationships>
</file>

<file path=ppt/presentation.xml><?xml version="1.0" encoding="utf-8"?>
<p:presentation xmlns:p="http://schemas.openxmlformats.org/presentationml/2006/main">
  <p:sldMasterIdLst>
    <p:sldMasterId xmlns:r="http://schemas.openxmlformats.org/officeDocument/2006/relationships" id="2147483648" r:id="Re0bf1af557614383"/>
  </p:sldMasterIdLst>
  <p:notesMasterIdLst>
    <p:notesMasterId xmlns:r="http://schemas.openxmlformats.org/officeDocument/2006/relationships" r:id="R3be457ca09c94587"/>
  </p:notesMasterIdLst>
  <p:sldIdLst>
    <p:sldId xmlns:r="http://schemas.openxmlformats.org/officeDocument/2006/relationships" id="256" r:id="R0c4e8ec782044517"/>
    <p:sldId xmlns:r="http://schemas.openxmlformats.org/officeDocument/2006/relationships" id="257" r:id="R9b26c77f709f4f02"/>
    <p:sldId xmlns:r="http://schemas.openxmlformats.org/officeDocument/2006/relationships" id="258" r:id="R1320007375184a9a"/>
    <p:sldId xmlns:r="http://schemas.openxmlformats.org/officeDocument/2006/relationships" id="259" r:id="R8ad98bded6664738"/>
    <p:sldId xmlns:r="http://schemas.openxmlformats.org/officeDocument/2006/relationships" id="260" r:id="R5550adf6d26149a7"/>
    <p:sldId xmlns:r="http://schemas.openxmlformats.org/officeDocument/2006/relationships" id="261" r:id="R9fd0a52e52574ada"/>
    <p:sldId xmlns:r="http://schemas.openxmlformats.org/officeDocument/2006/relationships" id="262" r:id="Rc3e9ffe6dbe14771"/>
    <p:sldId xmlns:r="http://schemas.openxmlformats.org/officeDocument/2006/relationships" id="263" r:id="Rb51fe572dcf54f4f"/>
    <p:sldId xmlns:r="http://schemas.openxmlformats.org/officeDocument/2006/relationships" id="264" r:id="R6aad0a8871234b2e"/>
    <p:sldId xmlns:r="http://schemas.openxmlformats.org/officeDocument/2006/relationships" id="265" r:id="Ra33edfb893904494"/>
    <p:sldId xmlns:r="http://schemas.openxmlformats.org/officeDocument/2006/relationships" id="266" r:id="R90d39af6797e477c"/>
    <p:sldId xmlns:r="http://schemas.openxmlformats.org/officeDocument/2006/relationships" id="267" r:id="R06f9d36889f947e1"/>
    <p:sldId xmlns:r="http://schemas.openxmlformats.org/officeDocument/2006/relationships" id="268" r:id="R7a8a36217df94724"/>
    <p:sldId xmlns:r="http://schemas.openxmlformats.org/officeDocument/2006/relationships" id="269" r:id="R40ddd3e5314c4bca"/>
    <p:sldId xmlns:r="http://schemas.openxmlformats.org/officeDocument/2006/relationships" id="270" r:id="Rd0c11f38ef334f23"/>
    <p:sldId xmlns:r="http://schemas.openxmlformats.org/officeDocument/2006/relationships" id="271" r:id="R6abbd8c567c54317"/>
    <p:sldId xmlns:r="http://schemas.openxmlformats.org/officeDocument/2006/relationships" id="272" r:id="R7ec01bea5f514156"/>
    <p:sldId xmlns:r="http://schemas.openxmlformats.org/officeDocument/2006/relationships" id="273" r:id="R44ba75465dbf4f5a"/>
    <p:sldId xmlns:r="http://schemas.openxmlformats.org/officeDocument/2006/relationships" id="274" r:id="Rf9eb92a00efc4c93"/>
    <p:sldId xmlns:r="http://schemas.openxmlformats.org/officeDocument/2006/relationships" id="275" r:id="R6ce1a149e1f6463f"/>
    <p:sldId xmlns:r="http://schemas.openxmlformats.org/officeDocument/2006/relationships" id="276" r:id="R13bb7f179e2a4474"/>
    <p:sldId xmlns:r="http://schemas.openxmlformats.org/officeDocument/2006/relationships" id="277" r:id="Rbcc195b4330446f5"/>
    <p:sldId xmlns:r="http://schemas.openxmlformats.org/officeDocument/2006/relationships" id="278" r:id="Rce1c7effb9704284"/>
    <p:sldId xmlns:r="http://schemas.openxmlformats.org/officeDocument/2006/relationships" id="279" r:id="R0d4eb74139c04daa"/>
    <p:sldId xmlns:r="http://schemas.openxmlformats.org/officeDocument/2006/relationships" id="280" r:id="R6e1ab96de8d24525"/>
    <p:sldId xmlns:r="http://schemas.openxmlformats.org/officeDocument/2006/relationships" id="281" r:id="R84cba6189fdd47c2"/>
    <p:sldId xmlns:r="http://schemas.openxmlformats.org/officeDocument/2006/relationships" id="282" r:id="R36db2a886fcc4538"/>
    <p:sldId xmlns:r="http://schemas.openxmlformats.org/officeDocument/2006/relationships" id="283" r:id="R2aa548b411194a51"/>
    <p:sldId xmlns:r="http://schemas.openxmlformats.org/officeDocument/2006/relationships" id="284" r:id="Rbeeef32e35c54d70"/>
    <p:sldId xmlns:r="http://schemas.openxmlformats.org/officeDocument/2006/relationships" id="285" r:id="R447ebe70f5f84e53"/>
    <p:sldId xmlns:r="http://schemas.openxmlformats.org/officeDocument/2006/relationships" id="286" r:id="R4334d8c6be7e4e5c"/>
    <p:sldId xmlns:r="http://schemas.openxmlformats.org/officeDocument/2006/relationships" id="287" r:id="Re8aef29ea3ad4c91"/>
    <p:sldId xmlns:r="http://schemas.openxmlformats.org/officeDocument/2006/relationships" id="288" r:id="Rf221db3cfad74c9d"/>
    <p:sldId xmlns:r="http://schemas.openxmlformats.org/officeDocument/2006/relationships" id="289" r:id="R3986464796ff4c4e"/>
    <p:sldId xmlns:r="http://schemas.openxmlformats.org/officeDocument/2006/relationships" id="290" r:id="Ree9f223fbea64e35"/>
    <p:sldId xmlns:r="http://schemas.openxmlformats.org/officeDocument/2006/relationships" id="291" r:id="Re8f91105a04541e9"/>
    <p:sldId xmlns:r="http://schemas.openxmlformats.org/officeDocument/2006/relationships" id="292" r:id="R947bf6a9896d42b5"/>
    <p:sldId xmlns:r="http://schemas.openxmlformats.org/officeDocument/2006/relationships" id="293" r:id="Rd9e1698c5d6449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2d65f2b8674d55" /><Relationship Type="http://schemas.openxmlformats.org/officeDocument/2006/relationships/slideMaster" Target="/ppt/slideMasters/slideMaster1.xml" Id="Re0bf1af557614383" /><Relationship Type="http://schemas.openxmlformats.org/officeDocument/2006/relationships/notesMaster" Target="/ppt/notesMasters/notesMaster1.xml" Id="R3be457ca09c94587" /><Relationship Type="http://schemas.openxmlformats.org/officeDocument/2006/relationships/presProps" Target="/ppt/presProps.xml" Id="Re9c14a5e72694843" /><Relationship Type="http://schemas.openxmlformats.org/officeDocument/2006/relationships/tableStyles" Target="/ppt/tableStyles.xml" Id="R74ddebe460814d5e" /><Relationship Type="http://schemas.openxmlformats.org/officeDocument/2006/relationships/slide" Target="/ppt/slides/slide1.xml" Id="R0c4e8ec782044517" /><Relationship Type="http://schemas.openxmlformats.org/officeDocument/2006/relationships/slide" Target="/ppt/slides/slide2.xml" Id="R9b26c77f709f4f02" /><Relationship Type="http://schemas.openxmlformats.org/officeDocument/2006/relationships/slide" Target="/ppt/slides/slide3.xml" Id="R1320007375184a9a" /><Relationship Type="http://schemas.openxmlformats.org/officeDocument/2006/relationships/slide" Target="/ppt/slides/slide4.xml" Id="R8ad98bded6664738" /><Relationship Type="http://schemas.openxmlformats.org/officeDocument/2006/relationships/slide" Target="/ppt/slides/slide5.xml" Id="R5550adf6d26149a7" /><Relationship Type="http://schemas.openxmlformats.org/officeDocument/2006/relationships/slide" Target="/ppt/slides/slide6.xml" Id="R9fd0a52e52574ada" /><Relationship Type="http://schemas.openxmlformats.org/officeDocument/2006/relationships/slide" Target="/ppt/slides/slide7.xml" Id="Rc3e9ffe6dbe14771" /><Relationship Type="http://schemas.openxmlformats.org/officeDocument/2006/relationships/slide" Target="/ppt/slides/slide8.xml" Id="Rb51fe572dcf54f4f" /><Relationship Type="http://schemas.openxmlformats.org/officeDocument/2006/relationships/slide" Target="/ppt/slides/slide9.xml" Id="R6aad0a8871234b2e" /><Relationship Type="http://schemas.openxmlformats.org/officeDocument/2006/relationships/slide" Target="/ppt/slides/slide10.xml" Id="Ra33edfb893904494" /><Relationship Type="http://schemas.openxmlformats.org/officeDocument/2006/relationships/slide" Target="/ppt/slides/slide11.xml" Id="R90d39af6797e477c" /><Relationship Type="http://schemas.openxmlformats.org/officeDocument/2006/relationships/slide" Target="/ppt/slides/slide12.xml" Id="R06f9d36889f947e1" /><Relationship Type="http://schemas.openxmlformats.org/officeDocument/2006/relationships/slide" Target="/ppt/slides/slide13.xml" Id="R7a8a36217df94724" /><Relationship Type="http://schemas.openxmlformats.org/officeDocument/2006/relationships/slide" Target="/ppt/slides/slide14.xml" Id="R40ddd3e5314c4bca" /><Relationship Type="http://schemas.openxmlformats.org/officeDocument/2006/relationships/slide" Target="/ppt/slides/slide15.xml" Id="Rd0c11f38ef334f23" /><Relationship Type="http://schemas.openxmlformats.org/officeDocument/2006/relationships/slide" Target="/ppt/slides/slide16.xml" Id="R6abbd8c567c54317" /><Relationship Type="http://schemas.openxmlformats.org/officeDocument/2006/relationships/slide" Target="/ppt/slides/slide17.xml" Id="R7ec01bea5f514156" /><Relationship Type="http://schemas.openxmlformats.org/officeDocument/2006/relationships/slide" Target="/ppt/slides/slide18.xml" Id="R44ba75465dbf4f5a" /><Relationship Type="http://schemas.openxmlformats.org/officeDocument/2006/relationships/slide" Target="/ppt/slides/slide19.xml" Id="Rf9eb92a00efc4c93" /><Relationship Type="http://schemas.openxmlformats.org/officeDocument/2006/relationships/slide" Target="/ppt/slides/slide20.xml" Id="R6ce1a149e1f6463f" /><Relationship Type="http://schemas.openxmlformats.org/officeDocument/2006/relationships/slide" Target="/ppt/slides/slide21.xml" Id="R13bb7f179e2a4474" /><Relationship Type="http://schemas.openxmlformats.org/officeDocument/2006/relationships/slide" Target="/ppt/slides/slide22.xml" Id="Rbcc195b4330446f5" /><Relationship Type="http://schemas.openxmlformats.org/officeDocument/2006/relationships/slide" Target="/ppt/slides/slide23.xml" Id="Rce1c7effb9704284" /><Relationship Type="http://schemas.openxmlformats.org/officeDocument/2006/relationships/slide" Target="/ppt/slides/slide24.xml" Id="R0d4eb74139c04daa" /><Relationship Type="http://schemas.openxmlformats.org/officeDocument/2006/relationships/slide" Target="/ppt/slides/slide25.xml" Id="R6e1ab96de8d24525" /><Relationship Type="http://schemas.openxmlformats.org/officeDocument/2006/relationships/slide" Target="/ppt/slides/slide26.xml" Id="R84cba6189fdd47c2" /><Relationship Type="http://schemas.openxmlformats.org/officeDocument/2006/relationships/slide" Target="/ppt/slides/slide27.xml" Id="R36db2a886fcc4538" /><Relationship Type="http://schemas.openxmlformats.org/officeDocument/2006/relationships/slide" Target="/ppt/slides/slide28.xml" Id="R2aa548b411194a51" /><Relationship Type="http://schemas.openxmlformats.org/officeDocument/2006/relationships/slide" Target="/ppt/slides/slide29.xml" Id="Rbeeef32e35c54d70" /><Relationship Type="http://schemas.openxmlformats.org/officeDocument/2006/relationships/slide" Target="/ppt/slides/slide30.xml" Id="R447ebe70f5f84e53" /><Relationship Type="http://schemas.openxmlformats.org/officeDocument/2006/relationships/slide" Target="/ppt/slides/slide31.xml" Id="R4334d8c6be7e4e5c" /><Relationship Type="http://schemas.openxmlformats.org/officeDocument/2006/relationships/slide" Target="/ppt/slides/slide32.xml" Id="Re8aef29ea3ad4c91" /><Relationship Type="http://schemas.openxmlformats.org/officeDocument/2006/relationships/slide" Target="/ppt/slides/slide33.xml" Id="Rf221db3cfad74c9d" /><Relationship Type="http://schemas.openxmlformats.org/officeDocument/2006/relationships/slide" Target="/ppt/slides/slide34.xml" Id="R3986464796ff4c4e" /><Relationship Type="http://schemas.openxmlformats.org/officeDocument/2006/relationships/slide" Target="/ppt/slides/slide35.xml" Id="Ree9f223fbea64e35" /><Relationship Type="http://schemas.openxmlformats.org/officeDocument/2006/relationships/slide" Target="/ppt/slides/slide36.xml" Id="Re8f91105a04541e9" /><Relationship Type="http://schemas.openxmlformats.org/officeDocument/2006/relationships/slide" Target="/ppt/slides/slide37.xml" Id="R947bf6a9896d42b5" /><Relationship Type="http://schemas.openxmlformats.org/officeDocument/2006/relationships/slide" Target="/ppt/slides/slide38.xml" Id="Rd9e1698c5d6449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e90c18ada948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80095bde8746d5" /><Relationship Type="http://schemas.openxmlformats.org/officeDocument/2006/relationships/notesMaster" Target="/ppt/notesMasters/notesMaster1.xml" Id="R29b9d5abc7c840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b7d0a6c22754900" /><Relationship Type="http://schemas.openxmlformats.org/officeDocument/2006/relationships/notesMaster" Target="/ppt/notesMasters/notesMaster1.xml" Id="R3e69c504ccbd4c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38d6b15bce4d3c" /><Relationship Type="http://schemas.openxmlformats.org/officeDocument/2006/relationships/notesMaster" Target="/ppt/notesMasters/notesMaster1.xml" Id="Rdb1e53a3fd224b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334b9a1217467c" /><Relationship Type="http://schemas.openxmlformats.org/officeDocument/2006/relationships/notesMaster" Target="/ppt/notesMasters/notesMaster1.xml" Id="R6ed4602a2c1744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d88617433d489e" /><Relationship Type="http://schemas.openxmlformats.org/officeDocument/2006/relationships/notesMaster" Target="/ppt/notesMasters/notesMaster1.xml" Id="Rda12e157b28148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9f936bdad443fd" /><Relationship Type="http://schemas.openxmlformats.org/officeDocument/2006/relationships/notesMaster" Target="/ppt/notesMasters/notesMaster1.xml" Id="R0e54b98952da41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245c7e91ea4c84" /><Relationship Type="http://schemas.openxmlformats.org/officeDocument/2006/relationships/notesMaster" Target="/ppt/notesMasters/notesMaster1.xml" Id="Rad36b7bdfdaa4e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2c533e94484ee7" /><Relationship Type="http://schemas.openxmlformats.org/officeDocument/2006/relationships/notesMaster" Target="/ppt/notesMasters/notesMaster1.xml" Id="R1ec9d07db4334a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88108b30ed4e5a" /><Relationship Type="http://schemas.openxmlformats.org/officeDocument/2006/relationships/notesMaster" Target="/ppt/notesMasters/notesMaster1.xml" Id="R49f81b4cfa6e43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fe977607754f5f" /><Relationship Type="http://schemas.openxmlformats.org/officeDocument/2006/relationships/notesMaster" Target="/ppt/notesMasters/notesMaster1.xml" Id="R0601894416694b8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18a380b7d3e4c2d" /><Relationship Type="http://schemas.openxmlformats.org/officeDocument/2006/relationships/notesMaster" Target="/ppt/notesMasters/notesMaster1.xml" Id="Re64693d3e51242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21ae87b933541cb" /><Relationship Type="http://schemas.openxmlformats.org/officeDocument/2006/relationships/notesMaster" Target="/ppt/notesMasters/notesMaster1.xml" Id="R3a82ef2f982741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181c4b69144ce4" /><Relationship Type="http://schemas.openxmlformats.org/officeDocument/2006/relationships/notesMaster" Target="/ppt/notesMasters/notesMaster1.xml" Id="Rdc8b884761d54d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86ffbf7d3f34068" /><Relationship Type="http://schemas.openxmlformats.org/officeDocument/2006/relationships/notesMaster" Target="/ppt/notesMasters/notesMaster1.xml" Id="Rf86deb1d8422441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a25329fbdde4b2c" /><Relationship Type="http://schemas.openxmlformats.org/officeDocument/2006/relationships/notesMaster" Target="/ppt/notesMasters/notesMaster1.xml" Id="R35272bb6702d41b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c16651bd5134fb2" /><Relationship Type="http://schemas.openxmlformats.org/officeDocument/2006/relationships/notesMaster" Target="/ppt/notesMasters/notesMaster1.xml" Id="R53b05402d035431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c43595be4a54ec7" /><Relationship Type="http://schemas.openxmlformats.org/officeDocument/2006/relationships/notesMaster" Target="/ppt/notesMasters/notesMaster1.xml" Id="Rd1b8f1599e79488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f782250ecd447e0" /><Relationship Type="http://schemas.openxmlformats.org/officeDocument/2006/relationships/notesMaster" Target="/ppt/notesMasters/notesMaster1.xml" Id="R9b1de967f10848c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de3de2d1aae4124" /><Relationship Type="http://schemas.openxmlformats.org/officeDocument/2006/relationships/notesMaster" Target="/ppt/notesMasters/notesMaster1.xml" Id="R5d14f7123a17494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9aa84dd983440d5" /><Relationship Type="http://schemas.openxmlformats.org/officeDocument/2006/relationships/notesMaster" Target="/ppt/notesMasters/notesMaster1.xml" Id="R5e4b51de90fa4c4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093be5de5c6446a" /><Relationship Type="http://schemas.openxmlformats.org/officeDocument/2006/relationships/notesMaster" Target="/ppt/notesMasters/notesMaster1.xml" Id="R52bd047ea8974dc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b089e3404ab40f7" /><Relationship Type="http://schemas.openxmlformats.org/officeDocument/2006/relationships/notesMaster" Target="/ppt/notesMasters/notesMaster1.xml" Id="Rd6fcb9186f50470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5f850e190cc4182" /><Relationship Type="http://schemas.openxmlformats.org/officeDocument/2006/relationships/notesMaster" Target="/ppt/notesMasters/notesMaster1.xml" Id="R490dffcd107448d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cb4f30f6ce8442d" /><Relationship Type="http://schemas.openxmlformats.org/officeDocument/2006/relationships/notesMaster" Target="/ppt/notesMasters/notesMaster1.xml" Id="Rcdedcbb366114e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df423c5c2d04cbe" /><Relationship Type="http://schemas.openxmlformats.org/officeDocument/2006/relationships/notesMaster" Target="/ppt/notesMasters/notesMaster1.xml" Id="R8d870ff4491e481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02ceb07dd0145b4" /><Relationship Type="http://schemas.openxmlformats.org/officeDocument/2006/relationships/notesMaster" Target="/ppt/notesMasters/notesMaster1.xml" Id="Rb6a8c3d16969478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64ab8ef241f4c27" /><Relationship Type="http://schemas.openxmlformats.org/officeDocument/2006/relationships/notesMaster" Target="/ppt/notesMasters/notesMaster1.xml" Id="Rad025b545956465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0c984bfbb024abc" /><Relationship Type="http://schemas.openxmlformats.org/officeDocument/2006/relationships/notesMaster" Target="/ppt/notesMasters/notesMaster1.xml" Id="R752c3abd54c740a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8c42a9542cf4866" /><Relationship Type="http://schemas.openxmlformats.org/officeDocument/2006/relationships/notesMaster" Target="/ppt/notesMasters/notesMaster1.xml" Id="Rc3a15ff10f40496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ba8cb4b057a4ed1" /><Relationship Type="http://schemas.openxmlformats.org/officeDocument/2006/relationships/notesMaster" Target="/ppt/notesMasters/notesMaster1.xml" Id="Rd7d4facec3f34d0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8c72fb9447d465f" /><Relationship Type="http://schemas.openxmlformats.org/officeDocument/2006/relationships/notesMaster" Target="/ppt/notesMasters/notesMaster1.xml" Id="Re17af20197914f1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66da7e29e7e44ec" /><Relationship Type="http://schemas.openxmlformats.org/officeDocument/2006/relationships/notesMaster" Target="/ppt/notesMasters/notesMaster1.xml" Id="R8a4a278e10b64dd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112d679d73f405f" /><Relationship Type="http://schemas.openxmlformats.org/officeDocument/2006/relationships/notesMaster" Target="/ppt/notesMasters/notesMaster1.xml" Id="R39eb39a5ce4e4b5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d3f66a4a0104c1e" /><Relationship Type="http://schemas.openxmlformats.org/officeDocument/2006/relationships/notesMaster" Target="/ppt/notesMasters/notesMaster1.xml" Id="R3a54761a66ae457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e2f289615964438" /><Relationship Type="http://schemas.openxmlformats.org/officeDocument/2006/relationships/notesMaster" Target="/ppt/notesMasters/notesMaster1.xml" Id="R80e577ab460e43f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bd9815409ea40b1" /><Relationship Type="http://schemas.openxmlformats.org/officeDocument/2006/relationships/notesMaster" Target="/ppt/notesMasters/notesMaster1.xml" Id="R10b682ce65d5427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0bbdbcf607a4eb1" /><Relationship Type="http://schemas.openxmlformats.org/officeDocument/2006/relationships/notesMaster" Target="/ppt/notesMasters/notesMaster1.xml" Id="R8ed9c6a220ea48c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b77acf3fd624657" /><Relationship Type="http://schemas.openxmlformats.org/officeDocument/2006/relationships/notesMaster" Target="/ppt/notesMasters/notesMaster1.xml" Id="R1329215eb6fa43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Bob 3拡張機能</a:t>
            </a:r>
          </a:p>
          <a:p xmlns:a="http://schemas.openxmlformats.org/drawingml/2006/main">
            <a:r>
              <a:t/>
            </a:r>
          </a:p>
          <a:p xmlns:a="http://schemas.openxmlformats.org/drawingml/2006/main">
            <a:r>
              <a:t>この資料は、bob_builtin_analyzeの3つのローカルVS Code拡張を説明します。対象はworkflow-register、bob-bazaar-review、bob-code-consistency-reviewです。IBM Bob本体の全機能を網羅する資料ではありません。利用者が使い分けを理解し、開発者が処理のつながりを追えるよう、用途から構成、実行のしくみへ進みます。基準コミットは3567883dです。</a:t>
            </a:r>
          </a:p>
          <a:p xmlns:a="http://schemas.openxmlformats.org/drawingml/2006/main">
            <a:r>
              <a:t/>
            </a:r>
          </a:p>
          <a:p xmlns:a="http://schemas.openxmlformats.org/drawingml/2006/main">
            <a:r>
              <a:t>参照元（基準 commit 3567883d）</a:t>
            </a:r>
          </a:p>
          <a:p xmlns:a="http://schemas.openxmlformats.org/drawingml/2006/main">
            <a:r>
              <a:t>extensions/README.md:3</a:t>
            </a:r>
          </a:p>
          <a:p xmlns:a="http://schemas.openxmlformats.org/drawingml/2006/main">
            <a:r>
              <a:t>https://github.com/katamor1/bob_builtin_analyze/blob/3567883d/extensions/README.md#L3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3拡張でできること</a:t>
            </a:r>
          </a:p>
          <a:p xmlns:a="http://schemas.openxmlformats.org/drawingml/2006/main">
            <a:r>
              <a:t/>
            </a:r>
          </a:p>
          <a:p xmlns:a="http://schemas.openxmlformats.org/drawingml/2006/main">
            <a:r>
              <a:t>ワークフロー管理は汎用の進行基盤です。レビューそのものの専門処理は2つの拡張が担当します。BazaarレビューはBazaarのリビジョンや作業ツリーを対象に、プロジェクト規約を加えた確認を支援します。整合プレレビューはGit/Bazaarの差分と要求・設計・テスト文書を組み合わせます。各拡張は必須の相互依存を持たず、連携先がない場合も利用可能なローカル機能を維持します。</a:t>
            </a:r>
          </a:p>
          <a:p xmlns:a="http://schemas.openxmlformats.org/drawingml/2006/main">
            <a:r>
              <a:t/>
            </a:r>
          </a:p>
          <a:p xmlns:a="http://schemas.openxmlformats.org/drawingml/2006/main">
            <a:r>
              <a:t>参照元（基準 commit 3567883d）</a:t>
            </a:r>
          </a:p>
          <a:p xmlns:a="http://schemas.openxmlformats.org/drawingml/2006/main">
            <a:r>
              <a:t>extensions/README.md:5</a:t>
            </a:r>
          </a:p>
          <a:p xmlns:a="http://schemas.openxmlformats.org/drawingml/2006/main">
            <a:r>
              <a:t>https://github.com/katamor1/bob_builtin_analyze/blob/3567883d/extensions/README.md#L5</a:t>
            </a:r>
          </a:p>
          <a:p xmlns:a="http://schemas.openxmlformats.org/drawingml/2006/main">
            <a:r>
              <a:t/>
            </a:r>
          </a:p>
          <a:p xmlns:a="http://schemas.openxmlformats.org/drawingml/2006/main">
            <a:r>
              <a:t>docs/bob-three-extension-architecture-decision-ja.md:53</a:t>
            </a:r>
          </a:p>
          <a:p xmlns:a="http://schemas.openxmlformats.org/drawingml/2006/main">
            <a:r>
              <a:t>https://github.com/katamor1/bob_builtin_analyze/blob/3567883d/docs/bob-three-extension-architecture-decision-ja.md#L53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IBM Bobと3拡張の全体構成</a:t>
            </a:r>
          </a:p>
          <a:p xmlns:a="http://schemas.openxmlformats.org/drawingml/2006/main">
            <a:r>
              <a:t/>
            </a:r>
          </a:p>
          <a:p xmlns:a="http://schemas.openxmlformats.org/drawingml/2006/main">
            <a:r>
              <a:t>構成図の線は呼び出しや登録の関係を表します。workflow-registerがaction provider、agent provider、result sinkの接続点を提供し、各レビュー拡張は専門処理を登録します。IBM.bob-codeとの接続はBob UI登録やBobタスク連携に使います。Bobがなくても編集・検証やローカル前処理は利用できますが、AIステップにはBobまたは設定済みagent providerが必要です。3つのVSIXを1つに統合する設計ではありません。</a:t>
            </a:r>
          </a:p>
          <a:p xmlns:a="http://schemas.openxmlformats.org/drawingml/2006/main">
            <a:r>
              <a:t/>
            </a:r>
          </a:p>
          <a:p xmlns:a="http://schemas.openxmlformats.org/drawingml/2006/main">
            <a:r>
              <a:t>参照元（基準 commit 3567883d）</a:t>
            </a:r>
          </a:p>
          <a:p xmlns:a="http://schemas.openxmlformats.org/drawingml/2006/main">
            <a:r>
              <a:t>docs/bob-three-extension-architecture-decision-ja.md:12</a:t>
            </a:r>
          </a:p>
          <a:p xmlns:a="http://schemas.openxmlformats.org/drawingml/2006/main">
            <a:r>
              <a:t>https://github.com/katamor1/bob_builtin_analyze/blob/3567883d/docs/bob-three-extension-architecture-decision-ja.md#L12</a:t>
            </a:r>
          </a:p>
          <a:p xmlns:a="http://schemas.openxmlformats.org/drawingml/2006/main">
            <a:r>
              <a:t/>
            </a:r>
          </a:p>
          <a:p xmlns:a="http://schemas.openxmlformats.org/drawingml/2006/main">
            <a:r>
              <a:t>extensions/workflow-register/README.md:18</a:t>
            </a:r>
          </a:p>
          <a:p xmlns:a="http://schemas.openxmlformats.org/drawingml/2006/main">
            <a:r>
              <a:t>https://github.com/katamor1/bob_builtin_analyze/blob/3567883d/extensions/workflow-register/README.md#L18</a:t>
            </a:r>
          </a:p>
          <a:p xmlns:a="http://schemas.openxmlformats.org/drawingml/2006/main">
            <a:r>
              <a:t/>
            </a:r>
          </a:p>
          <a:p xmlns:a="http://schemas.openxmlformats.org/drawingml/2006/main">
            <a:r>
              <a:t>extensions/workflow-register/src/workflowRuntimeFactory.ts:49</a:t>
            </a:r>
          </a:p>
          <a:p xmlns:a="http://schemas.openxmlformats.org/drawingml/2006/main">
            <a:r>
              <a:t>https://github.com/katamor1/bob_builtin_analyze/blob/3567883d/extensions/workflow-register/src/workflowRuntimeFactory.ts#L49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機械処理・AI・人間の役割</a:t>
            </a:r>
          </a:p>
          <a:p xmlns:a="http://schemas.openxmlformats.org/drawingml/2006/main">
            <a:r>
              <a:t/>
            </a:r>
          </a:p>
          <a:p xmlns:a="http://schemas.openxmlformats.org/drawingml/2006/main">
            <a:r>
              <a:t>機械処理は再現しやすい収集や検証、AIは文書とコードの意味を踏まえた候補作成、人間は採否や業務判断を担います。schemaや根拠IDの検証に通っても、指摘内容が正しいことを保証するものではありません。人が確認できる資料と判断記録を残すことが共通の設計です。この役割分担を以降の図でも用います。</a:t>
            </a:r>
          </a:p>
          <a:p xmlns:a="http://schemas.openxmlformats.org/drawingml/2006/main">
            <a:r>
              <a:t/>
            </a:r>
          </a:p>
          <a:p xmlns:a="http://schemas.openxmlformats.org/drawingml/2006/main">
            <a:r>
              <a:t>参照元（基準 commit 3567883d）</a:t>
            </a:r>
          </a:p>
          <a:p xmlns:a="http://schemas.openxmlformats.org/drawingml/2006/main">
            <a:r>
              <a:t>extensions/bob-code-consistency-review/README.md:1</a:t>
            </a:r>
          </a:p>
          <a:p xmlns:a="http://schemas.openxmlformats.org/drawingml/2006/main">
            <a:r>
              <a:t>https://github.com/katamor1/bob_builtin_analyze/blob/3567883d/extensions/bob-code-consistency-review/README.md#L1</a:t>
            </a:r>
          </a:p>
          <a:p xmlns:a="http://schemas.openxmlformats.org/drawingml/2006/main">
            <a:r>
              <a:t/>
            </a:r>
          </a:p>
          <a:p xmlns:a="http://schemas.openxmlformats.org/drawingml/2006/main">
            <a:r>
              <a:t>extensions/bob-bazaar-review/README.md:7</a:t>
            </a:r>
          </a:p>
          <a:p xmlns:a="http://schemas.openxmlformats.org/drawingml/2006/main">
            <a:r>
              <a:t>https://github.com/katamor1/bob_builtin_analyze/blob/3567883d/extensions/bob-bazaar-review/README.md#L7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5つの公開コマンドと操作画面</a:t>
            </a:r>
          </a:p>
          <a:p xmlns:a="http://schemas.openxmlformats.org/drawingml/2006/main">
            <a:r>
              <a:t/>
            </a:r>
          </a:p>
          <a:p xmlns:a="http://schemas.openxmlformats.org/drawingml/2006/main">
            <a:r>
              <a:t>公開コマンドの正確な表示名を示しています。Command IDは順にworkflowRegister.openOperationHub、workflowRegister.openWorkflowBuilder、bobBazaar.openReviewGui、bobBazaar.authorProjectRulesFromDocuments、bobCodeConsistency.openReviewWizardです。これ以外にも登録済みコマンドがありますが、多くはworkflowや内部連携用でCommand Paletteには常時表示しません。規約作成は公開コマンドで準備した後、Bob UIで対象workflowを開始する経路を持ちます。</a:t>
            </a:r>
          </a:p>
          <a:p xmlns:a="http://schemas.openxmlformats.org/drawingml/2006/main">
            <a:r>
              <a:t/>
            </a:r>
          </a:p>
          <a:p xmlns:a="http://schemas.openxmlformats.org/drawingml/2006/main">
            <a:r>
              <a:t>参照元（基準 commit 3567883d）</a:t>
            </a:r>
          </a:p>
          <a:p xmlns:a="http://schemas.openxmlformats.org/drawingml/2006/main">
            <a:r>
              <a:t>extensions/README.md:11</a:t>
            </a:r>
          </a:p>
          <a:p xmlns:a="http://schemas.openxmlformats.org/drawingml/2006/main">
            <a:r>
              <a:t>https://github.com/katamor1/bob_builtin_analyze/blob/3567883d/extensions/README.md#L11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ワークフロー管理の用途と操作ハブ</a:t>
            </a:r>
          </a:p>
          <a:p xmlns:a="http://schemas.openxmlformats.org/drawingml/2006/main">
            <a:r>
              <a:t/>
            </a:r>
          </a:p>
          <a:p xmlns:a="http://schemas.openxmlformats.org/drawingml/2006/main">
            <a:r>
              <a:t>操作ハブはワークフロー運用の単一panelです。setup状態、workflow catalog、run一覧、current step、成果物、diagnosticsをまとめます。resume、retry、accept、run-nextなどは状態に応じて選びます。画面からの更新時はworkspace root、run ID、表示時revisionを再検証し、同一runへの操作を直列化します。画面だけが状態の正本ではなく、保存された実行状態と同期します。</a:t>
            </a:r>
          </a:p>
          <a:p xmlns:a="http://schemas.openxmlformats.org/drawingml/2006/main">
            <a:r>
              <a:t/>
            </a:r>
          </a:p>
          <a:p xmlns:a="http://schemas.openxmlformats.org/drawingml/2006/main">
            <a:r>
              <a:t>参照元（基準 commit 3567883d）</a:t>
            </a:r>
          </a:p>
          <a:p xmlns:a="http://schemas.openxmlformats.org/drawingml/2006/main">
            <a:r>
              <a:t>extensions/workflow-register/README.md:27</a:t>
            </a:r>
          </a:p>
          <a:p xmlns:a="http://schemas.openxmlformats.org/drawingml/2006/main">
            <a:r>
              <a:t>https://github.com/katamor1/bob_builtin_analyze/blob/3567883d/extensions/workflow-register/README.md#L27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ワークフロー管理の内部構成</a:t>
            </a:r>
          </a:p>
          <a:p xmlns:a="http://schemas.openxmlformats.org/drawingml/2006/main">
            <a:r>
              <a:t/>
            </a:r>
          </a:p>
          <a:p xmlns:a="http://schemas.openxmlformats.org/drawingml/2006/main">
            <a:r>
              <a:t>extensionWithAuthoring.tsはcoreのactivateにBuilder、diagnostics、run-controlなどのコマンドを追加します。parserはYAML front matterとMarkdown bodyから実行用定義を作ります。WorkflowRuntimeFactoryはaction registry、agent provider、result sinks、run store、control storeをエンジンへ注入します。Bob UI経由とstandalone経由は共通基盤を利用しつつ、Bobタスクへの接続部分を分けています。</a:t>
            </a:r>
          </a:p>
          <a:p xmlns:a="http://schemas.openxmlformats.org/drawingml/2006/main">
            <a:r>
              <a:t/>
            </a:r>
          </a:p>
          <a:p xmlns:a="http://schemas.openxmlformats.org/drawingml/2006/main">
            <a:r>
              <a:t>参照元（基準 commit 3567883d）</a:t>
            </a:r>
          </a:p>
          <a:p xmlns:a="http://schemas.openxmlformats.org/drawingml/2006/main">
            <a:r>
              <a:t>extensions/workflow-register/src/extensionWithAuthoring.ts:68</a:t>
            </a:r>
          </a:p>
          <a:p xmlns:a="http://schemas.openxmlformats.org/drawingml/2006/main">
            <a:r>
              <a:t>https://github.com/katamor1/bob_builtin_analyze/blob/3567883d/extensions/workflow-register/src/extensionWithAuthoring.ts#L68</a:t>
            </a:r>
          </a:p>
          <a:p xmlns:a="http://schemas.openxmlformats.org/drawingml/2006/main">
            <a:r>
              <a:t/>
            </a:r>
          </a:p>
          <a:p xmlns:a="http://schemas.openxmlformats.org/drawingml/2006/main">
            <a:r>
              <a:t>extensions/workflow-register/src/core/README.md:5</a:t>
            </a:r>
          </a:p>
          <a:p xmlns:a="http://schemas.openxmlformats.org/drawingml/2006/main">
            <a:r>
              <a:t>https://github.com/katamor1/bob_builtin_analyze/blob/3567883d/extensions/workflow-register/src/core/README.md#L5</a:t>
            </a:r>
          </a:p>
          <a:p xmlns:a="http://schemas.openxmlformats.org/drawingml/2006/main">
            <a:r>
              <a:t/>
            </a:r>
          </a:p>
          <a:p xmlns:a="http://schemas.openxmlformats.org/drawingml/2006/main">
            <a:r>
              <a:t>extensions/workflow-register/src/workflowRuntimeFactory.ts:49</a:t>
            </a:r>
          </a:p>
          <a:p xmlns:a="http://schemas.openxmlformats.org/drawingml/2006/main">
            <a:r>
              <a:t>https://github.com/katamor1/bob_builtin_analyze/blob/3567883d/extensions/workflow-register/src/workflowRuntimeFactory.ts#L49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WORKFLOW.mdと入力定義</a:t>
            </a:r>
          </a:p>
          <a:p xmlns:a="http://schemas.openxmlformats.org/drawingml/2006/main">
            <a:r>
              <a:t/>
            </a:r>
          </a:p>
          <a:p xmlns:a="http://schemas.openxmlformats.org/drawingml/2006/main">
            <a:r>
              <a:t>これは定義の構造を説明する短縮例です。agent実行にはBobまたはagent providerが必要です。schemaVersion、name、inputs、stepsをYAML front matter内に置きます。入力型はstring、number、boolean、selectなどです。resultKeyで結果をstateへ格納し、後段から参照できます。includeStateやproducedByなどの参照はproducerの存在と順序を確認します。実際の定義には必要に応じてrequires、guardrails、artifacts、completionなどを追加します。</a:t>
            </a:r>
          </a:p>
          <a:p xmlns:a="http://schemas.openxmlformats.org/drawingml/2006/main">
            <a:r>
              <a:t/>
            </a:r>
          </a:p>
          <a:p xmlns:a="http://schemas.openxmlformats.org/drawingml/2006/main">
            <a:r>
              <a:t>参照元（基準 commit 3567883d）</a:t>
            </a:r>
          </a:p>
          <a:p xmlns:a="http://schemas.openxmlformats.org/drawingml/2006/main">
            <a:r>
              <a:t>extensions/workflow-register/README.md:88</a:t>
            </a:r>
          </a:p>
          <a:p xmlns:a="http://schemas.openxmlformats.org/drawingml/2006/main">
            <a:r>
              <a:t>https://github.com/katamor1/bob_builtin_analyze/blob/3567883d/extensions/workflow-register/README.md#L88</a:t>
            </a:r>
          </a:p>
          <a:p xmlns:a="http://schemas.openxmlformats.org/drawingml/2006/main">
            <a:r>
              <a:t/>
            </a:r>
          </a:p>
          <a:p xmlns:a="http://schemas.openxmlformats.org/drawingml/2006/main">
            <a:r>
              <a:t>extensions/workflow-register/README.md:72</a:t>
            </a:r>
          </a:p>
          <a:p xmlns:a="http://schemas.openxmlformats.org/drawingml/2006/main">
            <a:r>
              <a:t>https://github.com/katamor1/bob_builtin_analyze/blob/3567883d/extensions/workflow-register/README.md#L72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作成・編集から保存まで</a:t>
            </a:r>
          </a:p>
          <a:p xmlns:a="http://schemas.openxmlformats.org/drawingml/2006/main">
            <a:r>
              <a:t/>
            </a:r>
          </a:p>
          <a:p xmlns:a="http://schemas.openxmlformats.org/drawingml/2006/main">
            <a:r>
              <a:t>Builderは3つの作成・編集モードを同じ保存経路へ集約します。編集モデルをMarkdownへserializeした後、既存parserとvalidatorで検証します。保存対象の期待値を再確認し、差分表示と明示確認を経てbackupを作成します。transaction lock内でatomic saveし、workflowRegister.reloadで更新します。キャンセル時は既存ファイルとbackupを変更しません。別sessionや古いcompletionによる上書きも防ぎます。</a:t>
            </a:r>
          </a:p>
          <a:p xmlns:a="http://schemas.openxmlformats.org/drawingml/2006/main">
            <a:r>
              <a:t/>
            </a:r>
          </a:p>
          <a:p xmlns:a="http://schemas.openxmlformats.org/drawingml/2006/main">
            <a:r>
              <a:t>参照元（基準 commit 3567883d）</a:t>
            </a:r>
          </a:p>
          <a:p xmlns:a="http://schemas.openxmlformats.org/drawingml/2006/main">
            <a:r>
              <a:t>extensions/workflow-register/README.md:47</a:t>
            </a:r>
          </a:p>
          <a:p xmlns:a="http://schemas.openxmlformats.org/drawingml/2006/main">
            <a:r>
              <a:t>https://github.com/katamor1/bob_builtin_analyze/blob/3567883d/extensions/workflow-register/README.md#L47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標準テンプレートとAI作成支援</a:t>
            </a:r>
          </a:p>
          <a:p xmlns:a="http://schemas.openxmlformats.org/drawingml/2006/main">
            <a:r>
              <a:t/>
            </a:r>
          </a:p>
          <a:p xmlns:a="http://schemas.openxmlformats.org/drawingml/2006/main">
            <a:r>
              <a:t>標準テンプレートはBuilderの「標準テンプレートから作成」モードを使います。project profileとcustomizationを検証し、templateIdやbaseTemplateHashなどを追跡します。変更可能な項目と、guardrailsやproviderなど変更しない項目を分けます。AI補助はaiProviderCommandから構成したproviderを使い、未設定のままAIが動作するとは限りません。readiness checkは必要ファイルやUAT evidenceなど、導入準備の状態を確認します。</a:t>
            </a:r>
          </a:p>
          <a:p xmlns:a="http://schemas.openxmlformats.org/drawingml/2006/main">
            <a:r>
              <a:t/>
            </a:r>
          </a:p>
          <a:p xmlns:a="http://schemas.openxmlformats.org/drawingml/2006/main">
            <a:r>
              <a:t>参照元（基準 commit 3567883d）</a:t>
            </a:r>
          </a:p>
          <a:p xmlns:a="http://schemas.openxmlformats.org/drawingml/2006/main">
            <a:r>
              <a:t>docs/training/phase4-template-customization-core-ja.md:15</a:t>
            </a:r>
          </a:p>
          <a:p xmlns:a="http://schemas.openxmlformats.org/drawingml/2006/main">
            <a:r>
              <a:t>https://github.com/katamor1/bob_builtin_analyze/blob/3567883d/docs/training/phase4-template-customization-core-ja.md#L15</a:t>
            </a:r>
          </a:p>
          <a:p xmlns:a="http://schemas.openxmlformats.org/drawingml/2006/main">
            <a:r>
              <a:t/>
            </a:r>
          </a:p>
          <a:p xmlns:a="http://schemas.openxmlformats.org/drawingml/2006/main">
            <a:r>
              <a:t>extensions/workflow-register/src/extensionWithAuthoring.ts:73</a:t>
            </a:r>
          </a:p>
          <a:p xmlns:a="http://schemas.openxmlformats.org/drawingml/2006/main">
            <a:r>
              <a:t>https://github.com/katamor1/bob_builtin_analyze/blob/3567883d/extensions/workflow-register/src/extensionWithAuthoring.ts#L73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4種類のステップとデータ受け渡し</a:t>
            </a:r>
          </a:p>
          <a:p xmlns:a="http://schemas.openxmlformats.org/drawingml/2006/main">
            <a:r>
              <a:t/>
            </a:r>
          </a:p>
          <a:p xmlns:a="http://schemas.openxmlformats.org/drawingml/2006/main">
            <a:r>
              <a:t>command、agent、manual、resultが主要なステップ種別です。commandはaction providerやVS Code command、agentはBobタスクまたはagent providerを呼びます。manualは人間の入力・承認待ち、resultはstate・literal・agent結果をsinkに渡します。実際の順序は用途次第で、この4種を必ず1回ずつ実行する規則ではありません。入力値とstateをテンプレートへ展開し、実際の引数に対してguardrailsや承認条件を確認します。</a:t>
            </a:r>
          </a:p>
          <a:p xmlns:a="http://schemas.openxmlformats.org/drawingml/2006/main">
            <a:r>
              <a:t/>
            </a:r>
          </a:p>
          <a:p xmlns:a="http://schemas.openxmlformats.org/drawingml/2006/main">
            <a:r>
              <a:t>参照元（基準 commit 3567883d）</a:t>
            </a:r>
          </a:p>
          <a:p xmlns:a="http://schemas.openxmlformats.org/drawingml/2006/main">
            <a:r>
              <a:t>extensions/workflow-register/README.md:127</a:t>
            </a:r>
          </a:p>
          <a:p xmlns:a="http://schemas.openxmlformats.org/drawingml/2006/main">
            <a:r>
              <a:t>https://github.com/katamor1/bob_builtin_analyze/blob/3567883d/extensions/workflow-register/README.md#L127</a:t>
            </a:r>
          </a:p>
          <a:p xmlns:a="http://schemas.openxmlformats.org/drawingml/2006/main">
            <a:r>
              <a:t/>
            </a:r>
          </a:p>
          <a:p xmlns:a="http://schemas.openxmlformats.org/drawingml/2006/main">
            <a:r>
              <a:t>extensions/workflow-register/src/core/engine/stepExecutor.ts:42</a:t>
            </a:r>
          </a:p>
          <a:p xmlns:a="http://schemas.openxmlformats.org/drawingml/2006/main">
            <a:r>
              <a:t>https://github.com/katamor1/bob_builtin_analyze/blob/3567883d/extensions/workflow-register/src/core/engine/stepExecutor.ts#L42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実行状態はrun.jsonに保存する</a:t>
            </a:r>
          </a:p>
          <a:p xmlns:a="http://schemas.openxmlformats.org/drawingml/2006/main">
            <a:r>
              <a:t/>
            </a:r>
          </a:p>
          <a:p xmlns:a="http://schemas.openxmlformats.org/drawingml/2006/main">
            <a:r>
              <a:t>run.jsonはworkflow ID、definition hash、inputs、state、各stepのstatus、attempts、current step、エラー、時刻、分岐履歴やprovenanceを保持します。操作者の停止意図などはcontrol.jsonへ保存します。Bob Todo、chat message、panel表示はprojectionであり永続状態の代替ではありません。task snapshotは補助証跡で、last assistant textの復旧候補やartifact import previewに用います。保存には同じdirectoryのtemp fileとrenameなどの仕組みを使います。</a:t>
            </a:r>
          </a:p>
          <a:p xmlns:a="http://schemas.openxmlformats.org/drawingml/2006/main">
            <a:r>
              <a:t/>
            </a:r>
          </a:p>
          <a:p xmlns:a="http://schemas.openxmlformats.org/drawingml/2006/main">
            <a:r>
              <a:t>参照元（基準 commit 3567883d）</a:t>
            </a:r>
          </a:p>
          <a:p xmlns:a="http://schemas.openxmlformats.org/drawingml/2006/main">
            <a:r>
              <a:t>extensions/workflow-register/README.md:140</a:t>
            </a:r>
          </a:p>
          <a:p xmlns:a="http://schemas.openxmlformats.org/drawingml/2006/main">
            <a:r>
              <a:t>https://github.com/katamor1/bob_builtin_analyze/blob/3567883d/extensions/workflow-register/README.md#L140</a:t>
            </a:r>
          </a:p>
          <a:p xmlns:a="http://schemas.openxmlformats.org/drawingml/2006/main">
            <a:r>
              <a:t/>
            </a:r>
          </a:p>
          <a:p xmlns:a="http://schemas.openxmlformats.org/drawingml/2006/main">
            <a:r>
              <a:t>extensions/workflow-register/README.md:186</a:t>
            </a:r>
          </a:p>
          <a:p xmlns:a="http://schemas.openxmlformats.org/drawingml/2006/main">
            <a:r>
              <a:t>https://github.com/katamor1/bob_builtin_analyze/blob/3567883d/extensions/workflow-register/README.md#L186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承認・分岐・再試行</a:t>
            </a:r>
          </a:p>
          <a:p xmlns:a="http://schemas.openxmlformats.org/drawingml/2006/main">
            <a:r>
              <a:t/>
            </a:r>
          </a:p>
          <a:p xmlns:a="http://schemas.openxmlformats.org/drawingml/2006/main">
            <a:r>
              <a:t>stepReviewはステップ後にreviewing状態で停止し、acceptやretryを受け付ける仕組みです。manual approvalは定義内で人間の判断をstateに保存し、transitionの条件に使えます。branchingにはnext、goto、end、fail、checkpointなどがあり、分岐履歴やloop制御を保持します。図は確認後に進む経路と、編集・再試行する経路を示す概念図です。すべての失敗で任意位置から再開できるわけではなく、必要な状態や定義の整合を再確認します。</a:t>
            </a:r>
          </a:p>
          <a:p xmlns:a="http://schemas.openxmlformats.org/drawingml/2006/main">
            <a:r>
              <a:t/>
            </a:r>
          </a:p>
          <a:p xmlns:a="http://schemas.openxmlformats.org/drawingml/2006/main">
            <a:r>
              <a:t>参照元（基準 commit 3567883d）</a:t>
            </a:r>
          </a:p>
          <a:p xmlns:a="http://schemas.openxmlformats.org/drawingml/2006/main">
            <a:r>
              <a:t>extensions/workflow-register/README.md:88</a:t>
            </a:r>
          </a:p>
          <a:p xmlns:a="http://schemas.openxmlformats.org/drawingml/2006/main">
            <a:r>
              <a:t>https://github.com/katamor1/bob_builtin_analyze/blob/3567883d/extensions/workflow-register/README.md#L88</a:t>
            </a:r>
          </a:p>
          <a:p xmlns:a="http://schemas.openxmlformats.org/drawingml/2006/main">
            <a:r>
              <a:t/>
            </a:r>
          </a:p>
          <a:p xmlns:a="http://schemas.openxmlformats.org/drawingml/2006/main">
            <a:r>
              <a:t>.bob/workflows/process-code-precheck/WORKFLOW.md:14</a:t>
            </a:r>
          </a:p>
          <a:p xmlns:a="http://schemas.openxmlformats.org/drawingml/2006/main">
            <a:r>
              <a:t>https://github.com/katamor1/bob_builtin_analyze/blob/3567883d/.bob/workflows/process-code-precheck/WORKFLOW.md#L14</a:t>
            </a:r>
          </a:p>
          <a:p xmlns:a="http://schemas.openxmlformats.org/drawingml/2006/main">
            <a:r>
              <a:t/>
            </a:r>
          </a:p>
          <a:p xmlns:a="http://schemas.openxmlformats.org/drawingml/2006/main">
            <a:r>
              <a:t>.bob/workflows/process-code-precheck/WORKFLOW.md:132</a:t>
            </a:r>
          </a:p>
          <a:p xmlns:a="http://schemas.openxmlformats.org/drawingml/2006/main">
            <a:r>
              <a:t>https://github.com/katamor1/bob_builtin_analyze/blob/3567883d/.bob/workflows/process-code-precheck/WORKFLOW.md#L132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停止・再開と日常の運用</a:t>
            </a:r>
          </a:p>
          <a:p xmlns:a="http://schemas.openxmlformats.org/drawingml/2006/main">
            <a:r>
              <a:t/>
            </a:r>
          </a:p>
          <a:p xmlns:a="http://schemas.openxmlformats.org/drawingml/2006/main">
            <a:r>
              <a:t>control.jsonはmanual pause request、after-current-step、before-next-AI-call、automatic pause override、resume noteなどを保存します。エンジンは安全なcheckpointで判定し、実行中のagentや外部processを強制終了しません。run retentionは完了日数、件数、容量のpolicyを使い、previewとapplyの整合を確認します。自動のstartup/timer削除は行わず、active/recoverable runや成果物の参照関係を保護します。</a:t>
            </a:r>
          </a:p>
          <a:p xmlns:a="http://schemas.openxmlformats.org/drawingml/2006/main">
            <a:r>
              <a:t/>
            </a:r>
          </a:p>
          <a:p xmlns:a="http://schemas.openxmlformats.org/drawingml/2006/main">
            <a:r>
              <a:t>参照元（基準 commit 3567883d）</a:t>
            </a:r>
          </a:p>
          <a:p xmlns:a="http://schemas.openxmlformats.org/drawingml/2006/main">
            <a:r>
              <a:t>extensions/workflow-register/README.md:170</a:t>
            </a:r>
          </a:p>
          <a:p xmlns:a="http://schemas.openxmlformats.org/drawingml/2006/main">
            <a:r>
              <a:t>https://github.com/katamor1/bob_builtin_analyze/blob/3567883d/extensions/workflow-register/README.md#L170</a:t>
            </a:r>
          </a:p>
          <a:p xmlns:a="http://schemas.openxmlformats.org/drawingml/2006/main">
            <a:r>
              <a:t/>
            </a:r>
          </a:p>
          <a:p xmlns:a="http://schemas.openxmlformats.org/drawingml/2006/main">
            <a:r>
              <a:t>extensions/workflow-register/README.md:222</a:t>
            </a:r>
          </a:p>
          <a:p xmlns:a="http://schemas.openxmlformats.org/drawingml/2006/main">
            <a:r>
              <a:t>https://github.com/katamor1/bob_builtin_analyze/blob/3567883d/extensions/workflow-register/README.md#L222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成果物の再利用と中断後の復旧</a:t>
            </a:r>
          </a:p>
          <a:p xmlns:a="http://schemas.openxmlformats.org/drawingml/2006/main">
            <a:r>
              <a:t/>
            </a:r>
          </a:p>
          <a:p xmlns:a="http://schemas.openxmlformats.org/drawingml/2006/main">
            <a:r>
              <a:t>artifact reuseはmanifestのchecksumとbyte数、workflow definition、inputs、producing step、state keyを検証します。再利用したstepはcompletedのまま、Reusedのprovenanceを別に表示します。task snapshot importはpreviewとdigestを再計算し、選んだartifactだけを適用します。再起動でlive task handleを失ったheld runはconnected、detached/resumable、artifact recoverable、blockedに分類し、必要な条件を再検証して復旧します。成果物からの途中開始とheld runの復旧は異なる操作です。</a:t>
            </a:r>
          </a:p>
          <a:p xmlns:a="http://schemas.openxmlformats.org/drawingml/2006/main">
            <a:r>
              <a:t/>
            </a:r>
          </a:p>
          <a:p xmlns:a="http://schemas.openxmlformats.org/drawingml/2006/main">
            <a:r>
              <a:t>参照元（基準 commit 3567883d）</a:t>
            </a:r>
          </a:p>
          <a:p xmlns:a="http://schemas.openxmlformats.org/drawingml/2006/main">
            <a:r>
              <a:t>extensions/workflow-register/README.md:199</a:t>
            </a:r>
          </a:p>
          <a:p xmlns:a="http://schemas.openxmlformats.org/drawingml/2006/main">
            <a:r>
              <a:t>https://github.com/katamor1/bob_builtin_analyze/blob/3567883d/extensions/workflow-register/README.md#L199</a:t>
            </a:r>
          </a:p>
          <a:p xmlns:a="http://schemas.openxmlformats.org/drawingml/2006/main">
            <a:r>
              <a:t/>
            </a:r>
          </a:p>
          <a:p xmlns:a="http://schemas.openxmlformats.org/drawingml/2006/main">
            <a:r>
              <a:t>extensions/workflow-register/README.md:209</a:t>
            </a:r>
          </a:p>
          <a:p xmlns:a="http://schemas.openxmlformats.org/drawingml/2006/main">
            <a:r>
              <a:t>https://github.com/katamor1/bob_builtin_analyze/blob/3567883d/extensions/workflow-register/README.md#L209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機械チェックと工程別ワークフロー</a:t>
            </a:r>
          </a:p>
          <a:p xmlns:a="http://schemas.openxmlformats.org/drawingml/2006/main">
            <a:r>
              <a:t/>
            </a:r>
          </a:p>
          <a:p xmlns:a="http://schemas.openxmlformats.org/drawingml/2006/main">
            <a:r>
              <a:t>mechanical-checks-precheckサンプルはprofileを実行し、profile-result.json、profile-summary.md、stdout.logやevidenceを保存します。GUIによるprofile編集はMVP対象外です。スクリプト登録時には実行内容を確認する必要があります。工程別workflowには設計、レビュー、テストなどの同梱定義があり、工程カタログ、入力、証跡、レビュー結果、human gate、工程記録を扱います。後半でprocess-code-precheckを具体例として説明します。</a:t>
            </a:r>
          </a:p>
          <a:p xmlns:a="http://schemas.openxmlformats.org/drawingml/2006/main">
            <a:r>
              <a:t/>
            </a:r>
          </a:p>
          <a:p xmlns:a="http://schemas.openxmlformats.org/drawingml/2006/main">
            <a:r>
              <a:t>参照元（基準 commit 3567883d）</a:t>
            </a:r>
          </a:p>
          <a:p xmlns:a="http://schemas.openxmlformats.org/drawingml/2006/main">
            <a:r>
              <a:t>extensions/workflow-register/samples/mechanical-checks-precheck/README.md:5</a:t>
            </a:r>
          </a:p>
          <a:p xmlns:a="http://schemas.openxmlformats.org/drawingml/2006/main">
            <a:r>
              <a:t>https://github.com/katamor1/bob_builtin_analyze/blob/3567883d/extensions/workflow-register/samples/mechanical-checks-precheck/README.md#L5</a:t>
            </a:r>
          </a:p>
          <a:p xmlns:a="http://schemas.openxmlformats.org/drawingml/2006/main">
            <a:r>
              <a:t/>
            </a:r>
          </a:p>
          <a:p xmlns:a="http://schemas.openxmlformats.org/drawingml/2006/main">
            <a:r>
              <a:t>.bob/workflows/process-code-precheck/WORKFLOW.md:43</a:t>
            </a:r>
          </a:p>
          <a:p xmlns:a="http://schemas.openxmlformats.org/drawingml/2006/main">
            <a:r>
              <a:t>https://github.com/katamor1/bob_builtin_analyze/blob/3567883d/.bob/workflows/process-code-precheck/WORKFLOW.md#L43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Bazaarレビューの流れ</a:t>
            </a:r>
          </a:p>
          <a:p xmlns:a="http://schemas.openxmlformats.org/drawingml/2006/main">
            <a:r>
              <a:t/>
            </a:r>
          </a:p>
          <a:p xmlns:a="http://schemas.openxmlformats.org/drawingml/2006/main">
            <a:r>
              <a:t>この拡張の役割は、Bazaarの変更をIBM Bob／VS Code上でレビューし、その結果を人の判断と実績管理へつなぐことです。常時表示されるCommand Paletteの入口は「レビューを開始」と「資料からプロジェクト規約を作成」の2件です。主GUIはレビュー、レビュー結果取り込み、指摘確認・振り分け、レビュー実績の段階を同じpanel内で扱います。内部の保存・検証用commandは登録を維持していますが、通常の公開入口とは区別します。AIが指摘を返した時点では完了せず、人が採否を確認して記録を確定する流れです。</a:t>
            </a:r>
          </a:p>
          <a:p xmlns:a="http://schemas.openxmlformats.org/drawingml/2006/main">
            <a:r>
              <a:t/>
            </a:r>
          </a:p>
          <a:p xmlns:a="http://schemas.openxmlformats.org/drawingml/2006/main">
            <a:r>
              <a:t>参照元（基準 commit 3567883d）</a:t>
            </a:r>
          </a:p>
          <a:p xmlns:a="http://schemas.openxmlformats.org/drawingml/2006/main">
            <a:r>
              <a:t>extensions/bob-bazaar-review/README.md:9</a:t>
            </a:r>
          </a:p>
          <a:p xmlns:a="http://schemas.openxmlformats.org/drawingml/2006/main">
            <a:r>
              <a:t>https://github.com/katamor1/bob_builtin_analyze/blob/3567883d/extensions/bob-bazaar-review/README.md#L9</a:t>
            </a:r>
          </a:p>
          <a:p xmlns:a="http://schemas.openxmlformats.org/drawingml/2006/main">
            <a:r>
              <a:t/>
            </a:r>
          </a:p>
          <a:p xmlns:a="http://schemas.openxmlformats.org/drawingml/2006/main">
            <a:r>
              <a:t>extensions/bob-bazaar-review/README.md:54</a:t>
            </a:r>
          </a:p>
          <a:p xmlns:a="http://schemas.openxmlformats.org/drawingml/2006/main">
            <a:r>
              <a:t>https://github.com/katamor1/bob_builtin_analyze/blob/3567883d/extensions/bob-bazaar-review/README.md#L54</a:t>
            </a:r>
          </a:p>
          <a:p xmlns:a="http://schemas.openxmlformats.org/drawingml/2006/main">
            <a:r>
              <a:t/>
            </a:r>
          </a:p>
          <a:p xmlns:a="http://schemas.openxmlformats.org/drawingml/2006/main">
            <a:r>
              <a:t>extensions/bob-bazaar-review/src/extension.ts:24</a:t>
            </a:r>
          </a:p>
          <a:p xmlns:a="http://schemas.openxmlformats.org/drawingml/2006/main">
            <a:r>
              <a:t>https://github.com/katamor1/bob_builtin_analyze/blob/3567883d/extensions/bob-bazaar-review/src/extension.ts#L24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Bazaarレビューの内部構成</a:t>
            </a:r>
          </a:p>
          <a:p xmlns:a="http://schemas.openxmlformats.org/drawingml/2006/main">
            <a:r>
              <a:t/>
            </a:r>
          </a:p>
          <a:p xmlns:a="http://schemas.openxmlformats.org/drawingml/2006/main">
            <a:r>
              <a:t>extension.tsがVS Code commandとworkflow providerを登録する起点です。uiはWebviewと各段階の操作、bazaarはCLI呼び出しとレビュー資料、projectRulesは規約と結果検証、reviewRunsは進捗、recordsは人の判断と記録、ruleAuthoringは資料からの規約作成を担当します。workflow-registerとの連携はaction providerとして登録されます。MCPは専用のサーバー入口から共通処理を呼びます。IBM.bob-codeとlocal.workflow-registerは必須依存ではなく、未導入でも拡張の有効化と主GUIの利用を妨げません。</a:t>
            </a:r>
          </a:p>
          <a:p xmlns:a="http://schemas.openxmlformats.org/drawingml/2006/main">
            <a:r>
              <a:t/>
            </a:r>
          </a:p>
          <a:p xmlns:a="http://schemas.openxmlformats.org/drawingml/2006/main">
            <a:r>
              <a:t>参照元（基準 commit 3567883d）</a:t>
            </a:r>
          </a:p>
          <a:p xmlns:a="http://schemas.openxmlformats.org/drawingml/2006/main">
            <a:r>
              <a:t>extensions/bob-bazaar-review/src/extension.ts:1</a:t>
            </a:r>
          </a:p>
          <a:p xmlns:a="http://schemas.openxmlformats.org/drawingml/2006/main">
            <a:r>
              <a:t>https://github.com/katamor1/bob_builtin_analyze/blob/3567883d/extensions/bob-bazaar-review/src/extension.ts#L1</a:t>
            </a:r>
          </a:p>
          <a:p xmlns:a="http://schemas.openxmlformats.org/drawingml/2006/main">
            <a:r>
              <a:t/>
            </a:r>
          </a:p>
          <a:p xmlns:a="http://schemas.openxmlformats.org/drawingml/2006/main">
            <a:r>
              <a:t>extensions/bob-bazaar-review/src/workflow/workflowProviders.ts:59</a:t>
            </a:r>
          </a:p>
          <a:p xmlns:a="http://schemas.openxmlformats.org/drawingml/2006/main">
            <a:r>
              <a:t>https://github.com/katamor1/bob_builtin_analyze/blob/3567883d/extensions/bob-bazaar-review/src/workflow/workflowProviders.ts#L59</a:t>
            </a:r>
          </a:p>
          <a:p xmlns:a="http://schemas.openxmlformats.org/drawingml/2006/main">
            <a:r>
              <a:t/>
            </a:r>
          </a:p>
          <a:p xmlns:a="http://schemas.openxmlformats.org/drawingml/2006/main">
            <a:r>
              <a:t>extensions/bob-bazaar-review/src/mcp/tools.ts:18</a:t>
            </a:r>
          </a:p>
          <a:p xmlns:a="http://schemas.openxmlformats.org/drawingml/2006/main">
            <a:r>
              <a:t>https://github.com/katamor1/bob_builtin_analyze/blob/3567883d/extensions/bob-bazaar-review/src/mcp/tools.ts#L18</a:t>
            </a:r>
          </a:p>
          <a:p xmlns:a="http://schemas.openxmlformats.org/drawingml/2006/main">
            <a:r>
              <a:t/>
            </a:r>
          </a:p>
          <a:p xmlns:a="http://schemas.openxmlformats.org/drawingml/2006/main">
            <a:r>
              <a:t>extensions/bob-bazaar-review/README.md:44</a:t>
            </a:r>
          </a:p>
          <a:p xmlns:a="http://schemas.openxmlformats.org/drawingml/2006/main">
            <a:r>
              <a:t>https://github.com/katamor1/bob_builtin_analyze/blob/3567883d/extensions/bob-bazaar-review/README.md#L44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差分の収集とレビュー資料の生成</a:t>
            </a:r>
          </a:p>
          <a:p xmlns:a="http://schemas.openxmlformats.org/drawingml/2006/main">
            <a:r>
              <a:t/>
            </a:r>
          </a:p>
          <a:p xmlns:a="http://schemas.openxmlformats.org/drawingml/2006/main">
            <a:r>
              <a:t>prepareTargetは単一リビジョン、範囲、作業ツリーの3方式を扱います。範囲指定ならdiffRangeと比較先のlogを取得し、差分から変更ファイルを整理します。GUIは対象メタデータ、追加ファイルの内容、任意のプロジェクト規約をbuildReviewPacketへ渡します。生成するMarkdownはdiffやlogにサイズ上限を適用し、ローカル絶対パスは既定で伏せます。recordReviewPacketで保存した後にBobへ追加します。Bobがなければ資料の作成・表示まで利用でき、context追加の呼び出しが失敗した場合にはクリップボードへコピーします。</a:t>
            </a:r>
          </a:p>
          <a:p xmlns:a="http://schemas.openxmlformats.org/drawingml/2006/main">
            <a:r>
              <a:t/>
            </a:r>
          </a:p>
          <a:p xmlns:a="http://schemas.openxmlformats.org/drawingml/2006/main">
            <a:r>
              <a:t>参照元（基準 commit 3567883d）</a:t>
            </a:r>
          </a:p>
          <a:p xmlns:a="http://schemas.openxmlformats.org/drawingml/2006/main">
            <a:r>
              <a:t>extensions/bob-bazaar-review/src/bazaar/reviewTarget.ts:66</a:t>
            </a:r>
          </a:p>
          <a:p xmlns:a="http://schemas.openxmlformats.org/drawingml/2006/main">
            <a:r>
              <a:t>https://github.com/katamor1/bob_builtin_analyze/blob/3567883d/extensions/bob-bazaar-review/src/bazaar/reviewTarget.ts#L66</a:t>
            </a:r>
          </a:p>
          <a:p xmlns:a="http://schemas.openxmlformats.org/drawingml/2006/main">
            <a:r>
              <a:t/>
            </a:r>
          </a:p>
          <a:p xmlns:a="http://schemas.openxmlformats.org/drawingml/2006/main">
            <a:r>
              <a:t>extensions/bob-bazaar-review/src/bazaar/reviewPacket.ts:18</a:t>
            </a:r>
          </a:p>
          <a:p xmlns:a="http://schemas.openxmlformats.org/drawingml/2006/main">
            <a:r>
              <a:t>https://github.com/katamor1/bob_builtin_analyze/blob/3567883d/extensions/bob-bazaar-review/src/bazaar/reviewPacket.ts#L18</a:t>
            </a:r>
          </a:p>
          <a:p xmlns:a="http://schemas.openxmlformats.org/drawingml/2006/main">
            <a:r>
              <a:t/>
            </a:r>
          </a:p>
          <a:p xmlns:a="http://schemas.openxmlformats.org/drawingml/2006/main">
            <a:r>
              <a:t>extensions/bob-bazaar-review/src/ui/reviewGui.ts:597</a:t>
            </a:r>
          </a:p>
          <a:p xmlns:a="http://schemas.openxmlformats.org/drawingml/2006/main">
            <a:r>
              <a:t>https://github.com/katamor1/bob_builtin_analyze/blob/3567883d/extensions/bob-bazaar-review/src/ui/reviewGui.ts#L597</a:t>
            </a:r>
          </a:p>
          <a:p xmlns:a="http://schemas.openxmlformats.org/drawingml/2006/main">
            <a:r>
              <a:t/>
            </a:r>
          </a:p>
          <a:p xmlns:a="http://schemas.openxmlformats.org/drawingml/2006/main">
            <a:r>
              <a:t>extensions/bob-bazaar-review/src/bob/bobContext.ts:9</a:t>
            </a:r>
          </a:p>
          <a:p xmlns:a="http://schemas.openxmlformats.org/drawingml/2006/main">
            <a:r>
              <a:t>https://github.com/katamor1/bob_builtin_analyze/blob/3567883d/extensions/bob-bazaar-review/src/bob/bobContext.ts#L9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プロジェクト規約による確認観点</a:t>
            </a:r>
          </a:p>
          <a:p xmlns:a="http://schemas.openxmlformats.org/drawingml/2006/main">
            <a:r>
              <a:t/>
            </a:r>
          </a:p>
          <a:p xmlns:a="http://schemas.openxmlformats.org/drawingml/2006/main">
            <a:r>
              <a:t>プロジェクト規約はchecklist.jsonとreview-result.schema.jsonを中心に構成します。同梱の例にはRT-001「RTスレッド内でI/Oを行っていない」、IF-001「外部I/F構造体のサイズ・並び順を壊していない」などがあります。packetの指示は、証拠なしのpassを避け、不足はunknown、failには同じrule_idのfindingを要求します。これらの整合性は結果取り込み側でも検証します。承認済みproject-context、review-prompt-addendum、出典の要約も追加できます。出典メタデータ自体はコードレビューの証拠の代わりにはなりません。</a:t>
            </a:r>
          </a:p>
          <a:p xmlns:a="http://schemas.openxmlformats.org/drawingml/2006/main">
            <a:r>
              <a:t/>
            </a:r>
          </a:p>
          <a:p xmlns:a="http://schemas.openxmlformats.org/drawingml/2006/main">
            <a:r>
              <a:t>参照元（基準 commit 3567883d）</a:t>
            </a:r>
          </a:p>
          <a:p xmlns:a="http://schemas.openxmlformats.org/drawingml/2006/main">
            <a:r>
              <a:t>extensions/bob-bazaar-review/templates/.bob/review/checklist.json:6</a:t>
            </a:r>
          </a:p>
          <a:p xmlns:a="http://schemas.openxmlformats.org/drawingml/2006/main">
            <a:r>
              <a:t>https://github.com/katamor1/bob_builtin_analyze/blob/3567883d/extensions/bob-bazaar-review/templates/.bob/review/checklist.json#L6</a:t>
            </a:r>
          </a:p>
          <a:p xmlns:a="http://schemas.openxmlformats.org/drawingml/2006/main">
            <a:r>
              <a:t/>
            </a:r>
          </a:p>
          <a:p xmlns:a="http://schemas.openxmlformats.org/drawingml/2006/main">
            <a:r>
              <a:t>extensions/bob-bazaar-review/templates/.bob/review/checklist.json:37</a:t>
            </a:r>
          </a:p>
          <a:p xmlns:a="http://schemas.openxmlformats.org/drawingml/2006/main">
            <a:r>
              <a:t>https://github.com/katamor1/bob_builtin_analyze/blob/3567883d/extensions/bob-bazaar-review/templates/.bob/review/checklist.json#L37</a:t>
            </a:r>
          </a:p>
          <a:p xmlns:a="http://schemas.openxmlformats.org/drawingml/2006/main">
            <a:r>
              <a:t/>
            </a:r>
          </a:p>
          <a:p xmlns:a="http://schemas.openxmlformats.org/drawingml/2006/main">
            <a:r>
              <a:t>extensions/bob-bazaar-review/src/projectRules/packet.ts:14</a:t>
            </a:r>
          </a:p>
          <a:p xmlns:a="http://schemas.openxmlformats.org/drawingml/2006/main">
            <a:r>
              <a:t>https://github.com/katamor1/bob_builtin_analyze/blob/3567883d/extensions/bob-bazaar-review/src/projectRules/packet.ts#L14</a:t>
            </a:r>
          </a:p>
          <a:p xmlns:a="http://schemas.openxmlformats.org/drawingml/2006/main">
            <a:r>
              <a:t/>
            </a:r>
          </a:p>
          <a:p xmlns:a="http://schemas.openxmlformats.org/drawingml/2006/main">
            <a:r>
              <a:t>extensions/bob-bazaar-review/src/projectRules/validator.ts:107</a:t>
            </a:r>
          </a:p>
          <a:p xmlns:a="http://schemas.openxmlformats.org/drawingml/2006/main">
            <a:r>
              <a:t>https://github.com/katamor1/bob_builtin_analyze/blob/3567883d/extensions/bob-bazaar-review/src/projectRules/validator.ts#L107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資料からのプロジェクト規約作成</a:t>
            </a:r>
          </a:p>
          <a:p xmlns:a="http://schemas.openxmlformats.org/drawingml/2006/main">
            <a:r>
              <a:t/>
            </a:r>
          </a:p>
          <a:p xmlns:a="http://schemas.openxmlformats.org/drawingml/2006/main">
            <a:r>
              <a:t>資料選択の公開commandは抽出範囲の確認まで進め、その後はBob UIからbazaar-project-rule-authoring workflowを開始する案内を表示します。抽出はDOCX、XLSX、文字を抽出できるPDFが対象で、旧Office形式は変換が必要です。AI候補はschema、run identity、元の規約のhash、選択済み根拠の参照などを検証し、正式assetを直接変更しません。人が採否や編集を行い、適用差分を確認して反映します。書き込みはjournal、backup、staged write、検証を伴うtransactionで行われ、失敗時にはrollbackまたは回復処理につながります。</a:t>
            </a:r>
          </a:p>
          <a:p xmlns:a="http://schemas.openxmlformats.org/drawingml/2006/main">
            <a:r>
              <a:t/>
            </a:r>
          </a:p>
          <a:p xmlns:a="http://schemas.openxmlformats.org/drawingml/2006/main">
            <a:r>
              <a:t>参照元（基準 commit 3567883d）</a:t>
            </a:r>
          </a:p>
          <a:p xmlns:a="http://schemas.openxmlformats.org/drawingml/2006/main">
            <a:r>
              <a:t>extensions/bob-bazaar-review/src/workspace/workspaceCommands.ts:68</a:t>
            </a:r>
          </a:p>
          <a:p xmlns:a="http://schemas.openxmlformats.org/drawingml/2006/main">
            <a:r>
              <a:t>https://github.com/katamor1/bob_builtin_analyze/blob/3567883d/extensions/bob-bazaar-review/src/workspace/workspaceCommands.ts#L68</a:t>
            </a:r>
          </a:p>
          <a:p xmlns:a="http://schemas.openxmlformats.org/drawingml/2006/main">
            <a:r>
              <a:t/>
            </a:r>
          </a:p>
          <a:p xmlns:a="http://schemas.openxmlformats.org/drawingml/2006/main">
            <a:r>
              <a:t>extensions/bob-bazaar-review/src/ruleAuthoring/extraction/documentExtractor.ts:121</a:t>
            </a:r>
          </a:p>
          <a:p xmlns:a="http://schemas.openxmlformats.org/drawingml/2006/main">
            <a:r>
              <a:t>https://github.com/katamor1/bob_builtin_analyze/blob/3567883d/extensions/bob-bazaar-review/src/ruleAuthoring/extraction/documentExtractor.ts#L121</a:t>
            </a:r>
          </a:p>
          <a:p xmlns:a="http://schemas.openxmlformats.org/drawingml/2006/main">
            <a:r>
              <a:t/>
            </a:r>
          </a:p>
          <a:p xmlns:a="http://schemas.openxmlformats.org/drawingml/2006/main">
            <a:r>
              <a:t>extensions/bob-bazaar-review/src/ruleAuthoring/ruleProposalValidation.ts:107</a:t>
            </a:r>
          </a:p>
          <a:p xmlns:a="http://schemas.openxmlformats.org/drawingml/2006/main">
            <a:r>
              <a:t>https://github.com/katamor1/bob_builtin_analyze/blob/3567883d/extensions/bob-bazaar-review/src/ruleAuthoring/ruleProposalValidation.ts#L107</a:t>
            </a:r>
          </a:p>
          <a:p xmlns:a="http://schemas.openxmlformats.org/drawingml/2006/main">
            <a:r>
              <a:t/>
            </a:r>
          </a:p>
          <a:p xmlns:a="http://schemas.openxmlformats.org/drawingml/2006/main">
            <a:r>
              <a:t>extensions/bob-bazaar-review/src/ruleAuthoring/ruleApplyTransaction.ts:495</a:t>
            </a:r>
          </a:p>
          <a:p xmlns:a="http://schemas.openxmlformats.org/drawingml/2006/main">
            <a:r>
              <a:t>https://github.com/katamor1/bob_builtin_analyze/blob/3567883d/extensions/bob-bazaar-review/src/ruleAuthoring/ruleApplyTransaction.ts#L495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結果を検証し、人が採否を決める</a:t>
            </a:r>
          </a:p>
          <a:p xmlns:a="http://schemas.openxmlformats.org/drawingml/2006/main">
            <a:r>
              <a:t/>
            </a:r>
          </a:p>
          <a:p xmlns:a="http://schemas.openxmlformats.org/drawingml/2006/main">
            <a:r>
              <a:t>結果取り込みではraw JSON、コードフェンス内のJSON、文章中のJSON候補から結果を抽出します。保存前にschema、review ID、プロジェクト規約ID、判定件数や根拠の整合性を確認し、検証を通った結果だけをJSONとMarkdownへ保存します。続く指摘確認・振り分けでは、人がaccepted、rejected、needs_investigation、deferredを選びます。判断の正本はtriage.yamlであり、AIの結果とは別です。担当者・対応・理由の必須条件は画面だけでなくhost側でも検証します。古い更新や不明な指摘IDなども保存前に拒否します。</a:t>
            </a:r>
          </a:p>
          <a:p xmlns:a="http://schemas.openxmlformats.org/drawingml/2006/main">
            <a:r>
              <a:t/>
            </a:r>
          </a:p>
          <a:p xmlns:a="http://schemas.openxmlformats.org/drawingml/2006/main">
            <a:r>
              <a:t>参照元（基準 commit 3567883d）</a:t>
            </a:r>
          </a:p>
          <a:p xmlns:a="http://schemas.openxmlformats.org/drawingml/2006/main">
            <a:r>
              <a:t>extensions/bob-bazaar-review/README.md:143</a:t>
            </a:r>
          </a:p>
          <a:p xmlns:a="http://schemas.openxmlformats.org/drawingml/2006/main">
            <a:r>
              <a:t>https://github.com/katamor1/bob_builtin_analyze/blob/3567883d/extensions/bob-bazaar-review/README.md#L143</a:t>
            </a:r>
          </a:p>
          <a:p xmlns:a="http://schemas.openxmlformats.org/drawingml/2006/main">
            <a:r>
              <a:t/>
            </a:r>
          </a:p>
          <a:p xmlns:a="http://schemas.openxmlformats.org/drawingml/2006/main">
            <a:r>
              <a:t>extensions/bob-bazaar-review/src/projectRules/resultCaptureCore.ts:47</a:t>
            </a:r>
          </a:p>
          <a:p xmlns:a="http://schemas.openxmlformats.org/drawingml/2006/main">
            <a:r>
              <a:t>https://github.com/katamor1/bob_builtin_analyze/blob/3567883d/extensions/bob-bazaar-review/src/projectRules/resultCaptureCore.ts#L47</a:t>
            </a:r>
          </a:p>
          <a:p xmlns:a="http://schemas.openxmlformats.org/drawingml/2006/main">
            <a:r>
              <a:t/>
            </a:r>
          </a:p>
          <a:p xmlns:a="http://schemas.openxmlformats.org/drawingml/2006/main">
            <a:r>
              <a:t>extensions/bob-bazaar-review/src/records/reviewTriage.ts:127</a:t>
            </a:r>
          </a:p>
          <a:p xmlns:a="http://schemas.openxmlformats.org/drawingml/2006/main">
            <a:r>
              <a:t>https://github.com/katamor1/bob_builtin_analyze/blob/3567883d/extensions/bob-bazaar-review/src/records/reviewTriage.ts#L127</a:t>
            </a:r>
          </a:p>
          <a:p xmlns:a="http://schemas.openxmlformats.org/drawingml/2006/main">
            <a:r>
              <a:t/>
            </a:r>
          </a:p>
          <a:p xmlns:a="http://schemas.openxmlformats.org/drawingml/2006/main">
            <a:r>
              <a:t>extensions/bob-bazaar-review/README.md:176</a:t>
            </a:r>
          </a:p>
          <a:p xmlns:a="http://schemas.openxmlformats.org/drawingml/2006/main">
            <a:r>
              <a:t>https://github.com/katamor1/bob_builtin_analyze/blob/3567883d/extensions/bob-bazaar-review/README.md#L176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Runとレビュー実績</a:t>
            </a:r>
          </a:p>
          <a:p xmlns:a="http://schemas.openxmlformats.org/drawingml/2006/main">
            <a:r>
              <a:t/>
            </a:r>
          </a:p>
          <a:p xmlns:a="http://schemas.openxmlformats.org/drawingml/2006/main">
            <a:r>
              <a:t>Review Runはworkspace、campaign、review identityと各段階の進捗を保持し、再起動後の未完了レビュー再開に使います。review-run.jsonは進捗の正本であり、結果、判断、記録、metricsの本体を置き換えません。finalizeはtriage完了を確認してrecordとsummaryを生成します。dashboardは有効な人の判断、規約別・対象方式別の傾向、時間をキャンペーン単位で集計します。時間削減は基準レビュー時間からBobレビュー時間と人の判断時間を引いた推計で、効果を実証した値ではありません。率の分母がゼロならn/aとし、同じ集計モデルからJSON、Markdown、CSVを出力します。</a:t>
            </a:r>
          </a:p>
          <a:p xmlns:a="http://schemas.openxmlformats.org/drawingml/2006/main">
            <a:r>
              <a:t/>
            </a:r>
          </a:p>
          <a:p xmlns:a="http://schemas.openxmlformats.org/drawingml/2006/main">
            <a:r>
              <a:t>参照元（基準 commit 3567883d）</a:t>
            </a:r>
          </a:p>
          <a:p xmlns:a="http://schemas.openxmlformats.org/drawingml/2006/main">
            <a:r>
              <a:t>extensions/bob-bazaar-review/README.md:68</a:t>
            </a:r>
          </a:p>
          <a:p xmlns:a="http://schemas.openxmlformats.org/drawingml/2006/main">
            <a:r>
              <a:t>https://github.com/katamor1/bob_builtin_analyze/blob/3567883d/extensions/bob-bazaar-review/README.md#L68</a:t>
            </a:r>
          </a:p>
          <a:p xmlns:a="http://schemas.openxmlformats.org/drawingml/2006/main">
            <a:r>
              <a:t/>
            </a:r>
          </a:p>
          <a:p xmlns:a="http://schemas.openxmlformats.org/drawingml/2006/main">
            <a:r>
              <a:t>extensions/bob-bazaar-review/README.md:128</a:t>
            </a:r>
          </a:p>
          <a:p xmlns:a="http://schemas.openxmlformats.org/drawingml/2006/main">
            <a:r>
              <a:t>https://github.com/katamor1/bob_builtin_analyze/blob/3567883d/extensions/bob-bazaar-review/README.md#L128</a:t>
            </a:r>
          </a:p>
          <a:p xmlns:a="http://schemas.openxmlformats.org/drawingml/2006/main">
            <a:r>
              <a:t/>
            </a:r>
          </a:p>
          <a:p xmlns:a="http://schemas.openxmlformats.org/drawingml/2006/main">
            <a:r>
              <a:t>extensions/bob-bazaar-review/src/reviewRuns/reviewRunCoordinator.ts:225</a:t>
            </a:r>
          </a:p>
          <a:p xmlns:a="http://schemas.openxmlformats.org/drawingml/2006/main">
            <a:r>
              <a:t>https://github.com/katamor1/bob_builtin_analyze/blob/3567883d/extensions/bob-bazaar-review/src/reviewRuns/reviewRunCoordinator.ts#L225</a:t>
            </a:r>
          </a:p>
          <a:p xmlns:a="http://schemas.openxmlformats.org/drawingml/2006/main">
            <a:r>
              <a:t/>
            </a:r>
          </a:p>
          <a:p xmlns:a="http://schemas.openxmlformats.org/drawingml/2006/main">
            <a:r>
              <a:t>extensions/bob-bazaar-review/src/dashboard/campaignDashboardCore.ts:62</a:t>
            </a:r>
          </a:p>
          <a:p xmlns:a="http://schemas.openxmlformats.org/drawingml/2006/main">
            <a:r>
              <a:t>https://github.com/katamor1/bob_builtin_analyze/blob/3567883d/extensions/bob-bazaar-review/src/dashboard/campaignDashboardCore.ts#L62</a:t>
            </a:r>
          </a:p>
          <a:p xmlns:a="http://schemas.openxmlformats.org/drawingml/2006/main">
            <a:r>
              <a:t/>
            </a:r>
          </a:p>
          <a:p xmlns:a="http://schemas.openxmlformats.org/drawingml/2006/main">
            <a:r>
              <a:t>extensions/bob-bazaar-review/README.md:190</a:t>
            </a:r>
          </a:p>
          <a:p xmlns:a="http://schemas.openxmlformats.org/drawingml/2006/main">
            <a:r>
              <a:t>https://github.com/katamor1/bob_builtin_analyze/blob/3567883d/extensions/bob-bazaar-review/README.md#L190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MCP連携と利用条件</a:t>
            </a:r>
          </a:p>
          <a:p xmlns:a="http://schemas.openxmlformats.org/drawingml/2006/main">
            <a:r>
              <a:t/>
            </a:r>
          </a:p>
          <a:p xmlns:a="http://schemas.openxmlformats.org/drawingml/2006/main">
            <a:r>
              <a:t>MCPはBazaarのroot、log、diff、status、cat等と、規約や保存済み結果の参照・検証を提供します。BOB_BAZAAR_ALLOWED_ROOTSで許可した範囲だけを受け付け、未設定なら既定拒否です。project_rules_initはBOB_BAZAAR_ENABLE_WRITE_TOOLS=1を明示した場合だけ登録されます。これは規約assetの初期化であり、Bazaarのcommit、push、merge等を許可するものではありません。Bobとworkflow-registerは任意依存ですが、それぞれの連携機能には必要です。資料は既定20件、AIへ渡す根拠は1MiBまでで、画像だけのPDFにはOCR済みファイルを用意します。</a:t>
            </a:r>
          </a:p>
          <a:p xmlns:a="http://schemas.openxmlformats.org/drawingml/2006/main">
            <a:r>
              <a:t/>
            </a:r>
          </a:p>
          <a:p xmlns:a="http://schemas.openxmlformats.org/drawingml/2006/main">
            <a:r>
              <a:t>参照元（基準 commit 3567883d）</a:t>
            </a:r>
          </a:p>
          <a:p xmlns:a="http://schemas.openxmlformats.org/drawingml/2006/main">
            <a:r>
              <a:t>extensions/bob-bazaar-review/src/mcp/bazaarTools.ts:20</a:t>
            </a:r>
          </a:p>
          <a:p xmlns:a="http://schemas.openxmlformats.org/drawingml/2006/main">
            <a:r>
              <a:t>https://github.com/katamor1/bob_builtin_analyze/blob/3567883d/extensions/bob-bazaar-review/src/mcp/bazaarTools.ts#L20</a:t>
            </a:r>
          </a:p>
          <a:p xmlns:a="http://schemas.openxmlformats.org/drawingml/2006/main">
            <a:r>
              <a:t/>
            </a:r>
          </a:p>
          <a:p xmlns:a="http://schemas.openxmlformats.org/drawingml/2006/main">
            <a:r>
              <a:t>extensions/bob-bazaar-review/src/mcp/tools.ts:33</a:t>
            </a:r>
          </a:p>
          <a:p xmlns:a="http://schemas.openxmlformats.org/drawingml/2006/main">
            <a:r>
              <a:t>https://github.com/katamor1/bob_builtin_analyze/blob/3567883d/extensions/bob-bazaar-review/src/mcp/tools.ts#L33</a:t>
            </a:r>
          </a:p>
          <a:p xmlns:a="http://schemas.openxmlformats.org/drawingml/2006/main">
            <a:r>
              <a:t/>
            </a:r>
          </a:p>
          <a:p xmlns:a="http://schemas.openxmlformats.org/drawingml/2006/main">
            <a:r>
              <a:t>extensions/bob-bazaar-review/README.md:229</a:t>
            </a:r>
          </a:p>
          <a:p xmlns:a="http://schemas.openxmlformats.org/drawingml/2006/main">
            <a:r>
              <a:t>https://github.com/katamor1/bob_builtin_analyze/blob/3567883d/extensions/bob-bazaar-review/README.md#L229</a:t>
            </a:r>
          </a:p>
          <a:p xmlns:a="http://schemas.openxmlformats.org/drawingml/2006/main">
            <a:r>
              <a:t/>
            </a:r>
          </a:p>
          <a:p xmlns:a="http://schemas.openxmlformats.org/drawingml/2006/main">
            <a:r>
              <a:t>extensions/bob-bazaar-review/README.md:294</a:t>
            </a:r>
          </a:p>
          <a:p xmlns:a="http://schemas.openxmlformats.org/drawingml/2006/main">
            <a:r>
              <a:t>https://github.com/katamor1/bob_builtin_analyze/blob/3567883d/extensions/bob-bazaar-review/README.md#L294</a:t>
            </a:r>
          </a:p>
          <a:p xmlns:a="http://schemas.openxmlformats.org/drawingml/2006/main">
            <a:r>
              <a:t/>
            </a:r>
          </a:p>
          <a:p xmlns:a="http://schemas.openxmlformats.org/drawingml/2006/main">
            <a:r>
              <a:t>extensions/bob-bazaar-review/src/ruleAuthoring/ruleAuthoringLimits.ts:19</a:t>
            </a:r>
          </a:p>
          <a:p xmlns:a="http://schemas.openxmlformats.org/drawingml/2006/main">
            <a:r>
              <a:t>https://github.com/katamor1/bob_builtin_analyze/blob/3567883d/extensions/bob-bazaar-review/src/ruleAuthoring/ruleAuthoringLimits.ts#L19</a:t>
            </a:r>
          </a:p>
          <a:p xmlns:a="http://schemas.openxmlformats.org/drawingml/2006/main">
            <a:r>
              <a:t/>
            </a:r>
          </a:p>
          <a:p xmlns:a="http://schemas.openxmlformats.org/drawingml/2006/main">
            <a:r>
              <a:t>extensions/bob-bazaar-review/README.md:211</a:t>
            </a:r>
          </a:p>
          <a:p xmlns:a="http://schemas.openxmlformats.org/drawingml/2006/main">
            <a:r>
              <a:t>https://github.com/katamor1/bob_builtin_analyze/blob/3567883d/extensions/bob-bazaar-review/README.md#L211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整合プレレビューの流れ</a:t>
            </a:r>
          </a:p>
          <a:p xmlns:a="http://schemas.openxmlformats.org/drawingml/2006/main">
            <a:r>
              <a:t/>
            </a:r>
          </a:p>
          <a:p xmlns:a="http://schemas.openxmlformats.org/drawingml/2006/main">
            <a:r>
              <a:t>この拡張の目的は、正式レビューの前にコード変更と要求・基本設計・詳細設計・テスト仕様の整合性を確認することです。Command Paletteの公開入口は「整合プレレビューを開始」の1件で、入力、トレーサビリティ整理、資料プレビュー、結果取り込み、指摘確認を同じpanelで扱います。機械処理が差分と文書から根拠を準備し、Bobはその資料に基づいて指摘や質問の候補を出します。採用や修正要否を確定する役割は人間にあります。図は利用者から見た主要工程を5つにまとめたものです。根拠はREADMEの公開入口と標準フローです。</a:t>
            </a:r>
          </a:p>
          <a:p xmlns:a="http://schemas.openxmlformats.org/drawingml/2006/main">
            <a:r>
              <a:t/>
            </a:r>
          </a:p>
          <a:p xmlns:a="http://schemas.openxmlformats.org/drawingml/2006/main">
            <a:r>
              <a:t>参照元（基準 commit 3567883d）</a:t>
            </a:r>
          </a:p>
          <a:p xmlns:a="http://schemas.openxmlformats.org/drawingml/2006/main">
            <a:r>
              <a:t>extensions/bob-code-consistency-review/README.md:3</a:t>
            </a:r>
          </a:p>
          <a:p xmlns:a="http://schemas.openxmlformats.org/drawingml/2006/main">
            <a:r>
              <a:t>https://github.com/katamor1/bob_builtin_analyze/blob/3567883d/extensions/bob-code-consistency-review/README.md#L3</a:t>
            </a:r>
          </a:p>
          <a:p xmlns:a="http://schemas.openxmlformats.org/drawingml/2006/main">
            <a:r>
              <a:t/>
            </a:r>
          </a:p>
          <a:p xmlns:a="http://schemas.openxmlformats.org/drawingml/2006/main">
            <a:r>
              <a:t>extensions/bob-code-consistency-review/README.md:13</a:t>
            </a:r>
          </a:p>
          <a:p xmlns:a="http://schemas.openxmlformats.org/drawingml/2006/main">
            <a:r>
              <a:t>https://github.com/katamor1/bob_builtin_analyze/blob/3567883d/extensions/bob-code-consistency-review/README.md#L13</a:t>
            </a:r>
          </a:p>
          <a:p xmlns:a="http://schemas.openxmlformats.org/drawingml/2006/main">
            <a:r>
              <a:t/>
            </a:r>
          </a:p>
          <a:p xmlns:a="http://schemas.openxmlformats.org/drawingml/2006/main">
            <a:r>
              <a:t>extensions/bob-code-consistency-review/README.md:35</a:t>
            </a:r>
          </a:p>
          <a:p xmlns:a="http://schemas.openxmlformats.org/drawingml/2006/main">
            <a:r>
              <a:t>https://github.com/katamor1/bob_builtin_analyze/blob/3567883d/extensions/bob-code-consistency-review/README.md#L35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整合プレレビューの内部構成</a:t>
            </a:r>
          </a:p>
          <a:p xmlns:a="http://schemas.openxmlformats.org/drawingml/2006/main">
            <a:r>
              <a:t/>
            </a:r>
          </a:p>
          <a:p xmlns:a="http://schemas.openxmlformats.org/drawingml/2006/main">
            <a:r>
              <a:t>実装の起点はextension.tsで、ここではVS Codeコマンド登録とサービスの接続を行います。workflow-registerが利用できる場合はregisterActionProviderで同じ操作群を登録し、任意の連携先がない場合も拡張の有効化を続けます。前処理の本体はpreprocessReviewです。入力と出力パスの検証、差分収集、任意のリポジトリ索引生成、文書抽出、コード解析、context budgetの作成、対応候補の作成、package生成を順に接続します。台帳は上流成果物と生成packageの依存関係も記録します。根拠はコマンド登録、provider登録、pipelineの実装です。</a:t>
            </a:r>
          </a:p>
          <a:p xmlns:a="http://schemas.openxmlformats.org/drawingml/2006/main">
            <a:r>
              <a:t/>
            </a:r>
          </a:p>
          <a:p xmlns:a="http://schemas.openxmlformats.org/drawingml/2006/main">
            <a:r>
              <a:t>参照元（基準 commit 3567883d）</a:t>
            </a:r>
          </a:p>
          <a:p xmlns:a="http://schemas.openxmlformats.org/drawingml/2006/main">
            <a:r>
              <a:t>extensions/bob-code-consistency-review/src/extension.ts:39</a:t>
            </a:r>
          </a:p>
          <a:p xmlns:a="http://schemas.openxmlformats.org/drawingml/2006/main">
            <a:r>
              <a:t>https://github.com/katamor1/bob_builtin_analyze/blob/3567883d/extensions/bob-code-consistency-review/src/extension.ts#L39</a:t>
            </a:r>
          </a:p>
          <a:p xmlns:a="http://schemas.openxmlformats.org/drawingml/2006/main">
            <a:r>
              <a:t/>
            </a:r>
          </a:p>
          <a:p xmlns:a="http://schemas.openxmlformats.org/drawingml/2006/main">
            <a:r>
              <a:t>extensions/bob-code-consistency-review/src/workflowProviderRegistration.ts:148</a:t>
            </a:r>
          </a:p>
          <a:p xmlns:a="http://schemas.openxmlformats.org/drawingml/2006/main">
            <a:r>
              <a:t>https://github.com/katamor1/bob_builtin_analyze/blob/3567883d/extensions/bob-code-consistency-review/src/workflowProviderRegistration.ts#L148</a:t>
            </a:r>
          </a:p>
          <a:p xmlns:a="http://schemas.openxmlformats.org/drawingml/2006/main">
            <a:r>
              <a:t/>
            </a:r>
          </a:p>
          <a:p xmlns:a="http://schemas.openxmlformats.org/drawingml/2006/main">
            <a:r>
              <a:t>extensions/bob-code-consistency-review/src/core/pipeline.ts:40</a:t>
            </a:r>
          </a:p>
          <a:p xmlns:a="http://schemas.openxmlformats.org/drawingml/2006/main">
            <a:r>
              <a:t>https://github.com/katamor1/bob_builtin_analyze/blob/3567883d/extensions/bob-code-consistency-review/src/core/pipeline.ts#L40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条件・差分・文書を入力する</a:t>
            </a:r>
          </a:p>
          <a:p xmlns:a="http://schemas.openxmlformats.org/drawingml/2006/main">
            <a:r>
              <a:t/>
            </a:r>
          </a:p>
          <a:p xmlns:a="http://schemas.openxmlformats.org/drawingml/2006/main">
            <a:r>
              <a:t>review-input.yamlにはレビューの識別情報、比較範囲、対象文書、確認観点、解析設定を記述します。入力作成のAI支援は候補をつくる機能であり、候補パスや列挙値などはhost側で再検証します。文書抽出の現行対象はMarkdown、DOCX、XLSXで、PDFや旧形式のDOC・XLSは対象外です。DOCXはMammothでHTMLに変換して見出し・段落・表を抽出し、XLSXは選択シートの行を表の抜粋にします。既定の文書上限を超える場合、Markdownは切り詰め、DOCX・XLSXは抽出を中止します。根拠は入力例、抽出器、package.jsonの設定定義です。</a:t>
            </a:r>
          </a:p>
          <a:p xmlns:a="http://schemas.openxmlformats.org/drawingml/2006/main">
            <a:r>
              <a:t/>
            </a:r>
          </a:p>
          <a:p xmlns:a="http://schemas.openxmlformats.org/drawingml/2006/main">
            <a:r>
              <a:t>参照元（基準 commit 3567883d）</a:t>
            </a:r>
          </a:p>
          <a:p xmlns:a="http://schemas.openxmlformats.org/drawingml/2006/main">
            <a:r>
              <a:t>extensions/bob-code-consistency-review/README.md:69</a:t>
            </a:r>
          </a:p>
          <a:p xmlns:a="http://schemas.openxmlformats.org/drawingml/2006/main">
            <a:r>
              <a:t>https://github.com/katamor1/bob_builtin_analyze/blob/3567883d/extensions/bob-code-consistency-review/README.md#L69</a:t>
            </a:r>
          </a:p>
          <a:p xmlns:a="http://schemas.openxmlformats.org/drawingml/2006/main">
            <a:r>
              <a:t/>
            </a:r>
          </a:p>
          <a:p xmlns:a="http://schemas.openxmlformats.org/drawingml/2006/main">
            <a:r>
              <a:t>extensions/bob-code-consistency-review/src/analyzers/documentExtractor.ts:123</a:t>
            </a:r>
          </a:p>
          <a:p xmlns:a="http://schemas.openxmlformats.org/drawingml/2006/main">
            <a:r>
              <a:t>https://github.com/katamor1/bob_builtin_analyze/blob/3567883d/extensions/bob-code-consistency-review/src/analyzers/documentExtractor.ts#L123</a:t>
            </a:r>
          </a:p>
          <a:p xmlns:a="http://schemas.openxmlformats.org/drawingml/2006/main">
            <a:r>
              <a:t/>
            </a:r>
          </a:p>
          <a:p xmlns:a="http://schemas.openxmlformats.org/drawingml/2006/main">
            <a:r>
              <a:t>extensions/bob-code-consistency-review/src/analyzers/documentDocxExtractor.ts:10</a:t>
            </a:r>
          </a:p>
          <a:p xmlns:a="http://schemas.openxmlformats.org/drawingml/2006/main">
            <a:r>
              <a:t>https://github.com/katamor1/bob_builtin_analyze/blob/3567883d/extensions/bob-code-consistency-review/src/analyzers/documentDocxExtractor.ts#L10</a:t>
            </a:r>
          </a:p>
          <a:p xmlns:a="http://schemas.openxmlformats.org/drawingml/2006/main">
            <a:r>
              <a:t/>
            </a:r>
          </a:p>
          <a:p xmlns:a="http://schemas.openxmlformats.org/drawingml/2006/main">
            <a:r>
              <a:t>extensions/bob-code-consistency-review/src/analyzers/documentXlsxExtractor.ts:25</a:t>
            </a:r>
          </a:p>
          <a:p xmlns:a="http://schemas.openxmlformats.org/drawingml/2006/main">
            <a:r>
              <a:t>https://github.com/katamor1/bob_builtin_analyze/blob/3567883d/extensions/bob-code-consistency-review/src/analyzers/documentXlsxExtractor.ts#L25</a:t>
            </a:r>
          </a:p>
          <a:p xmlns:a="http://schemas.openxmlformats.org/drawingml/2006/main">
            <a:r>
              <a:t/>
            </a:r>
          </a:p>
          <a:p xmlns:a="http://schemas.openxmlformats.org/drawingml/2006/main">
            <a:r>
              <a:t>extensions/bob-code-consistency-review/package.json:173</a:t>
            </a:r>
          </a:p>
          <a:p xmlns:a="http://schemas.openxmlformats.org/drawingml/2006/main">
            <a:r>
              <a:t>https://github.com/katamor1/bob_builtin_analyze/blob/3567883d/extensions/bob-code-consistency-review/package.json#L173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コード根拠と資料量の管理</a:t>
            </a:r>
          </a:p>
          <a:p xmlns:a="http://schemas.openxmlformats.org/drawingml/2006/main">
            <a:r>
              <a:t/>
            </a:r>
          </a:p>
          <a:p xmlns:a="http://schemas.openxmlformats.org/drawingml/2006/main">
            <a:r>
              <a:t>C/C++の解析は正規表現や波括弧などを使う候補抽出で、完全なASTや意味解析ではありません。他言語や詳細根拠が得られないファイルには汎用の差分根拠を作ります。任意のrepository symbol indexを読み込め、build指定時はGitを使って索引を生成し、互換キャッシュを再利用します。context budgetは優先度と概算トークン量による採用・除外の計画をレポート化しますが、計画自体がBob入力の完全な選別を保証するわけではありません。実際の抜粋や投入テキストにはバイト上限を適用します。artifact ledgerはハッシュ・版・依存関係から鮮度を管理します。根拠は各解析器とevidenceScopeの実装です。</a:t>
            </a:r>
          </a:p>
          <a:p xmlns:a="http://schemas.openxmlformats.org/drawingml/2006/main">
            <a:r>
              <a:t/>
            </a:r>
          </a:p>
          <a:p xmlns:a="http://schemas.openxmlformats.org/drawingml/2006/main">
            <a:r>
              <a:t>参照元（基準 commit 3567883d）</a:t>
            </a:r>
          </a:p>
          <a:p xmlns:a="http://schemas.openxmlformats.org/drawingml/2006/main">
            <a:r>
              <a:t>extensions/bob-code-consistency-review/src/analyzers/cCppSymbolDetector.ts:9</a:t>
            </a:r>
          </a:p>
          <a:p xmlns:a="http://schemas.openxmlformats.org/drawingml/2006/main">
            <a:r>
              <a:t>https://github.com/katamor1/bob_builtin_analyze/blob/3567883d/extensions/bob-code-consistency-review/src/analyzers/cCppSymbolDetector.ts#L9</a:t>
            </a:r>
          </a:p>
          <a:p xmlns:a="http://schemas.openxmlformats.org/drawingml/2006/main">
            <a:r>
              <a:t/>
            </a:r>
          </a:p>
          <a:p xmlns:a="http://schemas.openxmlformats.org/drawingml/2006/main">
            <a:r>
              <a:t>extensions/bob-code-consistency-review/src/analyzers/codeChangeAnalyzer.ts:24</a:t>
            </a:r>
          </a:p>
          <a:p xmlns:a="http://schemas.openxmlformats.org/drawingml/2006/main">
            <a:r>
              <a:t>https://github.com/katamor1/bob_builtin_analyze/blob/3567883d/extensions/bob-code-consistency-review/src/analyzers/codeChangeAnalyzer.ts#L24</a:t>
            </a:r>
          </a:p>
          <a:p xmlns:a="http://schemas.openxmlformats.org/drawingml/2006/main">
            <a:r>
              <a:t/>
            </a:r>
          </a:p>
          <a:p xmlns:a="http://schemas.openxmlformats.org/drawingml/2006/main">
            <a:r>
              <a:t>extensions/bob-code-consistency-review/src/core/pipeline.ts:58</a:t>
            </a:r>
          </a:p>
          <a:p xmlns:a="http://schemas.openxmlformats.org/drawingml/2006/main">
            <a:r>
              <a:t>https://github.com/katamor1/bob_builtin_analyze/blob/3567883d/extensions/bob-code-consistency-review/src/core/pipeline.ts#L58</a:t>
            </a:r>
          </a:p>
          <a:p xmlns:a="http://schemas.openxmlformats.org/drawingml/2006/main">
            <a:r>
              <a:t/>
            </a:r>
          </a:p>
          <a:p xmlns:a="http://schemas.openxmlformats.org/drawingml/2006/main">
            <a:r>
              <a:t>extensions/bob-code-consistency-review/src/evidenceScope/repositorySymbolIndexProducer.ts:115</a:t>
            </a:r>
          </a:p>
          <a:p xmlns:a="http://schemas.openxmlformats.org/drawingml/2006/main">
            <a:r>
              <a:t>https://github.com/katamor1/bob_builtin_analyze/blob/3567883d/extensions/bob-code-consistency-review/src/evidenceScope/repositorySymbolIndexProducer.ts#L115</a:t>
            </a:r>
          </a:p>
          <a:p xmlns:a="http://schemas.openxmlformats.org/drawingml/2006/main">
            <a:r>
              <a:t/>
            </a:r>
          </a:p>
          <a:p xmlns:a="http://schemas.openxmlformats.org/drawingml/2006/main">
            <a:r>
              <a:t>extensions/bob-code-consistency-review/src/evidenceScope/reviewContextBudget.ts:39</a:t>
            </a:r>
          </a:p>
          <a:p xmlns:a="http://schemas.openxmlformats.org/drawingml/2006/main">
            <a:r>
              <a:t>https://github.com/katamor1/bob_builtin_analyze/blob/3567883d/extensions/bob-code-consistency-review/src/evidenceScope/reviewContextBudget.ts#L39</a:t>
            </a:r>
          </a:p>
          <a:p xmlns:a="http://schemas.openxmlformats.org/drawingml/2006/main">
            <a:r>
              <a:t/>
            </a:r>
          </a:p>
          <a:p xmlns:a="http://schemas.openxmlformats.org/drawingml/2006/main">
            <a:r>
              <a:t>extensions/bob-code-consistency-review/src/evidenceScope/artifactLedger.ts:19</a:t>
            </a:r>
          </a:p>
          <a:p xmlns:a="http://schemas.openxmlformats.org/drawingml/2006/main">
            <a:r>
              <a:t>https://github.com/katamor1/bob_builtin_analyze/blob/3567883d/extensions/bob-code-consistency-review/src/evidenceScope/artifactLedger.ts#L19</a:t>
            </a:r>
          </a:p>
          <a:p xmlns:a="http://schemas.openxmlformats.org/drawingml/2006/main">
            <a:r>
              <a:t/>
            </a:r>
          </a:p>
          <a:p xmlns:a="http://schemas.openxmlformats.org/drawingml/2006/main">
            <a:r>
              <a:t>extensions/bob-code-consistency-review/src/core/reviewPackageBuilder.ts:348</a:t>
            </a:r>
          </a:p>
          <a:p xmlns:a="http://schemas.openxmlformats.org/drawingml/2006/main">
            <a:r>
              <a:t>https://github.com/katamor1/bob_builtin_analyze/blob/3567883d/extensions/bob-code-consistency-review/src/core/reviewPackageBuilder.ts#L348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文書間のトレーサビリティ</a:t>
            </a:r>
          </a:p>
          <a:p xmlns:a="http://schemas.openxmlformats.org/drawingml/2006/main">
            <a:r>
              <a:t/>
            </a:r>
          </a:p>
          <a:p xmlns:a="http://schemas.openxmlformats.org/drawingml/2006/main">
            <a:r>
              <a:t>トレーサビリティ整理では、元文書を直接書き換えず、.bob-trace/traceability-catalog.jsonを台帳として仕様単位、ID、工程間の関連、承認状態を保持します。AIが作成できるのはproposedの候補で、accepted・rejected・deprecatedへの確定は人間が行います。gateは未承認や不足する関連、未解決のレビュー指摘などを確認し、acceptedの項目からreview-input.yamlを作成できます。この人間管理の台帳と、前処理がキーワードの重なりから生成するtraceability-mapの対応候補は役割が異なります。自動対応は確定した意味関係として説明しません。根拠は現行フロー、gate、対応候補生成の実装です。</a:t>
            </a:r>
          </a:p>
          <a:p xmlns:a="http://schemas.openxmlformats.org/drawingml/2006/main">
            <a:r>
              <a:t/>
            </a:r>
          </a:p>
          <a:p xmlns:a="http://schemas.openxmlformats.org/drawingml/2006/main">
            <a:r>
              <a:t>参照元（基準 commit 3567883d）</a:t>
            </a:r>
          </a:p>
          <a:p xmlns:a="http://schemas.openxmlformats.org/drawingml/2006/main">
            <a:r>
              <a:t>docs/workflows/code-consistency-review/README.md:79</a:t>
            </a:r>
          </a:p>
          <a:p xmlns:a="http://schemas.openxmlformats.org/drawingml/2006/main">
            <a:r>
              <a:t>https://github.com/katamor1/bob_builtin_analyze/blob/3567883d/docs/workflows/code-consistency-review/README.md#L79</a:t>
            </a:r>
          </a:p>
          <a:p xmlns:a="http://schemas.openxmlformats.org/drawingml/2006/main">
            <a:r>
              <a:t/>
            </a:r>
          </a:p>
          <a:p xmlns:a="http://schemas.openxmlformats.org/drawingml/2006/main">
            <a:r>
              <a:t>extensions/bob-code-consistency-review/src/core/traceabilityValidation.ts:16</a:t>
            </a:r>
          </a:p>
          <a:p xmlns:a="http://schemas.openxmlformats.org/drawingml/2006/main">
            <a:r>
              <a:t>https://github.com/katamor1/bob_builtin_analyze/blob/3567883d/extensions/bob-code-consistency-review/src/core/traceabilityValidation.ts#L16</a:t>
            </a:r>
          </a:p>
          <a:p xmlns:a="http://schemas.openxmlformats.org/drawingml/2006/main">
            <a:r>
              <a:t/>
            </a:r>
          </a:p>
          <a:p xmlns:a="http://schemas.openxmlformats.org/drawingml/2006/main">
            <a:r>
              <a:t>extensions/bob-code-consistency-review/src/core/traceabilityValidation.ts:246</a:t>
            </a:r>
          </a:p>
          <a:p xmlns:a="http://schemas.openxmlformats.org/drawingml/2006/main">
            <a:r>
              <a:t>https://github.com/katamor1/bob_builtin_analyze/blob/3567883d/extensions/bob-code-consistency-review/src/core/traceabilityValidation.ts#L246</a:t>
            </a:r>
          </a:p>
          <a:p xmlns:a="http://schemas.openxmlformats.org/drawingml/2006/main">
            <a:r>
              <a:t/>
            </a:r>
          </a:p>
          <a:p xmlns:a="http://schemas.openxmlformats.org/drawingml/2006/main">
            <a:r>
              <a:t>extensions/bob-code-consistency-review/src/analyzers/traceabilityBuilder.ts:18</a:t>
            </a:r>
          </a:p>
          <a:p xmlns:a="http://schemas.openxmlformats.org/drawingml/2006/main">
            <a:r>
              <a:t>https://github.com/katamor1/bob_builtin_analyze/blob/3567883d/extensions/bob-code-consistency-review/src/analyzers/traceabilityBuilder.ts#L18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Bobへ渡すレビュー資料</a:t>
            </a:r>
          </a:p>
          <a:p xmlns:a="http://schemas.openxmlformats.org/drawingml/2006/main">
            <a:r>
              <a:t/>
            </a:r>
          </a:p>
          <a:p xmlns:a="http://schemas.openxmlformats.org/drawingml/2006/main">
            <a:r>
              <a:t>既定の出力先は.bob-review/review-packageです。実装ではinput-normalized.json、changed-files.json、changed-symbols.json、document-index.json、evidence-index.json、traceability-map.jsonなどを保存します。文書抜粋、差分、対応候補はMarkdownにもなり、コード断片や表は個別ファイルとして残ります。manifestには生成ID、版、入力ハッシュ、索引やルールの情報を記録します。Bob入力はprompt templateへこれらを埋め込み、最大バイト数を超えた場合は切り詰めと警告を記録します。生成物には実際の設計やコードが含まれます。根拠はREADMEではなく、現行のreviewPackageBuilderの出力処理です。</a:t>
            </a:r>
          </a:p>
          <a:p xmlns:a="http://schemas.openxmlformats.org/drawingml/2006/main">
            <a:r>
              <a:t/>
            </a:r>
          </a:p>
          <a:p xmlns:a="http://schemas.openxmlformats.org/drawingml/2006/main">
            <a:r>
              <a:t>参照元（基準 commit 3567883d）</a:t>
            </a:r>
          </a:p>
          <a:p xmlns:a="http://schemas.openxmlformats.org/drawingml/2006/main">
            <a:r>
              <a:t>extensions/bob-code-consistency-review/src/core/reviewPackageBuilder.ts:15</a:t>
            </a:r>
          </a:p>
          <a:p xmlns:a="http://schemas.openxmlformats.org/drawingml/2006/main">
            <a:r>
              <a:t>https://github.com/katamor1/bob_builtin_analyze/blob/3567883d/extensions/bob-code-consistency-review/src/core/reviewPackageBuilder.ts#L15</a:t>
            </a:r>
          </a:p>
          <a:p xmlns:a="http://schemas.openxmlformats.org/drawingml/2006/main">
            <a:r>
              <a:t/>
            </a:r>
          </a:p>
          <a:p xmlns:a="http://schemas.openxmlformats.org/drawingml/2006/main">
            <a:r>
              <a:t>extensions/bob-code-consistency-review/src/core/reviewPackageBuilder.ts:57</a:t>
            </a:r>
          </a:p>
          <a:p xmlns:a="http://schemas.openxmlformats.org/drawingml/2006/main">
            <a:r>
              <a:t>https://github.com/katamor1/bob_builtin_analyze/blob/3567883d/extensions/bob-code-consistency-review/src/core/reviewPackageBuilder.ts#L57</a:t>
            </a:r>
          </a:p>
          <a:p xmlns:a="http://schemas.openxmlformats.org/drawingml/2006/main">
            <a:r>
              <a:t/>
            </a:r>
          </a:p>
          <a:p xmlns:a="http://schemas.openxmlformats.org/drawingml/2006/main">
            <a:r>
              <a:t>extensions/bob-code-consistency-review/src/core/reviewPackageBuilder.ts:85</a:t>
            </a:r>
          </a:p>
          <a:p xmlns:a="http://schemas.openxmlformats.org/drawingml/2006/main">
            <a:r>
              <a:t>https://github.com/katamor1/bob_builtin_analyze/blob/3567883d/extensions/bob-code-consistency-review/src/core/reviewPackageBuilder.ts#L85</a:t>
            </a:r>
          </a:p>
          <a:p xmlns:a="http://schemas.openxmlformats.org/drawingml/2006/main">
            <a:r>
              <a:t/>
            </a:r>
          </a:p>
          <a:p xmlns:a="http://schemas.openxmlformats.org/drawingml/2006/main">
            <a:r>
              <a:t>extensions/bob-code-consistency-review/src/core/reviewPackageBuilder.ts:118</a:t>
            </a:r>
          </a:p>
          <a:p xmlns:a="http://schemas.openxmlformats.org/drawingml/2006/main">
            <a:r>
              <a:t>https://github.com/katamor1/bob_builtin_analyze/blob/3567883d/extensions/bob-code-consistency-review/src/core/reviewPackageBuilder.ts#L118</a:t>
            </a:r>
          </a:p>
          <a:p xmlns:a="http://schemas.openxmlformats.org/drawingml/2006/main">
            <a:r>
              <a:t/>
            </a:r>
          </a:p>
          <a:p xmlns:a="http://schemas.openxmlformats.org/drawingml/2006/main">
            <a:r>
              <a:t>extensions/bob-code-consistency-review/src/core/reviewPackageBuilder.ts:348</a:t>
            </a:r>
          </a:p>
          <a:p xmlns:a="http://schemas.openxmlformats.org/drawingml/2006/main">
            <a:r>
              <a:t>https://github.com/katamor1/bob_builtin_analyze/blob/3567883d/extensions/bob-code-consistency-review/src/core/reviewPackageBuilder.ts#L348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Bob出力の形式・根拠ID検証</a:t>
            </a:r>
          </a:p>
          <a:p xmlns:a="http://schemas.openxmlformats.org/drawingml/2006/main">
            <a:r>
              <a:t/>
            </a:r>
          </a:p>
          <a:p xmlns:a="http://schemas.openxmlformats.org/drawingml/2006/main">
            <a:r>
              <a:t>取り込み処理はYAMLを解析し、JSON Schemaに基づく形式検証を行います。review-packageがある場合、findingsとquestionsのevidence_idをevidence-index.jsonに照合し、欠落や未知のIDをエラーにします。現行のcaptureBobOutputは元出力と正規化出力をそれぞれ検証し、raw-output.yaml、canonical-output.yaml、通常のbob-output.yamlを保存して検証結果を返します。そのため保存成功だけをもって検証合格や内容の正しさとは扱いません。構造が正しく存在する根拠IDを使っていても、説明や推論の妥当性は人間の確認対象です。根拠はbobOutputValidatorとbobOutputCaptureの実装です。</a:t>
            </a:r>
          </a:p>
          <a:p xmlns:a="http://schemas.openxmlformats.org/drawingml/2006/main">
            <a:r>
              <a:t/>
            </a:r>
          </a:p>
          <a:p xmlns:a="http://schemas.openxmlformats.org/drawingml/2006/main">
            <a:r>
              <a:t>参照元（基準 commit 3567883d）</a:t>
            </a:r>
          </a:p>
          <a:p xmlns:a="http://schemas.openxmlformats.org/drawingml/2006/main">
            <a:r>
              <a:t>extensions/bob-code-consistency-review/src/core/bobOutputValidator.ts:30</a:t>
            </a:r>
          </a:p>
          <a:p xmlns:a="http://schemas.openxmlformats.org/drawingml/2006/main">
            <a:r>
              <a:t>https://github.com/katamor1/bob_builtin_analyze/blob/3567883d/extensions/bob-code-consistency-review/src/core/bobOutputValidator.ts#L30</a:t>
            </a:r>
          </a:p>
          <a:p xmlns:a="http://schemas.openxmlformats.org/drawingml/2006/main">
            <a:r>
              <a:t/>
            </a:r>
          </a:p>
          <a:p xmlns:a="http://schemas.openxmlformats.org/drawingml/2006/main">
            <a:r>
              <a:t>extensions/bob-code-consistency-review/src/core/bobOutputValidator.ts:95</a:t>
            </a:r>
          </a:p>
          <a:p xmlns:a="http://schemas.openxmlformats.org/drawingml/2006/main">
            <a:r>
              <a:t>https://github.com/katamor1/bob_builtin_analyze/blob/3567883d/extensions/bob-code-consistency-review/src/core/bobOutputValidator.ts#L95</a:t>
            </a:r>
          </a:p>
          <a:p xmlns:a="http://schemas.openxmlformats.org/drawingml/2006/main">
            <a:r>
              <a:t/>
            </a:r>
          </a:p>
          <a:p xmlns:a="http://schemas.openxmlformats.org/drawingml/2006/main">
            <a:r>
              <a:t>extensions/bob-code-consistency-review/src/core/bobOutputCapture.ts:35</a:t>
            </a:r>
          </a:p>
          <a:p xmlns:a="http://schemas.openxmlformats.org/drawingml/2006/main">
            <a:r>
              <a:t>https://github.com/katamor1/bob_builtin_analyze/blob/3567883d/extensions/bob-code-consistency-review/src/core/bobOutputCapture.ts#L35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指摘の判断と引き継ぎ資料</a:t>
            </a:r>
          </a:p>
          <a:p xmlns:a="http://schemas.openxmlformats.org/drawingml/2006/main">
            <a:r>
              <a:t/>
            </a:r>
          </a:p>
          <a:p xmlns:a="http://schemas.openxmlformats.org/drawingml/2006/main">
            <a:r>
              <a:t>triage-source.yamlはBob出力に由来するsnapshot、triage-decisions.yamlはsource_idをキーにした人間の判断の正本です。triage-result.yamlや採用指摘・棄却指摘・追加調査・質問・後続作業のMarkdownは再生成される表示用成果物です。判断にはaccepted、rejected、needs_investigation、deferred、questionの5種類があります。採用時には理由・担当・最終重要度、保留時には理由と期限などを検証します。保存時はsource hashとdecision revisionを照合し、古い対象や競合を検出します。成功した保存ごとにrevisionを増やします。根拠は判断モデルと保存処理、成果物の説明です。</a:t>
            </a:r>
          </a:p>
          <a:p xmlns:a="http://schemas.openxmlformats.org/drawingml/2006/main">
            <a:r>
              <a:t/>
            </a:r>
          </a:p>
          <a:p xmlns:a="http://schemas.openxmlformats.org/drawingml/2006/main">
            <a:r>
              <a:t>参照元（基準 commit 3567883d）</a:t>
            </a:r>
          </a:p>
          <a:p xmlns:a="http://schemas.openxmlformats.org/drawingml/2006/main">
            <a:r>
              <a:t>extensions/bob-code-consistency-review/README.md:174</a:t>
            </a:r>
          </a:p>
          <a:p xmlns:a="http://schemas.openxmlformats.org/drawingml/2006/main">
            <a:r>
              <a:t>https://github.com/katamor1/bob_builtin_analyze/blob/3567883d/extensions/bob-code-consistency-review/README.md#L174</a:t>
            </a:r>
          </a:p>
          <a:p xmlns:a="http://schemas.openxmlformats.org/drawingml/2006/main">
            <a:r>
              <a:t/>
            </a:r>
          </a:p>
          <a:p xmlns:a="http://schemas.openxmlformats.org/drawingml/2006/main">
            <a:r>
              <a:t>extensions/bob-code-consistency-review/src/triage/triageDecisions.ts:10</a:t>
            </a:r>
          </a:p>
          <a:p xmlns:a="http://schemas.openxmlformats.org/drawingml/2006/main">
            <a:r>
              <a:t>https://github.com/katamor1/bob_builtin_analyze/blob/3567883d/extensions/bob-code-consistency-review/src/triage/triageDecisions.ts#L10</a:t>
            </a:r>
          </a:p>
          <a:p xmlns:a="http://schemas.openxmlformats.org/drawingml/2006/main">
            <a:r>
              <a:t/>
            </a:r>
          </a:p>
          <a:p xmlns:a="http://schemas.openxmlformats.org/drawingml/2006/main">
            <a:r>
              <a:t>extensions/bob-code-consistency-review/src/triage/triageDecisions.ts:67</a:t>
            </a:r>
          </a:p>
          <a:p xmlns:a="http://schemas.openxmlformats.org/drawingml/2006/main">
            <a:r>
              <a:t>https://github.com/katamor1/bob_builtin_analyze/blob/3567883d/extensions/bob-code-consistency-review/src/triage/triageDecisions.ts#L67</a:t>
            </a:r>
          </a:p>
          <a:p xmlns:a="http://schemas.openxmlformats.org/drawingml/2006/main">
            <a:r>
              <a:t/>
            </a:r>
          </a:p>
          <a:p xmlns:a="http://schemas.openxmlformats.org/drawingml/2006/main">
            <a:r>
              <a:t>extensions/bob-code-consistency-review/src/triage/triageDecisions.ts:160</a:t>
            </a:r>
          </a:p>
          <a:p xmlns:a="http://schemas.openxmlformats.org/drawingml/2006/main">
            <a:r>
              <a:t>https://github.com/katamor1/bob_builtin_analyze/blob/3567883d/extensions/bob-code-consistency-review/src/triage/triageDecisions.ts#L160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具体例：タイムアウト時の戻り値</a:t>
            </a:r>
          </a:p>
          <a:p xmlns:a="http://schemas.openxmlformats.org/drawingml/2006/main">
            <a:r>
              <a:t/>
            </a:r>
          </a:p>
          <a:p xmlns:a="http://schemas.openxmlformats.org/drawingml/2006/main">
            <a:r>
              <a:t>既存のsimple-timeout-bugfixサンプルを使った説明例です。要求REQ-123はtimeout時に正常終了せずERR_TIMEOUTを返すと定め、詳細設計DD-88もカウンタ加算と異常終了を指定しています。ところがfoo_timeout_after_buggy.cのtimeout分岐はカウンタを増やした後、ERR_OKを返します。テスト仕様TC-789の期待値もERR_TIMEOUTなので、要求・設計・テストから同じ食い違いを説明できます。Bobには不整合やテストへの影響の候補と、正常扱いに変える仕様変更があるかの質問を期待します。これはfixtureに基づく例で、今回AIレビューやテストを実行した結果ではありません。根拠は各サンプルファイルの該当行です。</a:t>
            </a:r>
          </a:p>
          <a:p xmlns:a="http://schemas.openxmlformats.org/drawingml/2006/main">
            <a:r>
              <a:t/>
            </a:r>
          </a:p>
          <a:p xmlns:a="http://schemas.openxmlformats.org/drawingml/2006/main">
            <a:r>
              <a:t>参照元（基準 commit 3567883d）</a:t>
            </a:r>
          </a:p>
          <a:p xmlns:a="http://schemas.openxmlformats.org/drawingml/2006/main">
            <a:r>
              <a:t>docs/workflows/code-consistency-review/examples/simple-timeout-bugfix/docs/requirements-timeout.md:7</a:t>
            </a:r>
          </a:p>
          <a:p xmlns:a="http://schemas.openxmlformats.org/drawingml/2006/main">
            <a:r>
              <a:t>https://github.com/katamor1/bob_builtin_analyze/blob/3567883d/docs/workflows/code-consistency-review/examples/simple-timeout-bugfix/docs/requirements-timeout.md#L7</a:t>
            </a:r>
          </a:p>
          <a:p xmlns:a="http://schemas.openxmlformats.org/drawingml/2006/main">
            <a:r>
              <a:t/>
            </a:r>
          </a:p>
          <a:p xmlns:a="http://schemas.openxmlformats.org/drawingml/2006/main">
            <a:r>
              <a:t>docs/workflows/code-consistency-review/examples/simple-timeout-bugfix/docs/detailed-design-timeout.md:11</a:t>
            </a:r>
          </a:p>
          <a:p xmlns:a="http://schemas.openxmlformats.org/drawingml/2006/main">
            <a:r>
              <a:t>https://github.com/katamor1/bob_builtin_analyze/blob/3567883d/docs/workflows/code-consistency-review/examples/simple-timeout-bugfix/docs/detailed-design-timeout.md#L11</a:t>
            </a:r>
          </a:p>
          <a:p xmlns:a="http://schemas.openxmlformats.org/drawingml/2006/main">
            <a:r>
              <a:t/>
            </a:r>
          </a:p>
          <a:p xmlns:a="http://schemas.openxmlformats.org/drawingml/2006/main">
            <a:r>
              <a:t>docs/workflows/code-consistency-review/examples/simple-timeout-bugfix/code/foo_timeout_after_buggy.c:8</a:t>
            </a:r>
          </a:p>
          <a:p xmlns:a="http://schemas.openxmlformats.org/drawingml/2006/main">
            <a:r>
              <a:t>https://github.com/katamor1/bob_builtin_analyze/blob/3567883d/docs/workflows/code-consistency-review/examples/simple-timeout-bugfix/code/foo_timeout_after_buggy.c#L8</a:t>
            </a:r>
          </a:p>
          <a:p xmlns:a="http://schemas.openxmlformats.org/drawingml/2006/main">
            <a:r>
              <a:t/>
            </a:r>
          </a:p>
          <a:p xmlns:a="http://schemas.openxmlformats.org/drawingml/2006/main">
            <a:r>
              <a:t>docs/workflows/code-consistency-review/examples/simple-timeout-bugfix/docs/test-spec-timeout.md:7</a:t>
            </a:r>
          </a:p>
          <a:p xmlns:a="http://schemas.openxmlformats.org/drawingml/2006/main">
            <a:r>
              <a:t>https://github.com/katamor1/bob_builtin_analyze/blob/3567883d/docs/workflows/code-consistency-review/examples/simple-timeout-bugfix/docs/test-spec-timeout.md#L7</a:t>
            </a:r>
          </a:p>
          <a:p xmlns:a="http://schemas.openxmlformats.org/drawingml/2006/main">
            <a:r>
              <a:t/>
            </a:r>
          </a:p>
          <a:p xmlns:a="http://schemas.openxmlformats.org/drawingml/2006/main">
            <a:r>
              <a:t>docs/workflows/code-consistency-review/examples/simple-timeout-bugfix/README.md:27</a:t>
            </a:r>
          </a:p>
          <a:p xmlns:a="http://schemas.openxmlformats.org/drawingml/2006/main">
            <a:r>
              <a:t>https://github.com/katamor1/bob_builtin_analyze/blob/3567883d/docs/workflows/code-consistency-review/examples/simple-timeout-bugfix/README.md#L27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コード事前チェックの一連の実行例</a:t>
            </a:r>
          </a:p>
          <a:p xmlns:a="http://schemas.openxmlformats.org/drawingml/2006/main">
            <a:r>
              <a:t/>
            </a:r>
          </a:p>
          <a:p xmlns:a="http://schemas.openxmlformats.org/drawingml/2006/main">
            <a:r>
              <a:t>この例は.bob/workflows/process-code-precheck/WORKFLOW.mdに基づきます。catalog/input検証、evidence収集、bobCodeConsistency.preprocess、agent実行、結果保存、validateOutput、triage、工程レビュー結果への変換・検証、human gate、process record、campaign summaryという流れです。人間承認が記録への分岐条件です。Bazaarレビューを必須の前段とする定義ではなく、3拡張すべてを必ず直列接続するという意味ではありません。</a:t>
            </a:r>
          </a:p>
          <a:p xmlns:a="http://schemas.openxmlformats.org/drawingml/2006/main">
            <a:r>
              <a:t/>
            </a:r>
          </a:p>
          <a:p xmlns:a="http://schemas.openxmlformats.org/drawingml/2006/main">
            <a:r>
              <a:t>参照元（基準 commit 3567883d）</a:t>
            </a:r>
          </a:p>
          <a:p xmlns:a="http://schemas.openxmlformats.org/drawingml/2006/main">
            <a:r>
              <a:t>.bob/workflows/process-code-precheck/WORKFLOW.md:43</a:t>
            </a:r>
          </a:p>
          <a:p xmlns:a="http://schemas.openxmlformats.org/drawingml/2006/main">
            <a:r>
              <a:t>https://github.com/katamor1/bob_builtin_analyze/blob/3567883d/.bob/workflows/process-code-precheck/WORKFLOW.md#L43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拡張間APIと機能追加の仕組み</a:t>
            </a:r>
          </a:p>
          <a:p xmlns:a="http://schemas.openxmlformats.org/drawingml/2006/main">
            <a:r>
              <a:t/>
            </a:r>
          </a:p>
          <a:p xmlns:a="http://schemas.openxmlformats.org/drawingml/2006/main">
            <a:r>
              <a:t>WorkflowRegisterApiはactivateから返される公開APIです。provider ID、command ID、sink type、artifact schemaは連携の互換性境界です。Bazaarはworkflow-registerの存在を確認し、利用可能な場合にreviewやrule-authoring用providerを登録します。Code Consistencyもpreprocess、validateOutput、triageなどのdomain serviceをproviderとして接続します。機能追加では既存の公開入口や保存契約を維持し、利用者向け操作と内部の呼び出し口を区別します。</a:t>
            </a:r>
          </a:p>
          <a:p xmlns:a="http://schemas.openxmlformats.org/drawingml/2006/main">
            <a:r>
              <a:t/>
            </a:r>
          </a:p>
          <a:p xmlns:a="http://schemas.openxmlformats.org/drawingml/2006/main">
            <a:r>
              <a:t>参照元（基準 commit 3567883d）</a:t>
            </a:r>
          </a:p>
          <a:p xmlns:a="http://schemas.openxmlformats.org/drawingml/2006/main">
            <a:r>
              <a:t>extensions/workflow-register/src/extension.ts:16</a:t>
            </a:r>
          </a:p>
          <a:p xmlns:a="http://schemas.openxmlformats.org/drawingml/2006/main">
            <a:r>
              <a:t>https://github.com/katamor1/bob_builtin_analyze/blob/3567883d/extensions/workflow-register/src/extension.ts#L16</a:t>
            </a:r>
          </a:p>
          <a:p xmlns:a="http://schemas.openxmlformats.org/drawingml/2006/main">
            <a:r>
              <a:t/>
            </a:r>
          </a:p>
          <a:p xmlns:a="http://schemas.openxmlformats.org/drawingml/2006/main">
            <a:r>
              <a:t>extensions/bob-bazaar-review/src/workflow/workflowProviders.ts:36</a:t>
            </a:r>
          </a:p>
          <a:p xmlns:a="http://schemas.openxmlformats.org/drawingml/2006/main">
            <a:r>
              <a:t>https://github.com/katamor1/bob_builtin_analyze/blob/3567883d/extensions/bob-bazaar-review/src/workflow/workflowProviders.ts#L36</a:t>
            </a:r>
          </a:p>
          <a:p xmlns:a="http://schemas.openxmlformats.org/drawingml/2006/main">
            <a:r>
              <a:t/>
            </a:r>
          </a:p>
          <a:p xmlns:a="http://schemas.openxmlformats.org/drawingml/2006/main">
            <a:r>
              <a:t>extensions/bob-code-consistency-review/src/workflowProviderRegistration.ts:30</a:t>
            </a:r>
          </a:p>
          <a:p xmlns:a="http://schemas.openxmlformats.org/drawingml/2006/main">
            <a:r>
              <a:t>https://github.com/katamor1/bob_builtin_analyze/blob/3567883d/extensions/bob-code-consistency-review/src/workflowProviderRegistration.ts#L30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対応形式・依存ツール・解析の限界</a:t>
            </a:r>
          </a:p>
          <a:p xmlns:a="http://schemas.openxmlformats.org/drawingml/2006/main">
            <a:r>
              <a:t/>
            </a:r>
          </a:p>
          <a:p xmlns:a="http://schemas.openxmlformats.org/drawingml/2006/main">
            <a:r>
              <a:t>対応形式は拡張間で同一ではありません。Bazaarの資料からの規約作成はdocument extractorに従い、PDFではpdftotextの導入と抽出できる文字が必要です。整合プレレビューの現行文書抽出はMarkdown、DOCX、XLSXで、PDFや旧Office形式を同じように扱うわけではありません。C/C++は候補抽出であり完全なAST/意味解析ではありません。他言語も同一の解析精度を保証しません。資料量や実行時間の制限は設定と処理ごとに異なります。</a:t>
            </a:r>
          </a:p>
          <a:p xmlns:a="http://schemas.openxmlformats.org/drawingml/2006/main">
            <a:r>
              <a:t/>
            </a:r>
          </a:p>
          <a:p xmlns:a="http://schemas.openxmlformats.org/drawingml/2006/main">
            <a:r>
              <a:t>参照元（基準 commit 3567883d）</a:t>
            </a:r>
          </a:p>
          <a:p xmlns:a="http://schemas.openxmlformats.org/drawingml/2006/main">
            <a:r>
              <a:t>extensions/workflow-register/README.md:18</a:t>
            </a:r>
          </a:p>
          <a:p xmlns:a="http://schemas.openxmlformats.org/drawingml/2006/main">
            <a:r>
              <a:t>https://github.com/katamor1/bob_builtin_analyze/blob/3567883d/extensions/workflow-register/README.md#L18</a:t>
            </a:r>
          </a:p>
          <a:p xmlns:a="http://schemas.openxmlformats.org/drawingml/2006/main">
            <a:r>
              <a:t/>
            </a:r>
          </a:p>
          <a:p xmlns:a="http://schemas.openxmlformats.org/drawingml/2006/main">
            <a:r>
              <a:t>extensions/bob-bazaar-review/README.md:7</a:t>
            </a:r>
          </a:p>
          <a:p xmlns:a="http://schemas.openxmlformats.org/drawingml/2006/main">
            <a:r>
              <a:t>https://github.com/katamor1/bob_builtin_analyze/blob/3567883d/extensions/bob-bazaar-review/README.md#L7</a:t>
            </a:r>
          </a:p>
          <a:p xmlns:a="http://schemas.openxmlformats.org/drawingml/2006/main">
            <a:r>
              <a:t/>
            </a:r>
          </a:p>
          <a:p xmlns:a="http://schemas.openxmlformats.org/drawingml/2006/main">
            <a:r>
              <a:t>extensions/bob-code-consistency-review/src/analyzers/documentExtractor.ts:132</a:t>
            </a:r>
          </a:p>
          <a:p xmlns:a="http://schemas.openxmlformats.org/drawingml/2006/main">
            <a:r>
              <a:t>https://github.com/katamor1/bob_builtin_analyze/blob/3567883d/extensions/bob-code-consistency-review/src/analyzers/documentExtractor.ts#L132</a:t>
            </a:r>
          </a:p>
          <a:p xmlns:a="http://schemas.openxmlformats.org/drawingml/2006/main">
            <a:r>
              <a:t/>
            </a:r>
          </a:p>
          <a:p xmlns:a="http://schemas.openxmlformats.org/drawingml/2006/main">
            <a:r>
              <a:t>extensions/bob-code-consistency-review/src/analyzers/cCppSymbolDetector.ts:5</a:t>
            </a:r>
          </a:p>
          <a:p xmlns:a="http://schemas.openxmlformats.org/drawingml/2006/main">
            <a:r>
              <a:t>https://github.com/katamor1/bob_builtin_analyze/blob/3567883d/extensions/bob-code-consistency-review/src/analyzers/cCppSymbolDetector.ts#L5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導入と初回利用の手順</a:t>
            </a:r>
          </a:p>
          <a:p xmlns:a="http://schemas.openxmlformats.org/drawingml/2006/main">
            <a:r>
              <a:t/>
            </a:r>
          </a:p>
          <a:p xmlns:a="http://schemas.openxmlformats.org/drawingml/2006/main">
            <a:r>
              <a:t>3拡張はローカルVS Code拡張で、配布されたVSIXまたは各拡張のbuild/package手順を使います。Bazaar操作にはBazaar CLI、Git差分にはGitが必要です。Bob UIやBobのagent実行を使う場合はIBM.bob-codeを準備します。workspace root、必要な定義や規約、review-input.yamlなどを確認してから公開GUIへ進みます。レビュー資料にはプロジェクトのコードや文書を含むため、利用環境の情報取り扱いに沿ってAIへ渡します。導入後はサンプルで保存結果と人間判断の経路を確かめます。</a:t>
            </a:r>
          </a:p>
          <a:p xmlns:a="http://schemas.openxmlformats.org/drawingml/2006/main">
            <a:r>
              <a:t/>
            </a:r>
          </a:p>
          <a:p xmlns:a="http://schemas.openxmlformats.org/drawingml/2006/main">
            <a:r>
              <a:t>参照元（基準 commit 3567883d）</a:t>
            </a:r>
          </a:p>
          <a:p xmlns:a="http://schemas.openxmlformats.org/drawingml/2006/main">
            <a:r>
              <a:t>extensions/README.md:34</a:t>
            </a:r>
          </a:p>
          <a:p xmlns:a="http://schemas.openxmlformats.org/drawingml/2006/main">
            <a:r>
              <a:t>https://github.com/katamor1/bob_builtin_analyze/blob/3567883d/extensions/README.md#L34</a:t>
            </a:r>
          </a:p>
          <a:p xmlns:a="http://schemas.openxmlformats.org/drawingml/2006/main">
            <a:r>
              <a:t/>
            </a:r>
          </a:p>
          <a:p xmlns:a="http://schemas.openxmlformats.org/drawingml/2006/main">
            <a:r>
              <a:t>extensions/README.md:51</a:t>
            </a:r>
          </a:p>
          <a:p xmlns:a="http://schemas.openxmlformats.org/drawingml/2006/main">
            <a:r>
              <a:t>https://github.com/katamor1/bob_builtin_analyze/blob/3567883d/extensions/README.md#L51</a:t>
            </a:r>
          </a:p>
          <a:p xmlns:a="http://schemas.openxmlformats.org/drawingml/2006/main">
            <a:r>
              <a:t/>
            </a:r>
          </a:p>
          <a:p xmlns:a="http://schemas.openxmlformats.org/drawingml/2006/main">
            <a:r>
              <a:t>extensions/workflow-register/README.md:300</a:t>
            </a:r>
          </a:p>
          <a:p xmlns:a="http://schemas.openxmlformats.org/drawingml/2006/main">
            <a:r>
              <a:t>https://github.com/katamor1/bob_builtin_analyze/blob/3567883d/extensions/workflow-register/README.md#L300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用途別の機能選択と参照資料</a:t>
            </a:r>
          </a:p>
          <a:p xmlns:a="http://schemas.openxmlformats.org/drawingml/2006/main">
            <a:r>
              <a:t/>
            </a:r>
          </a:p>
          <a:p xmlns:a="http://schemas.openxmlformats.org/drawingml/2006/main">
            <a:r>
              <a:t>参照先はいずれもrepository内です。extensions/README.mdが全体の入口で、extensions/workflow-register/README.md、extensions/bob-bazaar-review/README.md、extensions/bob-code-consistency-review/README.mdが各拡張の現行操作と設定を説明します。docs/workflows/code-consistency-review/README.mdには整合プレレビューの資料と例があります。docs/workflow-authoring-guide-ja.mdにはワークフロー作成の説明があります。資料の基準はcommit 3567883dで、将来の仕様や未統合ブランチは含めていません。</a:t>
            </a:r>
          </a:p>
          <a:p xmlns:a="http://schemas.openxmlformats.org/drawingml/2006/main">
            <a:r>
              <a:t/>
            </a:r>
          </a:p>
          <a:p xmlns:a="http://schemas.openxmlformats.org/drawingml/2006/main">
            <a:r>
              <a:t>参照元（基準 commit 3567883d）</a:t>
            </a:r>
          </a:p>
          <a:p xmlns:a="http://schemas.openxmlformats.org/drawingml/2006/main">
            <a:r>
              <a:t>extensions/README.md:43</a:t>
            </a:r>
          </a:p>
          <a:p xmlns:a="http://schemas.openxmlformats.org/drawingml/2006/main">
            <a:r>
              <a:t>https://github.com/katamor1/bob_builtin_analyze/blob/3567883d/extensions/README.md#L43</a:t>
            </a:r>
          </a:p>
          <a:p xmlns:a="http://schemas.openxmlformats.org/drawingml/2006/main">
            <a:r>
              <a:t/>
            </a:r>
          </a:p>
          <a:p xmlns:a="http://schemas.openxmlformats.org/drawingml/2006/main">
            <a:r>
              <a:t>docs/workflows/code-consistency-review/README.md:1</a:t>
            </a:r>
          </a:p>
          <a:p xmlns:a="http://schemas.openxmlformats.org/drawingml/2006/main">
            <a:r>
              <a:t>https://github.com/katamor1/bob_builtin_analyze/blob/3567883d/docs/workflows/code-consistency-review/README.md#L1</a:t>
            </a:r>
          </a:p>
          <a:p xmlns:a="http://schemas.openxmlformats.org/drawingml/2006/main">
            <a:r>
              <a:t/>
            </a:r>
          </a:p>
          <a:p xmlns:a="http://schemas.openxmlformats.org/drawingml/2006/main">
            <a:r>
              <a:t>docs/workflow-authoring-guide-ja.md:1</a:t>
            </a:r>
          </a:p>
          <a:p xmlns:a="http://schemas.openxmlformats.org/drawingml/2006/main">
            <a:r>
              <a:t>https://github.com/katamor1/bob_builtin_analyze/blob/3567883d/docs/workflow-authoring-guide-ja.md#L1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6c938608644c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14310402c04b85" /><Relationship Type="http://schemas.openxmlformats.org/officeDocument/2006/relationships/slideLayout" Target="/ppt/slideLayouts/slideLayout1.xml" Id="R48339eb7988f45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339eb7988f45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9dab270d1a4c8c" /><Relationship Type="http://schemas.openxmlformats.org/officeDocument/2006/relationships/notesSlide" Target="/ppt/notesSlides/notesSlide1.xml" Id="R32130e5a151245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c0e2cd2dac84c46" /><Relationship Type="http://schemas.openxmlformats.org/officeDocument/2006/relationships/notesSlide" Target="/ppt/notesSlides/notesSlide2.xml" Id="Radb253b5a3934c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093b607135f4019" /><Relationship Type="http://schemas.openxmlformats.org/officeDocument/2006/relationships/notesSlide" Target="/ppt/notesSlides/notesSlide3.xml" Id="R17123aaf51a14c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9200e1560d4492" /><Relationship Type="http://schemas.openxmlformats.org/officeDocument/2006/relationships/notesSlide" Target="/ppt/notesSlides/notesSlide4.xml" Id="R1d2cd937c01049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addd29d48864a73" /><Relationship Type="http://schemas.openxmlformats.org/officeDocument/2006/relationships/notesSlide" Target="/ppt/notesSlides/notesSlide5.xml" Id="R70333b72ed3e41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2895a97cb2466e" /><Relationship Type="http://schemas.openxmlformats.org/officeDocument/2006/relationships/notesSlide" Target="/ppt/notesSlides/notesSlide6.xml" Id="Rccbfd2b2fdd44b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4f4c6f377a4bce" /><Relationship Type="http://schemas.openxmlformats.org/officeDocument/2006/relationships/notesSlide" Target="/ppt/notesSlides/notesSlide7.xml" Id="Rc06b9316917a4e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8461027f5d54e63" /><Relationship Type="http://schemas.openxmlformats.org/officeDocument/2006/relationships/notesSlide" Target="/ppt/notesSlides/notesSlide8.xml" Id="R44e284a5d03d41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c2c9dfb21f94799" /><Relationship Type="http://schemas.openxmlformats.org/officeDocument/2006/relationships/notesSlide" Target="/ppt/notesSlides/notesSlide9.xml" Id="Rd3d3960a548240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d916a13711b4710" /><Relationship Type="http://schemas.openxmlformats.org/officeDocument/2006/relationships/notesSlide" Target="/ppt/notesSlides/notesSlide10.xml" Id="Rbe4f031d23e24a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82412de3f154873" /><Relationship Type="http://schemas.openxmlformats.org/officeDocument/2006/relationships/notesSlide" Target="/ppt/notesSlides/notesSlide11.xml" Id="Rd7386322b88f456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794e41071164133" /><Relationship Type="http://schemas.openxmlformats.org/officeDocument/2006/relationships/notesSlide" Target="/ppt/notesSlides/notesSlide12.xml" Id="Re93c9d38ed514f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96630e3764f48b3" /><Relationship Type="http://schemas.openxmlformats.org/officeDocument/2006/relationships/notesSlide" Target="/ppt/notesSlides/notesSlide13.xml" Id="Rf7d266f52f7842b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7d66751317d4ebf" /><Relationship Type="http://schemas.openxmlformats.org/officeDocument/2006/relationships/notesSlide" Target="/ppt/notesSlides/notesSlide14.xml" Id="R891b2677690046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f6d6dcca41f4eef" /><Relationship Type="http://schemas.openxmlformats.org/officeDocument/2006/relationships/notesSlide" Target="/ppt/notesSlides/notesSlide15.xml" Id="R8bb49255a88d4e9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89b604c5f9148dd" /><Relationship Type="http://schemas.openxmlformats.org/officeDocument/2006/relationships/notesSlide" Target="/ppt/notesSlides/notesSlide16.xml" Id="R21c984368fed427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512f17d7aca41d0" /><Relationship Type="http://schemas.openxmlformats.org/officeDocument/2006/relationships/notesSlide" Target="/ppt/notesSlides/notesSlide17.xml" Id="R8adc7888bc364bd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9eaca82365b4fb8" /><Relationship Type="http://schemas.openxmlformats.org/officeDocument/2006/relationships/notesSlide" Target="/ppt/notesSlides/notesSlide18.xml" Id="R20f833f9768949f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072996be7c6486b" /><Relationship Type="http://schemas.openxmlformats.org/officeDocument/2006/relationships/notesSlide" Target="/ppt/notesSlides/notesSlide19.xml" Id="R86963c0d9b6b4ea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51bcb801da44e06" /><Relationship Type="http://schemas.openxmlformats.org/officeDocument/2006/relationships/notesSlide" Target="/ppt/notesSlides/notesSlide20.xml" Id="R078052f7c55e4c7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b8bb063ead44207" /><Relationship Type="http://schemas.openxmlformats.org/officeDocument/2006/relationships/notesSlide" Target="/ppt/notesSlides/notesSlide21.xml" Id="R17058c8609c84df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2407d09108544d7" /><Relationship Type="http://schemas.openxmlformats.org/officeDocument/2006/relationships/notesSlide" Target="/ppt/notesSlides/notesSlide22.xml" Id="Rda9288dae3eb433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748ab6e899f4369" /><Relationship Type="http://schemas.openxmlformats.org/officeDocument/2006/relationships/notesSlide" Target="/ppt/notesSlides/notesSlide23.xml" Id="Rb1f9e12e0363402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dd2ff25a44d4efc" /><Relationship Type="http://schemas.openxmlformats.org/officeDocument/2006/relationships/notesSlide" Target="/ppt/notesSlides/notesSlide24.xml" Id="R2ef7bc1fe663467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8876174b82b4c0c" /><Relationship Type="http://schemas.openxmlformats.org/officeDocument/2006/relationships/notesSlide" Target="/ppt/notesSlides/notesSlide25.xml" Id="Rbedc20d4047e4ed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9dfe5e2abe74990" /><Relationship Type="http://schemas.openxmlformats.org/officeDocument/2006/relationships/notesSlide" Target="/ppt/notesSlides/notesSlide26.xml" Id="R647e140bb3bd432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372d416b5af418e" /><Relationship Type="http://schemas.openxmlformats.org/officeDocument/2006/relationships/notesSlide" Target="/ppt/notesSlides/notesSlide27.xml" Id="R9253339558f3414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b6349c81202431d" /><Relationship Type="http://schemas.openxmlformats.org/officeDocument/2006/relationships/notesSlide" Target="/ppt/notesSlides/notesSlide28.xml" Id="R3fbb6e8a1f354d1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110fb80d3a94744" /><Relationship Type="http://schemas.openxmlformats.org/officeDocument/2006/relationships/notesSlide" Target="/ppt/notesSlides/notesSlide29.xml" Id="R2f43080596bc4f9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afe676eab254d9b" /><Relationship Type="http://schemas.openxmlformats.org/officeDocument/2006/relationships/notesSlide" Target="/ppt/notesSlides/notesSlide30.xml" Id="R3bb5b35bcf2648c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6ba7abbf2894228" /><Relationship Type="http://schemas.openxmlformats.org/officeDocument/2006/relationships/notesSlide" Target="/ppt/notesSlides/notesSlide31.xml" Id="R34d0347ea8144ea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1b68cab1c8c4d3c" /><Relationship Type="http://schemas.openxmlformats.org/officeDocument/2006/relationships/notesSlide" Target="/ppt/notesSlides/notesSlide32.xml" Id="R9c6bcdad51144e0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77770f7e2034e72" /><Relationship Type="http://schemas.openxmlformats.org/officeDocument/2006/relationships/notesSlide" Target="/ppt/notesSlides/notesSlide33.xml" Id="Rc388b95c5f054c4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1f5b77987b1480e" /><Relationship Type="http://schemas.openxmlformats.org/officeDocument/2006/relationships/notesSlide" Target="/ppt/notesSlides/notesSlide34.xml" Id="R15fd822c2eca463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1cd7abdb22f428c" /><Relationship Type="http://schemas.openxmlformats.org/officeDocument/2006/relationships/notesSlide" Target="/ppt/notesSlides/notesSlide35.xml" Id="R0d91972f9bec465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6950e8846dc4c15" /><Relationship Type="http://schemas.openxmlformats.org/officeDocument/2006/relationships/notesSlide" Target="/ppt/notesSlides/notesSlide36.xml" Id="R860086cbe05a431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c8a1e6661064cff" /><Relationship Type="http://schemas.openxmlformats.org/officeDocument/2006/relationships/notesSlide" Target="/ppt/notesSlides/notesSlide37.xml" Id="R5d4fdd3c9a4f43e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d4a97b74ff142bd" /><Relationship Type="http://schemas.openxmlformats.org/officeDocument/2006/relationships/notesSlide" Target="/ppt/notesSlides/notesSlide38.xml" Id="R064074be974b41b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3A2B3EC4-9588-429F-B3E5-7123EC00AD2A}"/>
              </a:ext>
            </a:extLst>
          </p:cNvPr>
          <p:cNvSpPr>
            <a:spLocks xmlns:a="http://schemas.openxmlformats.org/drawingml/2006/main" noGrp="1"/>
          </p:cNvSpPr>
          <p:nvPr/>
        </p:nvSpPr>
        <p:spPr>
          <a:xfrm xmlns:a="http://schemas.openxmlformats.org/drawingml/2006/main">
            <a:off x="685800" y="609600"/>
            <a:ext cx="9525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4"/>
                </a:solidFill>
                <a:latin typeface="Meiryo"/>
                <a:ea typeface="Meiryo"/>
                <a:cs typeface="Meiryo"/>
              </a:defRPr>
            </a:pPr>
            <a:r>
              <a:rPr sz="1950" b="0">
                <a:solidFill>
                  <a:srgbClr val="526574"/>
                </a:solidFill>
                <a:latin typeface="Meiryo"/>
                <a:ea typeface="Meiryo"/>
                <a:cs typeface="Meiryo"/>
              </a:rPr>
              <a:t>IBM Bob / VS Code</a:t>
            </a:r>
          </a:p>
        </p:txBody>
      </p:sp>
      <p:sp>
        <p:nvSpPr>
          <p:cNvPr id="2" name="text-2">
            <a:extLst xmlns:a="http://schemas.openxmlformats.org/drawingml/2006/main">
              <a:ext uri="{FF2B5EF4-FFF2-40B4-BE49-F238E27FC236}">
                <a16:creationId xmlns:a16="http://schemas.microsoft.com/office/drawing/2014/main" id="{724329F7-6413-4C7C-9DDD-EAB1436C771D}"/>
              </a:ext>
            </a:extLst>
          </p:cNvPr>
          <p:cNvSpPr>
            <a:spLocks xmlns:a="http://schemas.openxmlformats.org/drawingml/2006/main" noGrp="1"/>
          </p:cNvSpPr>
          <p:nvPr/>
        </p:nvSpPr>
        <p:spPr>
          <a:xfrm xmlns:a="http://schemas.openxmlformats.org/drawingml/2006/main">
            <a:off x="685800" y="180975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75" b="1">
                <a:solidFill>
                  <a:srgbClr val="172A3A"/>
                </a:solidFill>
                <a:latin typeface="Meiryo"/>
                <a:ea typeface="Meiryo"/>
                <a:cs typeface="Meiryo"/>
              </a:defRPr>
            </a:pPr>
            <a:r>
              <a:rPr sz="4875" b="1">
                <a:solidFill>
                  <a:srgbClr val="172A3A"/>
                </a:solidFill>
                <a:latin typeface="Meiryo"/>
                <a:ea typeface="Meiryo"/>
                <a:cs typeface="Meiryo"/>
              </a:rPr>
              <a:t>Bob 3拡張機能</a:t>
            </a:r>
          </a:p>
        </p:txBody>
      </p:sp>
      <p:sp>
        <p:nvSpPr>
          <p:cNvPr id="3" name="text-3">
            <a:extLst xmlns:a="http://schemas.openxmlformats.org/drawingml/2006/main">
              <a:ext uri="{FF2B5EF4-FFF2-40B4-BE49-F238E27FC236}">
                <a16:creationId xmlns:a16="http://schemas.microsoft.com/office/drawing/2014/main" id="{0DF80F18-36E2-4734-9B15-F1ECCFE88F52}"/>
              </a:ext>
            </a:extLst>
          </p:cNvPr>
          <p:cNvSpPr>
            <a:spLocks xmlns:a="http://schemas.openxmlformats.org/drawingml/2006/main" noGrp="1"/>
          </p:cNvSpPr>
          <p:nvPr/>
        </p:nvSpPr>
        <p:spPr>
          <a:xfrm xmlns:a="http://schemas.openxmlformats.org/drawingml/2006/main">
            <a:off x="685800" y="3028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72A3A"/>
                </a:solidFill>
                <a:latin typeface="Meiryo"/>
                <a:ea typeface="Meiryo"/>
                <a:cs typeface="Meiryo"/>
              </a:defRPr>
            </a:pPr>
            <a:r>
              <a:rPr sz="2850" b="0">
                <a:solidFill>
                  <a:srgbClr val="172A3A"/>
                </a:solidFill>
                <a:latin typeface="Meiryo"/>
                <a:ea typeface="Meiryo"/>
                <a:cs typeface="Meiryo"/>
              </a:rPr>
              <a:t>構成・実現のしくみ・活用</a:t>
            </a:r>
          </a:p>
        </p:txBody>
      </p:sp>
      <p:sp>
        <p:nvSpPr>
          <p:cNvPr id="4" name="text-4">
            <a:extLst xmlns:a="http://schemas.openxmlformats.org/drawingml/2006/main">
              <a:ext uri="{FF2B5EF4-FFF2-40B4-BE49-F238E27FC236}">
                <a16:creationId xmlns:a16="http://schemas.microsoft.com/office/drawing/2014/main" id="{240AB7F8-0165-4DDC-8FC0-6F469E04271E}"/>
              </a:ext>
            </a:extLst>
          </p:cNvPr>
          <p:cNvSpPr>
            <a:spLocks xmlns:a="http://schemas.openxmlformats.org/drawingml/2006/main" noGrp="1"/>
          </p:cNvSpPr>
          <p:nvPr/>
        </p:nvSpPr>
        <p:spPr>
          <a:xfrm xmlns:a="http://schemas.openxmlformats.org/drawingml/2006/main">
            <a:off x="685800" y="396240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574"/>
                </a:solidFill>
                <a:latin typeface="Meiryo"/>
                <a:ea typeface="Meiryo"/>
                <a:cs typeface="Meiryo"/>
              </a:defRPr>
            </a:pPr>
            <a:r>
              <a:rPr sz="1950" b="0">
                <a:solidFill>
                  <a:srgbClr val="526574"/>
                </a:solidFill>
                <a:latin typeface="Meiryo"/>
                <a:ea typeface="Meiryo"/>
                <a:cs typeface="Meiryo"/>
              </a:rPr>
              <a:t>利用者と開発者のための機能ガイド</a:t>
            </a:r>
          </a:p>
        </p:txBody>
      </p:sp>
      <p:sp>
        <p:nvSpPr>
          <p:cNvPr id="5" name="text-5">
            <a:extLst xmlns:a="http://schemas.openxmlformats.org/drawingml/2006/main">
              <a:ext uri="{FF2B5EF4-FFF2-40B4-BE49-F238E27FC236}">
                <a16:creationId xmlns:a16="http://schemas.microsoft.com/office/drawing/2014/main" id="{082B7633-8439-4F41-8404-D3EC6D35DF22}"/>
              </a:ext>
            </a:extLst>
          </p:cNvPr>
          <p:cNvSpPr>
            <a:spLocks xmlns:a="http://schemas.openxmlformats.org/drawingml/2006/main" noGrp="1"/>
          </p:cNvSpPr>
          <p:nvPr/>
        </p:nvSpPr>
        <p:spPr>
          <a:xfrm xmlns:a="http://schemas.openxmlformats.org/drawingml/2006/main">
            <a:off x="685800" y="507682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264A8"/>
                </a:solidFill>
                <a:latin typeface="Meiryo"/>
                <a:ea typeface="Meiryo"/>
                <a:cs typeface="Meiryo"/>
              </a:defRPr>
            </a:pPr>
            <a:r>
              <a:rPr sz="2025" b="1">
                <a:solidFill>
                  <a:srgbClr val="2264A8"/>
                </a:solidFill>
                <a:latin typeface="Meiryo"/>
                <a:ea typeface="Meiryo"/>
                <a:cs typeface="Meiryo"/>
              </a:rPr>
              <a:t>ワークフロー管理</a:t>
            </a:r>
          </a:p>
        </p:txBody>
      </p:sp>
      <p:sp>
        <p:nvSpPr>
          <p:cNvPr id="6" name="text-6">
            <a:extLst xmlns:a="http://schemas.openxmlformats.org/drawingml/2006/main">
              <a:ext uri="{FF2B5EF4-FFF2-40B4-BE49-F238E27FC236}">
                <a16:creationId xmlns:a16="http://schemas.microsoft.com/office/drawing/2014/main" id="{7E711636-69C3-4621-9842-625B7324D0B4}"/>
              </a:ext>
            </a:extLst>
          </p:cNvPr>
          <p:cNvSpPr>
            <a:spLocks xmlns:a="http://schemas.openxmlformats.org/drawingml/2006/main" noGrp="1"/>
          </p:cNvSpPr>
          <p:nvPr/>
        </p:nvSpPr>
        <p:spPr>
          <a:xfrm xmlns:a="http://schemas.openxmlformats.org/drawingml/2006/main">
            <a:off x="4657725" y="50768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AD581D"/>
                </a:solidFill>
                <a:latin typeface="Meiryo"/>
                <a:ea typeface="Meiryo"/>
                <a:cs typeface="Meiryo"/>
              </a:defRPr>
            </a:pPr>
            <a:r>
              <a:rPr sz="2025" b="1">
                <a:solidFill>
                  <a:srgbClr val="AD581D"/>
                </a:solidFill>
                <a:latin typeface="Meiryo"/>
                <a:ea typeface="Meiryo"/>
                <a:cs typeface="Meiryo"/>
              </a:rPr>
              <a:t>Bazaarレビュー</a:t>
            </a:r>
          </a:p>
        </p:txBody>
      </p:sp>
      <p:sp>
        <p:nvSpPr>
          <p:cNvPr id="7" name="text-7">
            <a:extLst xmlns:a="http://schemas.openxmlformats.org/drawingml/2006/main">
              <a:ext uri="{FF2B5EF4-FFF2-40B4-BE49-F238E27FC236}">
                <a16:creationId xmlns:a16="http://schemas.microsoft.com/office/drawing/2014/main" id="{B7E6E076-0CAC-4B82-BF8C-ED90EE02C4F9}"/>
              </a:ext>
            </a:extLst>
          </p:cNvPr>
          <p:cNvSpPr>
            <a:spLocks xmlns:a="http://schemas.openxmlformats.org/drawingml/2006/main" noGrp="1"/>
          </p:cNvSpPr>
          <p:nvPr/>
        </p:nvSpPr>
        <p:spPr>
          <a:xfrm xmlns:a="http://schemas.openxmlformats.org/drawingml/2006/main">
            <a:off x="8343900" y="5076825"/>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67A6B"/>
                </a:solidFill>
                <a:latin typeface="Meiryo"/>
                <a:ea typeface="Meiryo"/>
                <a:cs typeface="Meiryo"/>
              </a:defRPr>
            </a:pPr>
            <a:r>
              <a:rPr sz="2025" b="1">
                <a:solidFill>
                  <a:srgbClr val="167A6B"/>
                </a:solidFill>
                <a:latin typeface="Meiryo"/>
                <a:ea typeface="Meiryo"/>
                <a:cs typeface="Meiryo"/>
              </a:rPr>
              <a:t>コード・文書整合</a:t>
            </a:r>
          </a:p>
        </p:txBody>
      </p:sp>
      <p:sp>
        <p:nvSpPr>
          <p:cNvPr id="8" name="text-8">
            <a:extLst xmlns:a="http://schemas.openxmlformats.org/drawingml/2006/main">
              <a:ext uri="{FF2B5EF4-FFF2-40B4-BE49-F238E27FC236}">
                <a16:creationId xmlns:a16="http://schemas.microsoft.com/office/drawing/2014/main" id="{91FB5A24-9A04-4974-BC7A-28FEF8EB888D}"/>
              </a:ext>
            </a:extLst>
          </p:cNvPr>
          <p:cNvSpPr>
            <a:spLocks xmlns:a="http://schemas.openxmlformats.org/drawingml/2006/main" noGrp="1"/>
          </p:cNvSpPr>
          <p:nvPr/>
        </p:nvSpPr>
        <p:spPr>
          <a:xfrm xmlns:a="http://schemas.openxmlformats.org/drawingml/2006/main">
            <a:off x="685800" y="620077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574"/>
                </a:solidFill>
                <a:latin typeface="Meiryo"/>
                <a:ea typeface="Meiryo"/>
                <a:cs typeface="Meiryo"/>
              </a:defRPr>
            </a:pPr>
            <a:r>
              <a:rPr sz="1500" b="0">
                <a:solidFill>
                  <a:srgbClr val="526574"/>
                </a:solidFill>
                <a:latin typeface="Meiryo"/>
                <a:ea typeface="Meiryo"/>
                <a:cs typeface="Meiryo"/>
              </a:rPr>
              <a:t>2026年9月18日  /  基準 commit 3567883d</a:t>
            </a:r>
          </a:p>
        </p:txBody>
      </p:sp>
      <p:sp>
        <p:nvSpPr>
          <p:cNvPr id="9" name="text-9">
            <a:extLst xmlns:a="http://schemas.openxmlformats.org/drawingml/2006/main">
              <a:ext uri="{FF2B5EF4-FFF2-40B4-BE49-F238E27FC236}">
                <a16:creationId xmlns:a16="http://schemas.microsoft.com/office/drawing/2014/main" id="{E34E4D72-A842-45BA-B952-A91EB0BE98F6}"/>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01</a:t>
            </a:r>
          </a:p>
        </p:txBody>
      </p:sp>
    </p:spTree>
    <p:extLst>
      <p:ext uri="{BB962C8B-B14F-4D97-AF65-F5344CB8AC3E}">
        <p14:creationId xmlns:p14="http://schemas.microsoft.com/office/powerpoint/2010/main" val="294274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0">
            <a:extLst xmlns:a="http://schemas.openxmlformats.org/drawingml/2006/main">
              <a:ext uri="{FF2B5EF4-FFF2-40B4-BE49-F238E27FC236}">
                <a16:creationId xmlns:a16="http://schemas.microsoft.com/office/drawing/2014/main" id="{0D591BD4-3348-4372-95CE-D63C94CF2EC9}"/>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354E63"/>
                </a:solidFill>
                <a:latin typeface="Meiryo"/>
                <a:ea typeface="Meiryo"/>
                <a:cs typeface="Meiryo"/>
              </a:defRPr>
            </a:pPr>
            <a:r>
              <a:rPr sz="1425" b="1">
                <a:solidFill>
                  <a:srgbClr val="354E63"/>
                </a:solidFill>
                <a:latin typeface="Meiryo"/>
                <a:ea typeface="Meiryo"/>
                <a:cs typeface="Meiryo"/>
              </a:rPr>
              <a:t>全体像</a:t>
            </a:r>
          </a:p>
        </p:txBody>
      </p:sp>
      <p:sp>
        <p:nvSpPr>
          <p:cNvPr id="2" name="text-11">
            <a:extLst xmlns:a="http://schemas.openxmlformats.org/drawingml/2006/main">
              <a:ext uri="{FF2B5EF4-FFF2-40B4-BE49-F238E27FC236}">
                <a16:creationId xmlns:a16="http://schemas.microsoft.com/office/drawing/2014/main" id="{2EB4DA15-2A23-4F8D-B3B6-16BEA8E7052A}"/>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3拡張でできること</a:t>
            </a:r>
          </a:p>
        </p:txBody>
      </p:sp>
      <p:sp>
        <p:nvSpPr>
          <p:cNvPr id="3" name="text-12">
            <a:extLst xmlns:a="http://schemas.openxmlformats.org/drawingml/2006/main">
              <a:ext uri="{FF2B5EF4-FFF2-40B4-BE49-F238E27FC236}">
                <a16:creationId xmlns:a16="http://schemas.microsoft.com/office/drawing/2014/main" id="{C634B428-6D82-4822-BA87-86397E2B8265}"/>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作業の進行管理と、2種類のレビュー支援</a:t>
            </a:r>
          </a:p>
        </p:txBody>
      </p:sp>
      <p:sp>
        <p:nvSpPr>
          <p:cNvPr id="4" name="rule-13">
            <a:extLst xmlns:a="http://schemas.openxmlformats.org/drawingml/2006/main">
              <a:ext uri="{FF2B5EF4-FFF2-40B4-BE49-F238E27FC236}">
                <a16:creationId xmlns:a16="http://schemas.microsoft.com/office/drawing/2014/main" id="{516001F9-9FAD-4079-846A-5C7C34D792DD}"/>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14">
            <a:extLst xmlns:a="http://schemas.openxmlformats.org/drawingml/2006/main">
              <a:ext uri="{FF2B5EF4-FFF2-40B4-BE49-F238E27FC236}">
                <a16:creationId xmlns:a16="http://schemas.microsoft.com/office/drawing/2014/main" id="{9E4EE4CE-6090-4F54-9DFE-3D7C4021AF98}"/>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4E63"/>
                </a:solidFill>
                <a:latin typeface="Meiryo"/>
                <a:ea typeface="Meiryo"/>
                <a:cs typeface="Meiryo"/>
              </a:defRPr>
            </a:pPr>
            <a:r>
              <a:rPr sz="1800" b="1">
                <a:solidFill>
                  <a:srgbClr val="354E63"/>
                </a:solidFill>
                <a:latin typeface="Meiryo"/>
                <a:ea typeface="Meiryo"/>
                <a:cs typeface="Meiryo"/>
              </a:rPr>
              <a:t>目的に応じて単体利用し、必要な処理をワークフローへ組み込む</a:t>
            </a:r>
          </a:p>
        </p:txBody>
      </p:sp>
      <p:sp>
        <p:nvSpPr>
          <p:cNvPr id="6" name="text-15">
            <a:extLst xmlns:a="http://schemas.openxmlformats.org/drawingml/2006/main">
              <a:ext uri="{FF2B5EF4-FFF2-40B4-BE49-F238E27FC236}">
                <a16:creationId xmlns:a16="http://schemas.microsoft.com/office/drawing/2014/main" id="{FA163D5B-41F8-4AE7-B323-63C76E3968A6}"/>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02</a:t>
            </a:r>
          </a:p>
        </p:txBody>
      </p:sp>
      <p:graphicFrame>
        <p:nvGraphicFramePr>
          <p:cNvPr id="14" name=""/>
          <p:cNvGraphicFramePr/>
          <p:nvPr/>
        </p:nvGraphicFramePr>
        <p:xfrm>
          <a:off xmlns:a="http://schemas.openxmlformats.org/drawingml/2006/main" x="685800" y="2057400"/>
          <a:ext xmlns:a="http://schemas.openxmlformats.org/drawingml/2006/main" cx="10820400" cy="3543300"/>
        </p:xfrm>
        <a:graphic xmlns:a="http://schemas.openxmlformats.org/drawingml/2006/main">
          <a:graphicData uri="http://schemas.openxmlformats.org/drawingml/2006/table">
            <a:tbl>
              <a:tblPr/>
              <a:tblGrid>
                <a:gridCol w="2762250"/>
                <a:gridCol w="4000500"/>
                <a:gridCol w="4057650"/>
              </a:tblGrid>
              <a:tr h="495300">
                <a:tc>
                  <a:txBody>
                    <a:bodyPr wrap="square" lIns="133350" tIns="76200" rIns="114300" bIns="76200">
                      <a:noAutofit/>
                    </a:bodyPr>
                    <a:lstStyle/>
                    <a:p>
                      <a:r>
                        <a:rPr sz="1800" b="1">
                          <a:solidFill>
                            <a:srgbClr val="FFFFFF"/>
                          </a:solidFill>
                          <a:latin typeface="Meiryo"/>
                          <a:ea typeface="Meiryo"/>
                          <a:cs typeface="Meiryo"/>
                        </a:rPr>
                        <a:t>拡張</a:t>
                      </a:r>
                    </a:p>
                  </a:txBody>
                  <a:tcPr marL="91440" marR="91440" marT="45720" marB="45720" anchor="ctr">
                    <a:solidFill>
                      <a:srgbClr val="354E63"/>
                    </a:solidFill>
                  </a:tcPr>
                </a:tc>
                <a:tc>
                  <a:txBody>
                    <a:bodyPr wrap="square" lIns="133350" tIns="76200" rIns="114300" bIns="76200">
                      <a:noAutofit/>
                    </a:bodyPr>
                    <a:lstStyle/>
                    <a:p>
                      <a:r>
                        <a:rPr sz="1800" b="1">
                          <a:solidFill>
                            <a:srgbClr val="FFFFFF"/>
                          </a:solidFill>
                          <a:latin typeface="Meiryo"/>
                          <a:ea typeface="Meiryo"/>
                          <a:cs typeface="Meiryo"/>
                        </a:rPr>
                        <a:t>できること</a:t>
                      </a:r>
                    </a:p>
                  </a:txBody>
                  <a:tcPr marL="91440" marR="91440" marT="45720" marB="45720" anchor="ctr">
                    <a:solidFill>
                      <a:srgbClr val="354E63"/>
                    </a:solidFill>
                  </a:tcPr>
                </a:tc>
                <a:tc>
                  <a:txBody>
                    <a:bodyPr wrap="square" lIns="133350" tIns="76200" rIns="114300" bIns="76200">
                      <a:noAutofit/>
                    </a:bodyPr>
                    <a:lstStyle/>
                    <a:p>
                      <a:r>
                        <a:rPr sz="1800" b="1">
                          <a:solidFill>
                            <a:srgbClr val="FFFFFF"/>
                          </a:solidFill>
                          <a:latin typeface="Meiryo"/>
                          <a:ea typeface="Meiryo"/>
                          <a:cs typeface="Meiryo"/>
                        </a:rPr>
                        <a:t>主な成果物</a:t>
                      </a:r>
                    </a:p>
                  </a:txBody>
                  <a:tcPr marL="91440" marR="91440" marT="45720" marB="45720" anchor="ctr">
                    <a:solidFill>
                      <a:srgbClr val="354E63"/>
                    </a:solidFill>
                  </a:tcPr>
                </a:tc>
              </a:tr>
              <a:tr h="1016000">
                <a:tc>
                  <a:txBody>
                    <a:bodyPr wrap="square" lIns="133350" tIns="76200" rIns="114300" bIns="76200">
                      <a:noAutofit/>
                    </a:bodyPr>
                    <a:lstStyle/>
                    <a:p>
                      <a:r>
                        <a:rPr sz="1800" b="0">
                          <a:solidFill>
                            <a:srgbClr val="172A3A"/>
                          </a:solidFill>
                          <a:latin typeface="Meiryo"/>
                          <a:ea typeface="Meiryo"/>
                          <a:cs typeface="Meiryo"/>
                        </a:rPr>
                        <a:t>ワークフロー管理</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手順を定義</a:t>
                      </a:r>
                    </a:p>
                    <a:p>
                      <a:r>
                        <a:rPr sz="1800" b="0">
                          <a:solidFill>
                            <a:srgbClr val="172A3A"/>
                          </a:solidFill>
                          <a:latin typeface="Meiryo"/>
                          <a:ea typeface="Meiryo"/>
                          <a:cs typeface="Meiryo"/>
                        </a:rPr>
                        <a:t>実行・承認・再開</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ワークフロー定義</a:t>
                      </a:r>
                    </a:p>
                    <a:p>
                      <a:r>
                        <a:rPr sz="1800" b="0">
                          <a:solidFill>
                            <a:srgbClr val="172A3A"/>
                          </a:solidFill>
                          <a:latin typeface="Meiryo"/>
                          <a:ea typeface="Meiryo"/>
                          <a:cs typeface="Meiryo"/>
                        </a:rPr>
                        <a:t>実行状態・成果物</a:t>
                      </a:r>
                    </a:p>
                  </a:txBody>
                  <a:tcPr marL="91440" marR="91440" marT="45720" marB="45720" anchor="ctr">
                    <a:solidFill>
                      <a:srgbClr val="F5F8FA"/>
                    </a:solidFill>
                  </a:tcPr>
                </a:tc>
              </a:tr>
              <a:tr h="1016000">
                <a:tc>
                  <a:txBody>
                    <a:bodyPr wrap="square" lIns="133350" tIns="76200" rIns="114300" bIns="76200">
                      <a:noAutofit/>
                    </a:bodyPr>
                    <a:lstStyle/>
                    <a:p>
                      <a:r>
                        <a:rPr sz="1800" b="0">
                          <a:solidFill>
                            <a:srgbClr val="172A3A"/>
                          </a:solidFill>
                          <a:latin typeface="Meiryo"/>
                          <a:ea typeface="Meiryo"/>
                          <a:cs typeface="Meiryo"/>
                        </a:rPr>
                        <a:t>Bazaarレビュー</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変更差分を</a:t>
                      </a:r>
                    </a:p>
                    <a:p>
                      <a:r>
                        <a:rPr sz="1800" b="0">
                          <a:solidFill>
                            <a:srgbClr val="172A3A"/>
                          </a:solidFill>
                          <a:latin typeface="Meiryo"/>
                          <a:ea typeface="Meiryo"/>
                          <a:cs typeface="Meiryo"/>
                        </a:rPr>
                        <a:t>規約に沿ってレビュー</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レビュー資料</a:t>
                      </a:r>
                    </a:p>
                    <a:p>
                      <a:r>
                        <a:rPr sz="1800" b="0">
                          <a:solidFill>
                            <a:srgbClr val="172A3A"/>
                          </a:solidFill>
                          <a:latin typeface="Meiryo"/>
                          <a:ea typeface="Meiryo"/>
                          <a:cs typeface="Meiryo"/>
                        </a:rPr>
                        <a:t>指摘・判断・実績</a:t>
                      </a:r>
                    </a:p>
                  </a:txBody>
                  <a:tcPr marL="91440" marR="91440" marT="45720" marB="45720" anchor="ctr">
                    <a:solidFill>
                      <a:srgbClr val="FFFFFF"/>
                    </a:solidFill>
                  </a:tcPr>
                </a:tc>
              </a:tr>
              <a:tr h="1016000">
                <a:tc>
                  <a:txBody>
                    <a:bodyPr wrap="square" lIns="133350" tIns="76200" rIns="114300" bIns="76200">
                      <a:noAutofit/>
                    </a:bodyPr>
                    <a:lstStyle/>
                    <a:p>
                      <a:r>
                        <a:rPr sz="1800" b="0">
                          <a:solidFill>
                            <a:srgbClr val="172A3A"/>
                          </a:solidFill>
                          <a:latin typeface="Meiryo"/>
                          <a:ea typeface="Meiryo"/>
                          <a:cs typeface="Meiryo"/>
                        </a:rPr>
                        <a:t>コード・文書整合</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要求・設計・テストと</a:t>
                      </a:r>
                    </a:p>
                    <a:p>
                      <a:r>
                        <a:rPr sz="1800" b="0">
                          <a:solidFill>
                            <a:srgbClr val="172A3A"/>
                          </a:solidFill>
                          <a:latin typeface="Meiryo"/>
                          <a:ea typeface="Meiryo"/>
                          <a:cs typeface="Meiryo"/>
                        </a:rPr>
                        <a:t>コードを照合</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根拠付きレビュー資料</a:t>
                      </a:r>
                    </a:p>
                    <a:p>
                      <a:r>
                        <a:rPr sz="1800" b="0">
                          <a:solidFill>
                            <a:srgbClr val="172A3A"/>
                          </a:solidFill>
                          <a:latin typeface="Meiryo"/>
                          <a:ea typeface="Meiryo"/>
                          <a:cs typeface="Meiryo"/>
                        </a:rPr>
                        <a:t>指摘・対応関係</a:t>
                      </a:r>
                    </a:p>
                  </a:txBody>
                  <a:tcPr marL="91440" marR="91440" marT="45720" marB="45720" anchor="ctr">
                    <a:solidFill>
                      <a:srgbClr val="F5F8FA"/>
                    </a:solidFill>
                  </a:tcPr>
                </a:tc>
              </a:tr>
            </a:tbl>
          </a:graphicData>
        </a:graphic>
      </p:graphicFrame>
    </p:spTree>
    <p:extLst>
      <p:ext uri="{BB962C8B-B14F-4D97-AF65-F5344CB8AC3E}">
        <p14:creationId xmlns:p14="http://schemas.microsoft.com/office/powerpoint/2010/main" val="16839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6">
            <a:extLst xmlns:a="http://schemas.openxmlformats.org/drawingml/2006/main">
              <a:ext uri="{FF2B5EF4-FFF2-40B4-BE49-F238E27FC236}">
                <a16:creationId xmlns:a16="http://schemas.microsoft.com/office/drawing/2014/main" id="{F7204DA7-9186-40F2-A56E-5010AA221B8A}"/>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354E63"/>
                </a:solidFill>
                <a:latin typeface="Meiryo"/>
                <a:ea typeface="Meiryo"/>
                <a:cs typeface="Meiryo"/>
              </a:defRPr>
            </a:pPr>
            <a:r>
              <a:rPr sz="1425" b="1">
                <a:solidFill>
                  <a:srgbClr val="354E63"/>
                </a:solidFill>
                <a:latin typeface="Meiryo"/>
                <a:ea typeface="Meiryo"/>
                <a:cs typeface="Meiryo"/>
              </a:rPr>
              <a:t>全体像</a:t>
            </a:r>
          </a:p>
        </p:txBody>
      </p:sp>
      <p:sp>
        <p:nvSpPr>
          <p:cNvPr id="2" name="text-17">
            <a:extLst xmlns:a="http://schemas.openxmlformats.org/drawingml/2006/main">
              <a:ext uri="{FF2B5EF4-FFF2-40B4-BE49-F238E27FC236}">
                <a16:creationId xmlns:a16="http://schemas.microsoft.com/office/drawing/2014/main" id="{BC82BE13-0A66-4878-89C6-14321CAFFFED}"/>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IBM Bobと3拡張の全体構成</a:t>
            </a:r>
          </a:p>
        </p:txBody>
      </p:sp>
      <p:sp>
        <p:nvSpPr>
          <p:cNvPr id="3" name="text-18">
            <a:extLst xmlns:a="http://schemas.openxmlformats.org/drawingml/2006/main">
              <a:ext uri="{FF2B5EF4-FFF2-40B4-BE49-F238E27FC236}">
                <a16:creationId xmlns:a16="http://schemas.microsoft.com/office/drawing/2014/main" id="{AF984ECB-6698-4EA3-A728-4D6797B40CC6}"/>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共通の実行基盤に、レビュー処理を任意で接続する</a:t>
            </a:r>
          </a:p>
        </p:txBody>
      </p:sp>
      <p:sp>
        <p:nvSpPr>
          <p:cNvPr id="4" name="rule-19">
            <a:extLst xmlns:a="http://schemas.openxmlformats.org/drawingml/2006/main">
              <a:ext uri="{FF2B5EF4-FFF2-40B4-BE49-F238E27FC236}">
                <a16:creationId xmlns:a16="http://schemas.microsoft.com/office/drawing/2014/main" id="{84282DB0-754A-435A-A673-35262418AC5E}"/>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20">
            <a:extLst xmlns:a="http://schemas.openxmlformats.org/drawingml/2006/main">
              <a:ext uri="{FF2B5EF4-FFF2-40B4-BE49-F238E27FC236}">
                <a16:creationId xmlns:a16="http://schemas.microsoft.com/office/drawing/2014/main" id="{B6AC4D89-0EE5-43E7-B6F2-7F237FD84001}"/>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4E63"/>
                </a:solidFill>
                <a:latin typeface="Meiryo"/>
                <a:ea typeface="Meiryo"/>
                <a:cs typeface="Meiryo"/>
              </a:defRPr>
            </a:pPr>
            <a:r>
              <a:rPr sz="1800" b="1">
                <a:solidFill>
                  <a:srgbClr val="354E63"/>
                </a:solidFill>
                <a:latin typeface="Meiryo"/>
                <a:ea typeface="Meiryo"/>
                <a:cs typeface="Meiryo"/>
              </a:rPr>
              <a:t>BobによるAI実行と、各拡張のローカル処理を分けて理解する</a:t>
            </a:r>
          </a:p>
        </p:txBody>
      </p:sp>
      <p:sp>
        <p:nvSpPr>
          <p:cNvPr id="6" name="text-21">
            <a:extLst xmlns:a="http://schemas.openxmlformats.org/drawingml/2006/main">
              <a:ext uri="{FF2B5EF4-FFF2-40B4-BE49-F238E27FC236}">
                <a16:creationId xmlns:a16="http://schemas.microsoft.com/office/drawing/2014/main" id="{50E56AE0-5229-4E5D-B588-D778A6301EF8}"/>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03</a:t>
            </a:r>
          </a:p>
        </p:txBody>
      </p:sp>
      <p:sp>
        <p:nvSpPr>
          <p:cNvPr id="7" name="node-22">
            <a:extLst xmlns:a="http://schemas.openxmlformats.org/drawingml/2006/main">
              <a:ext uri="{FF2B5EF4-FFF2-40B4-BE49-F238E27FC236}">
                <a16:creationId xmlns:a16="http://schemas.microsoft.com/office/drawing/2014/main" id="{C73C80E5-2E8D-4EF5-A421-4EC0566ECBAC}"/>
              </a:ext>
            </a:extLst>
          </p:cNvPr>
          <p:cNvSpPr>
            <a:spLocks xmlns:a="http://schemas.openxmlformats.org/drawingml/2006/main" noGrp="1"/>
          </p:cNvSpPr>
          <p:nvPr/>
        </p:nvSpPr>
        <p:spPr>
          <a:xfrm xmlns:a="http://schemas.openxmlformats.org/drawingml/2006/main">
            <a:off x="3810000" y="2133600"/>
            <a:ext cx="4572000" cy="952500"/>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025" b="1">
                <a:solidFill>
                  <a:srgbClr val="354E63"/>
                </a:solidFill>
                <a:latin typeface="Meiryo"/>
                <a:ea typeface="Meiryo"/>
                <a:cs typeface="Meiryo"/>
              </a:defRPr>
            </a:pPr>
            <a:r>
              <a:rPr sz="2025" b="1">
                <a:solidFill>
                  <a:srgbClr val="354E63"/>
                </a:solidFill>
                <a:latin typeface="Meiryo"/>
                <a:ea typeface="Meiryo"/>
                <a:cs typeface="Meiryo"/>
              </a:rPr>
              <a:t>IBM Bob</a:t>
            </a:r>
          </a:p>
          <a:p xmlns:a="http://schemas.openxmlformats.org/drawingml/2006/main">
            <a:pPr algn="ctr">
              <a:defRPr sz="2025" b="1">
                <a:solidFill>
                  <a:srgbClr val="354E63"/>
                </a:solidFill>
                <a:latin typeface="Meiryo"/>
                <a:ea typeface="Meiryo"/>
                <a:cs typeface="Meiryo"/>
              </a:defRPr>
            </a:pPr>
            <a:r>
              <a:rPr sz="2025" b="1">
                <a:solidFill>
                  <a:srgbClr val="354E63"/>
                </a:solidFill>
                <a:latin typeface="Meiryo"/>
                <a:ea typeface="Meiryo"/>
                <a:cs typeface="Meiryo"/>
              </a:rPr>
              <a:t>AIタスク・Workflow UI</a:t>
            </a:r>
          </a:p>
        </p:txBody>
      </p:sp>
      <p:sp>
        <p:nvSpPr>
          <p:cNvPr id="8" name="node-23">
            <a:extLst xmlns:a="http://schemas.openxmlformats.org/drawingml/2006/main">
              <a:ext uri="{FF2B5EF4-FFF2-40B4-BE49-F238E27FC236}">
                <a16:creationId xmlns:a16="http://schemas.microsoft.com/office/drawing/2014/main" id="{E7D20389-37A9-4C3D-ABAF-43BB426E02A0}"/>
              </a:ext>
            </a:extLst>
          </p:cNvPr>
          <p:cNvSpPr>
            <a:spLocks xmlns:a="http://schemas.openxmlformats.org/drawingml/2006/main" noGrp="1"/>
          </p:cNvSpPr>
          <p:nvPr/>
        </p:nvSpPr>
        <p:spPr>
          <a:xfrm xmlns:a="http://schemas.openxmlformats.org/drawingml/2006/main">
            <a:off x="4152900" y="3752850"/>
            <a:ext cx="3886200" cy="952500"/>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025" b="1">
                <a:solidFill>
                  <a:srgbClr val="2264A8"/>
                </a:solidFill>
                <a:latin typeface="Meiryo"/>
                <a:ea typeface="Meiryo"/>
                <a:cs typeface="Meiryo"/>
              </a:defRPr>
            </a:pPr>
            <a:r>
              <a:rPr sz="2025" b="1">
                <a:solidFill>
                  <a:srgbClr val="2264A8"/>
                </a:solidFill>
                <a:latin typeface="Meiryo"/>
                <a:ea typeface="Meiryo"/>
                <a:cs typeface="Meiryo"/>
              </a:rPr>
              <a:t>ワークフロー管理</a:t>
            </a:r>
          </a:p>
          <a:p xmlns:a="http://schemas.openxmlformats.org/drawingml/2006/main">
            <a:pPr algn="ctr">
              <a:defRPr sz="2025" b="1">
                <a:solidFill>
                  <a:srgbClr val="2264A8"/>
                </a:solidFill>
                <a:latin typeface="Meiryo"/>
                <a:ea typeface="Meiryo"/>
                <a:cs typeface="Meiryo"/>
              </a:defRPr>
            </a:pPr>
            <a:r>
              <a:rPr sz="2025" b="1">
                <a:solidFill>
                  <a:srgbClr val="2264A8"/>
                </a:solidFill>
                <a:latin typeface="Meiryo"/>
                <a:ea typeface="Meiryo"/>
                <a:cs typeface="Meiryo"/>
              </a:rPr>
              <a:t>手順・状態・承認・成果物</a:t>
            </a:r>
          </a:p>
        </p:txBody>
      </p:sp>
      <p:sp>
        <p:nvSpPr>
          <p:cNvPr id="9" name="node-24">
            <a:extLst xmlns:a="http://schemas.openxmlformats.org/drawingml/2006/main">
              <a:ext uri="{FF2B5EF4-FFF2-40B4-BE49-F238E27FC236}">
                <a16:creationId xmlns:a16="http://schemas.microsoft.com/office/drawing/2014/main" id="{A5653D51-0581-4E04-B513-6D0997F25823}"/>
              </a:ext>
            </a:extLst>
          </p:cNvPr>
          <p:cNvSpPr>
            <a:spLocks xmlns:a="http://schemas.openxmlformats.org/drawingml/2006/main" noGrp="1"/>
          </p:cNvSpPr>
          <p:nvPr/>
        </p:nvSpPr>
        <p:spPr>
          <a:xfrm xmlns:a="http://schemas.openxmlformats.org/drawingml/2006/main">
            <a:off x="685800" y="3752850"/>
            <a:ext cx="2800350" cy="952500"/>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025" b="1">
                <a:solidFill>
                  <a:srgbClr val="AD581D"/>
                </a:solidFill>
                <a:latin typeface="Meiryo"/>
                <a:ea typeface="Meiryo"/>
                <a:cs typeface="Meiryo"/>
              </a:defRPr>
            </a:pPr>
            <a:r>
              <a:rPr sz="2025" b="1">
                <a:solidFill>
                  <a:srgbClr val="AD581D"/>
                </a:solidFill>
                <a:latin typeface="Meiryo"/>
                <a:ea typeface="Meiryo"/>
                <a:cs typeface="Meiryo"/>
              </a:rPr>
              <a:t>Bazaarレビュー</a:t>
            </a:r>
          </a:p>
          <a:p xmlns:a="http://schemas.openxmlformats.org/drawingml/2006/main">
            <a:pPr algn="ctr">
              <a:defRPr sz="2025" b="1">
                <a:solidFill>
                  <a:srgbClr val="AD581D"/>
                </a:solidFill>
                <a:latin typeface="Meiryo"/>
                <a:ea typeface="Meiryo"/>
                <a:cs typeface="Meiryo"/>
              </a:defRPr>
            </a:pPr>
            <a:r>
              <a:rPr sz="2025" b="1">
                <a:solidFill>
                  <a:srgbClr val="AD581D"/>
                </a:solidFill>
                <a:latin typeface="Meiryo"/>
                <a:ea typeface="Meiryo"/>
                <a:cs typeface="Meiryo"/>
              </a:rPr>
              <a:t>差分・規約・記録</a:t>
            </a:r>
          </a:p>
        </p:txBody>
      </p:sp>
      <p:sp>
        <p:nvSpPr>
          <p:cNvPr id="10" name="node-25">
            <a:extLst xmlns:a="http://schemas.openxmlformats.org/drawingml/2006/main">
              <a:ext uri="{FF2B5EF4-FFF2-40B4-BE49-F238E27FC236}">
                <a16:creationId xmlns:a16="http://schemas.microsoft.com/office/drawing/2014/main" id="{30EA276A-5693-47AB-91C0-217AD5CBB5BC}"/>
              </a:ext>
            </a:extLst>
          </p:cNvPr>
          <p:cNvSpPr>
            <a:spLocks xmlns:a="http://schemas.openxmlformats.org/drawingml/2006/main" noGrp="1"/>
          </p:cNvSpPr>
          <p:nvPr/>
        </p:nvSpPr>
        <p:spPr>
          <a:xfrm xmlns:a="http://schemas.openxmlformats.org/drawingml/2006/main">
            <a:off x="8705850" y="3752850"/>
            <a:ext cx="2800350" cy="952500"/>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025" b="1">
                <a:solidFill>
                  <a:srgbClr val="167A6B"/>
                </a:solidFill>
                <a:latin typeface="Meiryo"/>
                <a:ea typeface="Meiryo"/>
                <a:cs typeface="Meiryo"/>
              </a:defRPr>
            </a:pPr>
            <a:r>
              <a:rPr sz="2025" b="1">
                <a:solidFill>
                  <a:srgbClr val="167A6B"/>
                </a:solidFill>
                <a:latin typeface="Meiryo"/>
                <a:ea typeface="Meiryo"/>
                <a:cs typeface="Meiryo"/>
              </a:rPr>
              <a:t>コード・文書整合</a:t>
            </a:r>
          </a:p>
          <a:p xmlns:a="http://schemas.openxmlformats.org/drawingml/2006/main">
            <a:pPr algn="ctr">
              <a:defRPr sz="2025" b="1">
                <a:solidFill>
                  <a:srgbClr val="167A6B"/>
                </a:solidFill>
                <a:latin typeface="Meiryo"/>
                <a:ea typeface="Meiryo"/>
                <a:cs typeface="Meiryo"/>
              </a:defRPr>
            </a:pPr>
            <a:r>
              <a:rPr sz="2025" b="1">
                <a:solidFill>
                  <a:srgbClr val="167A6B"/>
                </a:solidFill>
                <a:latin typeface="Meiryo"/>
                <a:ea typeface="Meiryo"/>
                <a:cs typeface="Meiryo"/>
              </a:rPr>
              <a:t>根拠・候補・判断</a:t>
            </a:r>
          </a:p>
        </p:txBody>
      </p:sp>
      <p:cxnSp>
        <p:nvCxnSpPr>
          <p:cNvPr id="26" name=""/>
          <p:cNvCxnSpPr>
            <a:stCxn xmlns:a="http://schemas.openxmlformats.org/drawingml/2006/main" id="8" idx="0"/>
            <a:endCxn xmlns:a="http://schemas.openxmlformats.org/drawingml/2006/main" id="7" idx="2"/>
          </p:cNvCxnSpPr>
          <p:nvPr/>
        </p:nvCxnSpPr>
        <p:spPr>
          <a:xfrm xmlns:a="http://schemas.openxmlformats.org/drawingml/2006/main" flipV="1">
            <a:off x="6096000" y="3086100"/>
            <a:ext cx="0" cy="666750"/>
          </a:xfrm>
          <a:prstGeom xmlns:a="http://schemas.openxmlformats.org/drawingml/2006/main" prst="straightConnector1">
            <a:avLst/>
          </a:prstGeom>
          <a:ln xmlns:a="http://schemas.openxmlformats.org/drawingml/2006/main" w="19050">
            <a:solidFill>
              <a:srgbClr val="526574"/>
            </a:solidFill>
            <a:prstDash val="dash"/>
            <a:headEnd type="arrow" w="med" len="med"/>
            <a:tailEnd type="arrow" w="med" len="med"/>
          </a:ln>
        </p:spPr>
      </p:cxnSp>
      <p:cxnSp>
        <p:nvCxnSpPr>
          <p:cNvPr id="27" name=""/>
          <p:cNvCxnSpPr>
            <a:stCxn xmlns:a="http://schemas.openxmlformats.org/drawingml/2006/main" id="9" idx="3"/>
            <a:endCxn xmlns:a="http://schemas.openxmlformats.org/drawingml/2006/main" id="8" idx="1"/>
          </p:cNvCxnSpPr>
          <p:nvPr/>
        </p:nvCxnSpPr>
        <p:spPr>
          <a:xfrm xmlns:a="http://schemas.openxmlformats.org/drawingml/2006/main">
            <a:off x="3486150" y="4229100"/>
            <a:ext cx="666750" cy="0"/>
          </a:xfrm>
          <a:prstGeom xmlns:a="http://schemas.openxmlformats.org/drawingml/2006/main" prst="straightConnector1">
            <a:avLst/>
          </a:prstGeom>
          <a:ln xmlns:a="http://schemas.openxmlformats.org/drawingml/2006/main" w="19050">
            <a:solidFill>
              <a:srgbClr val="526574"/>
            </a:solidFill>
            <a:prstDash val="solid"/>
            <a:headEnd type="arrow" w="med" len="med"/>
            <a:tailEnd type="arrow" w="med" len="med"/>
          </a:ln>
        </p:spPr>
      </p:cxnSp>
      <p:cxnSp>
        <p:nvCxnSpPr>
          <p:cNvPr id="28" name=""/>
          <p:cNvCxnSpPr>
            <a:stCxn xmlns:a="http://schemas.openxmlformats.org/drawingml/2006/main" id="8" idx="3"/>
            <a:endCxn xmlns:a="http://schemas.openxmlformats.org/drawingml/2006/main" id="10" idx="1"/>
          </p:cNvCxnSpPr>
          <p:nvPr/>
        </p:nvCxnSpPr>
        <p:spPr>
          <a:xfrm xmlns:a="http://schemas.openxmlformats.org/drawingml/2006/main">
            <a:off x="8039100" y="4229100"/>
            <a:ext cx="666750" cy="0"/>
          </a:xfrm>
          <a:prstGeom xmlns:a="http://schemas.openxmlformats.org/drawingml/2006/main" prst="straightConnector1">
            <a:avLst/>
          </a:prstGeom>
          <a:ln xmlns:a="http://schemas.openxmlformats.org/drawingml/2006/main" w="19050">
            <a:solidFill>
              <a:srgbClr val="526574"/>
            </a:solidFill>
            <a:prstDash val="solid"/>
            <a:headEnd type="arrow" w="med" len="med"/>
            <a:tailEnd type="arrow" w="med" len="med"/>
          </a:ln>
        </p:spPr>
      </p:cxnSp>
      <p:sp>
        <p:nvSpPr>
          <p:cNvPr id="14" name="text-26">
            <a:extLst xmlns:a="http://schemas.openxmlformats.org/drawingml/2006/main">
              <a:ext uri="{FF2B5EF4-FFF2-40B4-BE49-F238E27FC236}">
                <a16:creationId xmlns:a16="http://schemas.microsoft.com/office/drawing/2014/main" id="{F24C7EFF-58A6-4B35-B76F-E3A2B65200E9}"/>
              </a:ext>
            </a:extLst>
          </p:cNvPr>
          <p:cNvSpPr>
            <a:spLocks xmlns:a="http://schemas.openxmlformats.org/drawingml/2006/main" noGrp="1"/>
          </p:cNvSpPr>
          <p:nvPr/>
        </p:nvSpPr>
        <p:spPr>
          <a:xfrm xmlns:a="http://schemas.openxmlformats.org/drawingml/2006/main">
            <a:off x="8705850" y="2362200"/>
            <a:ext cx="28003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574"/>
                </a:solidFill>
                <a:latin typeface="Meiryo"/>
                <a:ea typeface="Meiryo"/>
                <a:cs typeface="Meiryo"/>
              </a:defRPr>
            </a:pPr>
            <a:r>
              <a:rPr sz="1725" b="0">
                <a:solidFill>
                  <a:srgbClr val="526574"/>
                </a:solidFill>
                <a:latin typeface="Meiryo"/>
                <a:ea typeface="Meiryo"/>
                <a:cs typeface="Meiryo"/>
              </a:rPr>
              <a:t>Bob UIとの接続</a:t>
            </a:r>
          </a:p>
          <a:p xmlns:a="http://schemas.openxmlformats.org/drawingml/2006/main">
            <a:pPr algn="l">
              <a:defRPr sz="1725" b="0">
                <a:solidFill>
                  <a:srgbClr val="526574"/>
                </a:solidFill>
                <a:latin typeface="Meiryo"/>
                <a:ea typeface="Meiryo"/>
                <a:cs typeface="Meiryo"/>
              </a:defRPr>
            </a:pPr>
            <a:r>
              <a:rPr sz="1725" b="0">
                <a:solidFill>
                  <a:srgbClr val="526574"/>
                </a:solidFill>
                <a:latin typeface="Meiryo"/>
                <a:ea typeface="Meiryo"/>
                <a:cs typeface="Meiryo"/>
              </a:rPr>
              <a:t>AIタスクの実行</a:t>
            </a:r>
          </a:p>
        </p:txBody>
      </p:sp>
      <p:sp>
        <p:nvSpPr>
          <p:cNvPr id="15" name="text-27">
            <a:extLst xmlns:a="http://schemas.openxmlformats.org/drawingml/2006/main">
              <a:ext uri="{FF2B5EF4-FFF2-40B4-BE49-F238E27FC236}">
                <a16:creationId xmlns:a16="http://schemas.microsoft.com/office/drawing/2014/main" id="{CD895213-8306-427B-AE67-84B6C2B89646}"/>
              </a:ext>
            </a:extLst>
          </p:cNvPr>
          <p:cNvSpPr>
            <a:spLocks xmlns:a="http://schemas.openxmlformats.org/drawingml/2006/main" noGrp="1"/>
          </p:cNvSpPr>
          <p:nvPr/>
        </p:nvSpPr>
        <p:spPr>
          <a:xfrm xmlns:a="http://schemas.openxmlformats.org/drawingml/2006/main">
            <a:off x="3914775" y="51435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0">
                <a:solidFill>
                  <a:srgbClr val="526574"/>
                </a:solidFill>
                <a:latin typeface="Meiryo"/>
                <a:ea typeface="Meiryo"/>
                <a:cs typeface="Meiryo"/>
              </a:defRPr>
            </a:pPr>
            <a:r>
              <a:rPr sz="1725" b="0">
                <a:solidFill>
                  <a:srgbClr val="526574"/>
                </a:solidFill>
                <a:latin typeface="Meiryo"/>
                <a:ea typeface="Meiryo"/>
                <a:cs typeface="Meiryo"/>
              </a:rPr>
              <a:t>action providerによる任意連携</a:t>
            </a:r>
          </a:p>
        </p:txBody>
      </p:sp>
    </p:spTree>
    <p:extLst>
      <p:ext uri="{BB962C8B-B14F-4D97-AF65-F5344CB8AC3E}">
        <p14:creationId xmlns:p14="http://schemas.microsoft.com/office/powerpoint/2010/main" val="18827302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28">
            <a:extLst xmlns:a="http://schemas.openxmlformats.org/drawingml/2006/main">
              <a:ext uri="{FF2B5EF4-FFF2-40B4-BE49-F238E27FC236}">
                <a16:creationId xmlns:a16="http://schemas.microsoft.com/office/drawing/2014/main" id="{B5000861-762C-4C3C-8AB3-7A54CBE19499}"/>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354E63"/>
                </a:solidFill>
                <a:latin typeface="Meiryo"/>
                <a:ea typeface="Meiryo"/>
                <a:cs typeface="Meiryo"/>
              </a:defRPr>
            </a:pPr>
            <a:r>
              <a:rPr sz="1425" b="1">
                <a:solidFill>
                  <a:srgbClr val="354E63"/>
                </a:solidFill>
                <a:latin typeface="Meiryo"/>
                <a:ea typeface="Meiryo"/>
                <a:cs typeface="Meiryo"/>
              </a:rPr>
              <a:t>全体像</a:t>
            </a:r>
          </a:p>
        </p:txBody>
      </p:sp>
      <p:sp>
        <p:nvSpPr>
          <p:cNvPr id="2" name="text-29">
            <a:extLst xmlns:a="http://schemas.openxmlformats.org/drawingml/2006/main">
              <a:ext uri="{FF2B5EF4-FFF2-40B4-BE49-F238E27FC236}">
                <a16:creationId xmlns:a16="http://schemas.microsoft.com/office/drawing/2014/main" id="{31B6D4FE-EFB4-4F76-BBB1-64840A11BEBD}"/>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機械処理・AI・人間の役割</a:t>
            </a:r>
          </a:p>
        </p:txBody>
      </p:sp>
      <p:sp>
        <p:nvSpPr>
          <p:cNvPr id="3" name="text-30">
            <a:extLst xmlns:a="http://schemas.openxmlformats.org/drawingml/2006/main">
              <a:ext uri="{FF2B5EF4-FFF2-40B4-BE49-F238E27FC236}">
                <a16:creationId xmlns:a16="http://schemas.microsoft.com/office/drawing/2014/main" id="{E06F00C9-5969-4DDD-9CB8-2DAE18E58CA7}"/>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根拠の整理から、判断の確定までを分担する</a:t>
            </a:r>
          </a:p>
        </p:txBody>
      </p:sp>
      <p:sp>
        <p:nvSpPr>
          <p:cNvPr id="4" name="rule-31">
            <a:extLst xmlns:a="http://schemas.openxmlformats.org/drawingml/2006/main">
              <a:ext uri="{FF2B5EF4-FFF2-40B4-BE49-F238E27FC236}">
                <a16:creationId xmlns:a16="http://schemas.microsoft.com/office/drawing/2014/main" id="{EEAA836A-AD7B-479D-AB85-712FFD7F3A2C}"/>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32">
            <a:extLst xmlns:a="http://schemas.openxmlformats.org/drawingml/2006/main">
              <a:ext uri="{FF2B5EF4-FFF2-40B4-BE49-F238E27FC236}">
                <a16:creationId xmlns:a16="http://schemas.microsoft.com/office/drawing/2014/main" id="{BDC65A25-ACAE-4B2C-A7BC-35A6D498B6FF}"/>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4E63"/>
                </a:solidFill>
                <a:latin typeface="Meiryo"/>
                <a:ea typeface="Meiryo"/>
                <a:cs typeface="Meiryo"/>
              </a:defRPr>
            </a:pPr>
            <a:r>
              <a:rPr sz="1800" b="1">
                <a:solidFill>
                  <a:srgbClr val="354E63"/>
                </a:solidFill>
                <a:latin typeface="Meiryo"/>
                <a:ea typeface="Meiryo"/>
                <a:cs typeface="Meiryo"/>
              </a:rPr>
              <a:t>形式検証の成功と、内容の正しさ・最終承認は別の確認</a:t>
            </a:r>
          </a:p>
        </p:txBody>
      </p:sp>
      <p:sp>
        <p:nvSpPr>
          <p:cNvPr id="6" name="text-33">
            <a:extLst xmlns:a="http://schemas.openxmlformats.org/drawingml/2006/main">
              <a:ext uri="{FF2B5EF4-FFF2-40B4-BE49-F238E27FC236}">
                <a16:creationId xmlns:a16="http://schemas.microsoft.com/office/drawing/2014/main" id="{D0250B08-0F60-45AB-B664-C06FC5DD2C19}"/>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04</a:t>
            </a:r>
          </a:p>
        </p:txBody>
      </p:sp>
      <p:sp>
        <p:nvSpPr>
          <p:cNvPr id="7" name="text-34">
            <a:extLst xmlns:a="http://schemas.openxmlformats.org/drawingml/2006/main">
              <a:ext uri="{FF2B5EF4-FFF2-40B4-BE49-F238E27FC236}">
                <a16:creationId xmlns:a16="http://schemas.microsoft.com/office/drawing/2014/main" id="{A4D31249-0DD5-4F52-8F66-219D0CDB1EAC}"/>
              </a:ext>
            </a:extLst>
          </p:cNvPr>
          <p:cNvSpPr>
            <a:spLocks xmlns:a="http://schemas.openxmlformats.org/drawingml/2006/main" noGrp="1"/>
          </p:cNvSpPr>
          <p:nvPr/>
        </p:nvSpPr>
        <p:spPr>
          <a:xfrm xmlns:a="http://schemas.openxmlformats.org/drawingml/2006/main">
            <a:off x="685800"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4E63"/>
                </a:solidFill>
                <a:latin typeface="Meiryo"/>
                <a:ea typeface="Meiryo"/>
                <a:cs typeface="Meiryo"/>
              </a:defRPr>
            </a:pPr>
            <a:r>
              <a:rPr sz="1650" b="1">
                <a:solidFill>
                  <a:srgbClr val="354E63"/>
                </a:solidFill>
                <a:latin typeface="Meiryo"/>
                <a:ea typeface="Meiryo"/>
                <a:cs typeface="Meiryo"/>
              </a:rPr>
              <a:t>01</a:t>
            </a:r>
          </a:p>
        </p:txBody>
      </p:sp>
      <p:sp>
        <p:nvSpPr>
          <p:cNvPr id="8" name="node-35">
            <a:extLst xmlns:a="http://schemas.openxmlformats.org/drawingml/2006/main">
              <a:ext uri="{FF2B5EF4-FFF2-40B4-BE49-F238E27FC236}">
                <a16:creationId xmlns:a16="http://schemas.microsoft.com/office/drawing/2014/main" id="{5006D498-AC5D-4A27-A2BE-C698BF88AEC2}"/>
              </a:ext>
            </a:extLst>
          </p:cNvPr>
          <p:cNvSpPr>
            <a:spLocks xmlns:a="http://schemas.openxmlformats.org/drawingml/2006/main" noGrp="1"/>
          </p:cNvSpPr>
          <p:nvPr/>
        </p:nvSpPr>
        <p:spPr>
          <a:xfrm xmlns:a="http://schemas.openxmlformats.org/drawingml/2006/main">
            <a:off x="685800"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354E63"/>
                </a:solidFill>
                <a:latin typeface="Meiryo"/>
                <a:ea typeface="Meiryo"/>
                <a:cs typeface="Meiryo"/>
              </a:defRPr>
            </a:pPr>
            <a:r>
              <a:rPr sz="1950" b="1">
                <a:solidFill>
                  <a:srgbClr val="354E63"/>
                </a:solidFill>
                <a:latin typeface="Meiryo"/>
                <a:ea typeface="Meiryo"/>
                <a:cs typeface="Meiryo"/>
              </a:rPr>
              <a:t>機械処理</a:t>
            </a:r>
          </a:p>
        </p:txBody>
      </p:sp>
      <p:sp>
        <p:nvSpPr>
          <p:cNvPr id="9" name="text-36">
            <a:extLst xmlns:a="http://schemas.openxmlformats.org/drawingml/2006/main">
              <a:ext uri="{FF2B5EF4-FFF2-40B4-BE49-F238E27FC236}">
                <a16:creationId xmlns:a16="http://schemas.microsoft.com/office/drawing/2014/main" id="{0A2336F4-DBB1-401D-8A6D-A5A9DA63F3C3}"/>
              </a:ext>
            </a:extLst>
          </p:cNvPr>
          <p:cNvSpPr>
            <a:spLocks xmlns:a="http://schemas.openxmlformats.org/drawingml/2006/main" noGrp="1"/>
          </p:cNvSpPr>
          <p:nvPr/>
        </p:nvSpPr>
        <p:spPr>
          <a:xfrm xmlns:a="http://schemas.openxmlformats.org/drawingml/2006/main">
            <a:off x="685800"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差分・文書を収集</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形式と参照を検証</a:t>
            </a:r>
          </a:p>
        </p:txBody>
      </p:sp>
      <p:sp>
        <p:nvSpPr>
          <p:cNvPr id="10" name="text-37">
            <a:extLst xmlns:a="http://schemas.openxmlformats.org/drawingml/2006/main">
              <a:ext uri="{FF2B5EF4-FFF2-40B4-BE49-F238E27FC236}">
                <a16:creationId xmlns:a16="http://schemas.microsoft.com/office/drawing/2014/main" id="{4D1CDB03-F1F4-4428-A419-ECA3DE8471D8}"/>
              </a:ext>
            </a:extLst>
          </p:cNvPr>
          <p:cNvSpPr>
            <a:spLocks xmlns:a="http://schemas.openxmlformats.org/drawingml/2006/main" noGrp="1"/>
          </p:cNvSpPr>
          <p:nvPr/>
        </p:nvSpPr>
        <p:spPr>
          <a:xfrm xmlns:a="http://schemas.openxmlformats.org/drawingml/2006/main">
            <a:off x="3471863"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4E63"/>
                </a:solidFill>
                <a:latin typeface="Meiryo"/>
                <a:ea typeface="Meiryo"/>
                <a:cs typeface="Meiryo"/>
              </a:defRPr>
            </a:pPr>
            <a:r>
              <a:rPr sz="1650" b="1">
                <a:solidFill>
                  <a:srgbClr val="354E63"/>
                </a:solidFill>
                <a:latin typeface="Meiryo"/>
                <a:ea typeface="Meiryo"/>
                <a:cs typeface="Meiryo"/>
              </a:rPr>
              <a:t>02</a:t>
            </a:r>
          </a:p>
        </p:txBody>
      </p:sp>
      <p:sp>
        <p:nvSpPr>
          <p:cNvPr id="11" name="node-38">
            <a:extLst xmlns:a="http://schemas.openxmlformats.org/drawingml/2006/main">
              <a:ext uri="{FF2B5EF4-FFF2-40B4-BE49-F238E27FC236}">
                <a16:creationId xmlns:a16="http://schemas.microsoft.com/office/drawing/2014/main" id="{50C5F30B-6DCE-4CB6-B75D-C52E1EFD2623}"/>
              </a:ext>
            </a:extLst>
          </p:cNvPr>
          <p:cNvSpPr>
            <a:spLocks xmlns:a="http://schemas.openxmlformats.org/drawingml/2006/main" noGrp="1"/>
          </p:cNvSpPr>
          <p:nvPr/>
        </p:nvSpPr>
        <p:spPr>
          <a:xfrm xmlns:a="http://schemas.openxmlformats.org/drawingml/2006/main">
            <a:off x="3471863"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354E63"/>
                </a:solidFill>
                <a:latin typeface="Meiryo"/>
                <a:ea typeface="Meiryo"/>
                <a:cs typeface="Meiryo"/>
              </a:defRPr>
            </a:pPr>
            <a:r>
              <a:rPr sz="1950" b="1">
                <a:solidFill>
                  <a:srgbClr val="354E63"/>
                </a:solidFill>
                <a:latin typeface="Meiryo"/>
                <a:ea typeface="Meiryo"/>
                <a:cs typeface="Meiryo"/>
              </a:rPr>
              <a:t>AI</a:t>
            </a:r>
          </a:p>
        </p:txBody>
      </p:sp>
      <p:sp>
        <p:nvSpPr>
          <p:cNvPr id="12" name="text-39">
            <a:extLst xmlns:a="http://schemas.openxmlformats.org/drawingml/2006/main">
              <a:ext uri="{FF2B5EF4-FFF2-40B4-BE49-F238E27FC236}">
                <a16:creationId xmlns:a16="http://schemas.microsoft.com/office/drawing/2014/main" id="{7842BEC7-3EE2-4276-83C4-4A8B43790B2E}"/>
              </a:ext>
            </a:extLst>
          </p:cNvPr>
          <p:cNvSpPr>
            <a:spLocks xmlns:a="http://schemas.openxmlformats.org/drawingml/2006/main" noGrp="1"/>
          </p:cNvSpPr>
          <p:nvPr/>
        </p:nvSpPr>
        <p:spPr>
          <a:xfrm xmlns:a="http://schemas.openxmlformats.org/drawingml/2006/main">
            <a:off x="3471863"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根拠を読んで</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指摘・規約案を作る</a:t>
            </a:r>
          </a:p>
        </p:txBody>
      </p:sp>
      <p:sp>
        <p:nvSpPr>
          <p:cNvPr id="13" name="text-40">
            <a:extLst xmlns:a="http://schemas.openxmlformats.org/drawingml/2006/main">
              <a:ext uri="{FF2B5EF4-FFF2-40B4-BE49-F238E27FC236}">
                <a16:creationId xmlns:a16="http://schemas.microsoft.com/office/drawing/2014/main" id="{286D9BE4-0571-46B8-827D-B7445EEA97E5}"/>
              </a:ext>
            </a:extLst>
          </p:cNvPr>
          <p:cNvSpPr>
            <a:spLocks xmlns:a="http://schemas.openxmlformats.org/drawingml/2006/main" noGrp="1"/>
          </p:cNvSpPr>
          <p:nvPr/>
        </p:nvSpPr>
        <p:spPr>
          <a:xfrm xmlns:a="http://schemas.openxmlformats.org/drawingml/2006/main">
            <a:off x="6257925"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4E63"/>
                </a:solidFill>
                <a:latin typeface="Meiryo"/>
                <a:ea typeface="Meiryo"/>
                <a:cs typeface="Meiryo"/>
              </a:defRPr>
            </a:pPr>
            <a:r>
              <a:rPr sz="1650" b="1">
                <a:solidFill>
                  <a:srgbClr val="354E63"/>
                </a:solidFill>
                <a:latin typeface="Meiryo"/>
                <a:ea typeface="Meiryo"/>
                <a:cs typeface="Meiryo"/>
              </a:rPr>
              <a:t>03</a:t>
            </a:r>
          </a:p>
        </p:txBody>
      </p:sp>
      <p:sp>
        <p:nvSpPr>
          <p:cNvPr id="14" name="node-41">
            <a:extLst xmlns:a="http://schemas.openxmlformats.org/drawingml/2006/main">
              <a:ext uri="{FF2B5EF4-FFF2-40B4-BE49-F238E27FC236}">
                <a16:creationId xmlns:a16="http://schemas.microsoft.com/office/drawing/2014/main" id="{7ECA5AA2-CA88-44C8-ACB8-B016CCC71D16}"/>
              </a:ext>
            </a:extLst>
          </p:cNvPr>
          <p:cNvSpPr>
            <a:spLocks xmlns:a="http://schemas.openxmlformats.org/drawingml/2006/main" noGrp="1"/>
          </p:cNvSpPr>
          <p:nvPr/>
        </p:nvSpPr>
        <p:spPr>
          <a:xfrm xmlns:a="http://schemas.openxmlformats.org/drawingml/2006/main">
            <a:off x="6257925"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354E63"/>
                </a:solidFill>
                <a:latin typeface="Meiryo"/>
                <a:ea typeface="Meiryo"/>
                <a:cs typeface="Meiryo"/>
              </a:defRPr>
            </a:pPr>
            <a:r>
              <a:rPr sz="1950" b="1">
                <a:solidFill>
                  <a:srgbClr val="354E63"/>
                </a:solidFill>
                <a:latin typeface="Meiryo"/>
                <a:ea typeface="Meiryo"/>
                <a:cs typeface="Meiryo"/>
              </a:rPr>
              <a:t>人間</a:t>
            </a:r>
          </a:p>
        </p:txBody>
      </p:sp>
      <p:sp>
        <p:nvSpPr>
          <p:cNvPr id="15" name="text-42">
            <a:extLst xmlns:a="http://schemas.openxmlformats.org/drawingml/2006/main">
              <a:ext uri="{FF2B5EF4-FFF2-40B4-BE49-F238E27FC236}">
                <a16:creationId xmlns:a16="http://schemas.microsoft.com/office/drawing/2014/main" id="{3CE05653-A378-4393-894A-B290E25A80C0}"/>
              </a:ext>
            </a:extLst>
          </p:cNvPr>
          <p:cNvSpPr>
            <a:spLocks xmlns:a="http://schemas.openxmlformats.org/drawingml/2006/main" noGrp="1"/>
          </p:cNvSpPr>
          <p:nvPr/>
        </p:nvSpPr>
        <p:spPr>
          <a:xfrm xmlns:a="http://schemas.openxmlformats.org/drawingml/2006/main">
            <a:off x="6257925"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候補を確認し</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採否・対応を確定</a:t>
            </a:r>
          </a:p>
        </p:txBody>
      </p:sp>
      <p:sp>
        <p:nvSpPr>
          <p:cNvPr id="16" name="text-43">
            <a:extLst xmlns:a="http://schemas.openxmlformats.org/drawingml/2006/main">
              <a:ext uri="{FF2B5EF4-FFF2-40B4-BE49-F238E27FC236}">
                <a16:creationId xmlns:a16="http://schemas.microsoft.com/office/drawing/2014/main" id="{0BB8B495-0EA9-4CDE-B06A-BA3ED17CAB56}"/>
              </a:ext>
            </a:extLst>
          </p:cNvPr>
          <p:cNvSpPr>
            <a:spLocks xmlns:a="http://schemas.openxmlformats.org/drawingml/2006/main" noGrp="1"/>
          </p:cNvSpPr>
          <p:nvPr/>
        </p:nvSpPr>
        <p:spPr>
          <a:xfrm xmlns:a="http://schemas.openxmlformats.org/drawingml/2006/main">
            <a:off x="9043988"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4E63"/>
                </a:solidFill>
                <a:latin typeface="Meiryo"/>
                <a:ea typeface="Meiryo"/>
                <a:cs typeface="Meiryo"/>
              </a:defRPr>
            </a:pPr>
            <a:r>
              <a:rPr sz="1650" b="1">
                <a:solidFill>
                  <a:srgbClr val="354E63"/>
                </a:solidFill>
                <a:latin typeface="Meiryo"/>
                <a:ea typeface="Meiryo"/>
                <a:cs typeface="Meiryo"/>
              </a:rPr>
              <a:t>04</a:t>
            </a:r>
          </a:p>
        </p:txBody>
      </p:sp>
      <p:sp>
        <p:nvSpPr>
          <p:cNvPr id="17" name="node-44">
            <a:extLst xmlns:a="http://schemas.openxmlformats.org/drawingml/2006/main">
              <a:ext uri="{FF2B5EF4-FFF2-40B4-BE49-F238E27FC236}">
                <a16:creationId xmlns:a16="http://schemas.microsoft.com/office/drawing/2014/main" id="{865D3354-6BBA-442B-9B26-FA8D8F317F31}"/>
              </a:ext>
            </a:extLst>
          </p:cNvPr>
          <p:cNvSpPr>
            <a:spLocks xmlns:a="http://schemas.openxmlformats.org/drawingml/2006/main" noGrp="1"/>
          </p:cNvSpPr>
          <p:nvPr/>
        </p:nvSpPr>
        <p:spPr>
          <a:xfrm xmlns:a="http://schemas.openxmlformats.org/drawingml/2006/main">
            <a:off x="9043988"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354E63"/>
                </a:solidFill>
                <a:latin typeface="Meiryo"/>
                <a:ea typeface="Meiryo"/>
                <a:cs typeface="Meiryo"/>
              </a:defRPr>
            </a:pPr>
            <a:r>
              <a:rPr sz="1950" b="1">
                <a:solidFill>
                  <a:srgbClr val="354E63"/>
                </a:solidFill>
                <a:latin typeface="Meiryo"/>
                <a:ea typeface="Meiryo"/>
                <a:cs typeface="Meiryo"/>
              </a:rPr>
              <a:t>記録</a:t>
            </a:r>
          </a:p>
        </p:txBody>
      </p:sp>
      <p:sp>
        <p:nvSpPr>
          <p:cNvPr id="18" name="text-45">
            <a:extLst xmlns:a="http://schemas.openxmlformats.org/drawingml/2006/main">
              <a:ext uri="{FF2B5EF4-FFF2-40B4-BE49-F238E27FC236}">
                <a16:creationId xmlns:a16="http://schemas.microsoft.com/office/drawing/2014/main" id="{72CD9067-8DE3-4F7E-9F44-6DD1174EAF00}"/>
              </a:ext>
            </a:extLst>
          </p:cNvPr>
          <p:cNvSpPr>
            <a:spLocks xmlns:a="http://schemas.openxmlformats.org/drawingml/2006/main" noGrp="1"/>
          </p:cNvSpPr>
          <p:nvPr/>
        </p:nvSpPr>
        <p:spPr>
          <a:xfrm xmlns:a="http://schemas.openxmlformats.org/drawingml/2006/main">
            <a:off x="9043988"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判断と根拠を</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成果物に残す</a:t>
            </a:r>
          </a:p>
        </p:txBody>
      </p:sp>
      <p:cxnSp>
        <p:nvCxnSpPr>
          <p:cNvPr id="40" name=""/>
          <p:cNvCxnSpPr>
            <a:stCxn xmlns:a="http://schemas.openxmlformats.org/drawingml/2006/main" id="8" idx="3"/>
            <a:endCxn xmlns:a="http://schemas.openxmlformats.org/drawingml/2006/main" id="11" idx="1"/>
          </p:cNvCxnSpPr>
          <p:nvPr/>
        </p:nvCxnSpPr>
        <p:spPr>
          <a:xfrm xmlns:a="http://schemas.openxmlformats.org/drawingml/2006/main">
            <a:off x="3148013"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1" name=""/>
          <p:cNvCxnSpPr>
            <a:stCxn xmlns:a="http://schemas.openxmlformats.org/drawingml/2006/main" id="11" idx="3"/>
            <a:endCxn xmlns:a="http://schemas.openxmlformats.org/drawingml/2006/main" id="14" idx="1"/>
          </p:cNvCxnSpPr>
          <p:nvPr/>
        </p:nvCxnSpPr>
        <p:spPr>
          <a:xfrm xmlns:a="http://schemas.openxmlformats.org/drawingml/2006/main">
            <a:off x="5934076" y="3338513"/>
            <a:ext cx="323849"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2" name=""/>
          <p:cNvCxnSpPr>
            <a:stCxn xmlns:a="http://schemas.openxmlformats.org/drawingml/2006/main" id="14" idx="3"/>
            <a:endCxn xmlns:a="http://schemas.openxmlformats.org/drawingml/2006/main" id="17" idx="1"/>
          </p:cNvCxnSpPr>
          <p:nvPr/>
        </p:nvCxnSpPr>
        <p:spPr>
          <a:xfrm xmlns:a="http://schemas.openxmlformats.org/drawingml/2006/main">
            <a:off x="8720138"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1745072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46">
            <a:extLst xmlns:a="http://schemas.openxmlformats.org/drawingml/2006/main">
              <a:ext uri="{FF2B5EF4-FFF2-40B4-BE49-F238E27FC236}">
                <a16:creationId xmlns:a16="http://schemas.microsoft.com/office/drawing/2014/main" id="{DA4F7E58-9020-4D55-94CC-CBE2671101E7}"/>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354E63"/>
                </a:solidFill>
                <a:latin typeface="Meiryo"/>
                <a:ea typeface="Meiryo"/>
                <a:cs typeface="Meiryo"/>
              </a:defRPr>
            </a:pPr>
            <a:r>
              <a:rPr sz="1425" b="1">
                <a:solidFill>
                  <a:srgbClr val="354E63"/>
                </a:solidFill>
                <a:latin typeface="Meiryo"/>
                <a:ea typeface="Meiryo"/>
                <a:cs typeface="Meiryo"/>
              </a:rPr>
              <a:t>全体像</a:t>
            </a:r>
          </a:p>
        </p:txBody>
      </p:sp>
      <p:sp>
        <p:nvSpPr>
          <p:cNvPr id="2" name="text-47">
            <a:extLst xmlns:a="http://schemas.openxmlformats.org/drawingml/2006/main">
              <a:ext uri="{FF2B5EF4-FFF2-40B4-BE49-F238E27FC236}">
                <a16:creationId xmlns:a16="http://schemas.microsoft.com/office/drawing/2014/main" id="{ACB1CF5A-C5F6-41F3-81B5-DB66D434D55B}"/>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5つの公開コマンドと操作画面</a:t>
            </a:r>
          </a:p>
        </p:txBody>
      </p:sp>
      <p:sp>
        <p:nvSpPr>
          <p:cNvPr id="3" name="text-48">
            <a:extLst xmlns:a="http://schemas.openxmlformats.org/drawingml/2006/main">
              <a:ext uri="{FF2B5EF4-FFF2-40B4-BE49-F238E27FC236}">
                <a16:creationId xmlns:a16="http://schemas.microsoft.com/office/drawing/2014/main" id="{3E703DEF-610B-406D-ADBF-F9B075820229}"/>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通常の操作は、目的別の入口から始める</a:t>
            </a:r>
          </a:p>
        </p:txBody>
      </p:sp>
      <p:sp>
        <p:nvSpPr>
          <p:cNvPr id="4" name="rule-49">
            <a:extLst xmlns:a="http://schemas.openxmlformats.org/drawingml/2006/main">
              <a:ext uri="{FF2B5EF4-FFF2-40B4-BE49-F238E27FC236}">
                <a16:creationId xmlns:a16="http://schemas.microsoft.com/office/drawing/2014/main" id="{6DE15622-EE84-4A3C-9424-429B5458198D}"/>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50">
            <a:extLst xmlns:a="http://schemas.openxmlformats.org/drawingml/2006/main">
              <a:ext uri="{FF2B5EF4-FFF2-40B4-BE49-F238E27FC236}">
                <a16:creationId xmlns:a16="http://schemas.microsoft.com/office/drawing/2014/main" id="{4F68B229-5F81-4C65-94DE-96C7EB418766}"/>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4E63"/>
                </a:solidFill>
                <a:latin typeface="Meiryo"/>
                <a:ea typeface="Meiryo"/>
                <a:cs typeface="Meiryo"/>
              </a:defRPr>
            </a:pPr>
            <a:r>
              <a:rPr sz="1800" b="1">
                <a:solidFill>
                  <a:srgbClr val="354E63"/>
                </a:solidFill>
                <a:latin typeface="Meiryo"/>
                <a:ea typeface="Meiryo"/>
                <a:cs typeface="Meiryo"/>
              </a:rPr>
              <a:t>内部連携用コマンドは、公開入口と区別して扱う</a:t>
            </a:r>
          </a:p>
        </p:txBody>
      </p:sp>
      <p:sp>
        <p:nvSpPr>
          <p:cNvPr id="6" name="text-51">
            <a:extLst xmlns:a="http://schemas.openxmlformats.org/drawingml/2006/main">
              <a:ext uri="{FF2B5EF4-FFF2-40B4-BE49-F238E27FC236}">
                <a16:creationId xmlns:a16="http://schemas.microsoft.com/office/drawing/2014/main" id="{647307A6-FE32-40DE-9602-3788CA839C4B}"/>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05</a:t>
            </a:r>
          </a:p>
        </p:txBody>
      </p:sp>
      <p:graphicFrame>
        <p:nvGraphicFramePr>
          <p:cNvPr id="14" name=""/>
          <p:cNvGraphicFramePr/>
          <p:nvPr/>
        </p:nvGraphicFramePr>
        <p:xfrm>
          <a:off xmlns:a="http://schemas.openxmlformats.org/drawingml/2006/main" x="685800" y="2057400"/>
          <a:ext xmlns:a="http://schemas.openxmlformats.org/drawingml/2006/main" cx="10820400" cy="3619500"/>
        </p:xfrm>
        <a:graphic xmlns:a="http://schemas.openxmlformats.org/drawingml/2006/main">
          <a:graphicData uri="http://schemas.openxmlformats.org/drawingml/2006/table">
            <a:tbl>
              <a:tblPr/>
              <a:tblGrid>
                <a:gridCol w="7381875"/>
                <a:gridCol w="3438525"/>
              </a:tblGrid>
              <a:tr h="495300">
                <a:tc>
                  <a:txBody>
                    <a:bodyPr wrap="square" lIns="133350" tIns="76200" rIns="114300" bIns="76200">
                      <a:noAutofit/>
                    </a:bodyPr>
                    <a:lstStyle/>
                    <a:p>
                      <a:r>
                        <a:rPr sz="1725" b="1">
                          <a:solidFill>
                            <a:srgbClr val="FFFFFF"/>
                          </a:solidFill>
                          <a:latin typeface="Meiryo"/>
                          <a:ea typeface="Meiryo"/>
                          <a:cs typeface="Meiryo"/>
                        </a:rPr>
                        <a:t>Command Paletteの表示名</a:t>
                      </a:r>
                    </a:p>
                  </a:txBody>
                  <a:tcPr marL="91440" marR="91440" marT="45720" marB="45720" anchor="ctr">
                    <a:solidFill>
                      <a:srgbClr val="354E63"/>
                    </a:solidFill>
                  </a:tcPr>
                </a:tc>
                <a:tc>
                  <a:txBody>
                    <a:bodyPr wrap="square" lIns="133350" tIns="76200" rIns="114300" bIns="76200">
                      <a:noAutofit/>
                    </a:bodyPr>
                    <a:lstStyle/>
                    <a:p>
                      <a:r>
                        <a:rPr sz="1725" b="1">
                          <a:solidFill>
                            <a:srgbClr val="FFFFFF"/>
                          </a:solidFill>
                          <a:latin typeface="Meiryo"/>
                          <a:ea typeface="Meiryo"/>
                          <a:cs typeface="Meiryo"/>
                        </a:rPr>
                        <a:t>用途</a:t>
                      </a:r>
                    </a:p>
                  </a:txBody>
                  <a:tcPr marL="91440" marR="91440" marT="45720" marB="45720" anchor="ctr">
                    <a:solidFill>
                      <a:srgbClr val="354E63"/>
                    </a:solidFill>
                  </a:tcPr>
                </a:tc>
              </a:tr>
              <a:tr h="624840">
                <a:tc>
                  <a:txBody>
                    <a:bodyPr wrap="square" lIns="133350" tIns="76200" rIns="114300" bIns="76200">
                      <a:noAutofit/>
                    </a:bodyPr>
                    <a:lstStyle/>
                    <a:p>
                      <a:r>
                        <a:rPr sz="1725" b="0">
                          <a:solidFill>
                            <a:srgbClr val="172A3A"/>
                          </a:solidFill>
                          <a:latin typeface="Meiryo"/>
                          <a:ea typeface="Meiryo"/>
                          <a:cs typeface="Meiryo"/>
                        </a:rPr>
                        <a:t>Bob: 操作ハブを開く</a:t>
                      </a:r>
                    </a:p>
                  </a:txBody>
                  <a:tcPr marL="91440" marR="91440" marT="45720" marB="45720" anchor="ctr">
                    <a:solidFill>
                      <a:srgbClr val="F5F8FA"/>
                    </a:solidFill>
                  </a:tcPr>
                </a:tc>
                <a:tc>
                  <a:txBody>
                    <a:bodyPr wrap="square" lIns="133350" tIns="76200" rIns="114300" bIns="76200">
                      <a:noAutofit/>
                    </a:bodyPr>
                    <a:lstStyle/>
                    <a:p>
                      <a:r>
                        <a:rPr sz="1725" b="0">
                          <a:solidFill>
                            <a:srgbClr val="172A3A"/>
                          </a:solidFill>
                          <a:latin typeface="Meiryo"/>
                          <a:ea typeface="Meiryo"/>
                          <a:cs typeface="Meiryo"/>
                        </a:rPr>
                        <a:t>ワークフロー選択・実行状況・再開</a:t>
                      </a:r>
                    </a:p>
                  </a:txBody>
                  <a:tcPr marL="91440" marR="91440" marT="45720" marB="45720" anchor="ctr">
                    <a:solidFill>
                      <a:srgbClr val="F5F8FA"/>
                    </a:solidFill>
                  </a:tcPr>
                </a:tc>
              </a:tr>
              <a:tr h="624840">
                <a:tc>
                  <a:txBody>
                    <a:bodyPr wrap="square" lIns="133350" tIns="76200" rIns="114300" bIns="76200">
                      <a:noAutofit/>
                    </a:bodyPr>
                    <a:lstStyle/>
                    <a:p>
                      <a:r>
                        <a:rPr sz="1725" b="0">
                          <a:solidFill>
                            <a:srgbClr val="172A3A"/>
                          </a:solidFill>
                          <a:latin typeface="Meiryo"/>
                          <a:ea typeface="Meiryo"/>
                          <a:cs typeface="Meiryo"/>
                        </a:rPr>
                        <a:t>Bob Workflow: ワークフローを作成・編集</a:t>
                      </a:r>
                    </a:p>
                  </a:txBody>
                  <a:tcPr marL="91440" marR="91440" marT="45720" marB="45720" anchor="ctr">
                    <a:solidFill>
                      <a:srgbClr val="FFFFFF"/>
                    </a:solidFill>
                  </a:tcPr>
                </a:tc>
                <a:tc>
                  <a:txBody>
                    <a:bodyPr wrap="square" lIns="133350" tIns="76200" rIns="114300" bIns="76200">
                      <a:noAutofit/>
                    </a:bodyPr>
                    <a:lstStyle/>
                    <a:p>
                      <a:r>
                        <a:rPr sz="1725" b="0">
                          <a:solidFill>
                            <a:srgbClr val="172A3A"/>
                          </a:solidFill>
                          <a:latin typeface="Meiryo"/>
                          <a:ea typeface="Meiryo"/>
                          <a:cs typeface="Meiryo"/>
                        </a:rPr>
                        <a:t>定義の作成・編集</a:t>
                      </a:r>
                    </a:p>
                    <a:p>
                      <a:r>
                        <a:rPr sz="1725" b="0">
                          <a:solidFill>
                            <a:srgbClr val="172A3A"/>
                          </a:solidFill>
                          <a:latin typeface="Meiryo"/>
                          <a:ea typeface="Meiryo"/>
                          <a:cs typeface="Meiryo"/>
                        </a:rPr>
                        <a:t>テンプレートの利用</a:t>
                      </a:r>
                    </a:p>
                  </a:txBody>
                  <a:tcPr marL="91440" marR="91440" marT="45720" marB="45720" anchor="ctr">
                    <a:solidFill>
                      <a:srgbClr val="FFFFFF"/>
                    </a:solidFill>
                  </a:tcPr>
                </a:tc>
              </a:tr>
              <a:tr h="624840">
                <a:tc>
                  <a:txBody>
                    <a:bodyPr wrap="square" lIns="133350" tIns="76200" rIns="114300" bIns="76200">
                      <a:noAutofit/>
                    </a:bodyPr>
                    <a:lstStyle/>
                    <a:p>
                      <a:r>
                        <a:rPr sz="1725" b="0">
                          <a:solidFill>
                            <a:srgbClr val="172A3A"/>
                          </a:solidFill>
                          <a:latin typeface="Meiryo"/>
                          <a:ea typeface="Meiryo"/>
                          <a:cs typeface="Meiryo"/>
                        </a:rPr>
                        <a:t>Bob Bazaar Review: レビューを開始</a:t>
                      </a:r>
                    </a:p>
                  </a:txBody>
                  <a:tcPr marL="91440" marR="91440" marT="45720" marB="45720" anchor="ctr">
                    <a:solidFill>
                      <a:srgbClr val="F5F8FA"/>
                    </a:solidFill>
                  </a:tcPr>
                </a:tc>
                <a:tc>
                  <a:txBody>
                    <a:bodyPr wrap="square" lIns="133350" tIns="76200" rIns="114300" bIns="76200">
                      <a:noAutofit/>
                    </a:bodyPr>
                    <a:lstStyle/>
                    <a:p>
                      <a:r>
                        <a:rPr sz="1725" b="0">
                          <a:solidFill>
                            <a:srgbClr val="172A3A"/>
                          </a:solidFill>
                          <a:latin typeface="Meiryo"/>
                          <a:ea typeface="Meiryo"/>
                          <a:cs typeface="Meiryo"/>
                        </a:rPr>
                        <a:t>Bazaarレビューの準備から実績確認</a:t>
                      </a:r>
                    </a:p>
                  </a:txBody>
                  <a:tcPr marL="91440" marR="91440" marT="45720" marB="45720" anchor="ctr">
                    <a:solidFill>
                      <a:srgbClr val="F5F8FA"/>
                    </a:solidFill>
                  </a:tcPr>
                </a:tc>
              </a:tr>
              <a:tr h="624840">
                <a:tc>
                  <a:txBody>
                    <a:bodyPr wrap="square" lIns="133350" tIns="76200" rIns="114300" bIns="76200">
                      <a:noAutofit/>
                    </a:bodyPr>
                    <a:lstStyle/>
                    <a:p>
                      <a:r>
                        <a:rPr sz="1725" b="0">
                          <a:solidFill>
                            <a:srgbClr val="172A3A"/>
                          </a:solidFill>
                          <a:latin typeface="Meiryo"/>
                          <a:ea typeface="Meiryo"/>
                          <a:cs typeface="Meiryo"/>
                        </a:rPr>
                        <a:t>Bob Bazaar Review: 資料からプロジェクト規約を作成</a:t>
                      </a:r>
                    </a:p>
                  </a:txBody>
                  <a:tcPr marL="91440" marR="91440" marT="45720" marB="45720" anchor="ctr">
                    <a:solidFill>
                      <a:srgbClr val="FFFFFF"/>
                    </a:solidFill>
                  </a:tcPr>
                </a:tc>
                <a:tc>
                  <a:txBody>
                    <a:bodyPr wrap="square" lIns="133350" tIns="76200" rIns="114300" bIns="76200">
                      <a:noAutofit/>
                    </a:bodyPr>
                    <a:lstStyle/>
                    <a:p>
                      <a:r>
                        <a:rPr sz="1725" b="0">
                          <a:solidFill>
                            <a:srgbClr val="172A3A"/>
                          </a:solidFill>
                          <a:latin typeface="Meiryo"/>
                          <a:ea typeface="Meiryo"/>
                          <a:cs typeface="Meiryo"/>
                        </a:rPr>
                        <a:t>資料を使う規約作成の準備</a:t>
                      </a:r>
                    </a:p>
                  </a:txBody>
                  <a:tcPr marL="91440" marR="91440" marT="45720" marB="45720" anchor="ctr">
                    <a:solidFill>
                      <a:srgbClr val="FFFFFF"/>
                    </a:solidFill>
                  </a:tcPr>
                </a:tc>
              </a:tr>
              <a:tr h="624840">
                <a:tc>
                  <a:txBody>
                    <a:bodyPr wrap="square" lIns="133350" tIns="76200" rIns="114300" bIns="76200">
                      <a:noAutofit/>
                    </a:bodyPr>
                    <a:lstStyle/>
                    <a:p>
                      <a:r>
                        <a:rPr sz="1725" b="0">
                          <a:solidFill>
                            <a:srgbClr val="172A3A"/>
                          </a:solidFill>
                          <a:latin typeface="Meiryo"/>
                          <a:ea typeface="Meiryo"/>
                          <a:cs typeface="Meiryo"/>
                        </a:rPr>
                        <a:t>Bob Code Consistency Review: 整合プレレビューを開始</a:t>
                      </a:r>
                    </a:p>
                  </a:txBody>
                  <a:tcPr marL="91440" marR="91440" marT="45720" marB="45720" anchor="ctr">
                    <a:solidFill>
                      <a:srgbClr val="F5F8FA"/>
                    </a:solidFill>
                  </a:tcPr>
                </a:tc>
                <a:tc>
                  <a:txBody>
                    <a:bodyPr wrap="square" lIns="133350" tIns="76200" rIns="114300" bIns="76200">
                      <a:noAutofit/>
                    </a:bodyPr>
                    <a:lstStyle/>
                    <a:p>
                      <a:r>
                        <a:rPr sz="1725" b="0">
                          <a:solidFill>
                            <a:srgbClr val="172A3A"/>
                          </a:solidFill>
                          <a:latin typeface="Meiryo"/>
                          <a:ea typeface="Meiryo"/>
                          <a:cs typeface="Meiryo"/>
                        </a:rPr>
                        <a:t>入力から指摘の振り分けまで</a:t>
                      </a:r>
                    </a:p>
                  </a:txBody>
                  <a:tcPr marL="91440" marR="91440" marT="45720" marB="45720" anchor="ctr">
                    <a:solidFill>
                      <a:srgbClr val="F5F8FA"/>
                    </a:solidFill>
                  </a:tcPr>
                </a:tc>
              </a:tr>
            </a:tbl>
          </a:graphicData>
        </a:graphic>
      </p:graphicFrame>
    </p:spTree>
    <p:extLst>
      <p:ext uri="{BB962C8B-B14F-4D97-AF65-F5344CB8AC3E}">
        <p14:creationId xmlns:p14="http://schemas.microsoft.com/office/powerpoint/2010/main" val="2633389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52">
            <a:extLst xmlns:a="http://schemas.openxmlformats.org/drawingml/2006/main">
              <a:ext uri="{FF2B5EF4-FFF2-40B4-BE49-F238E27FC236}">
                <a16:creationId xmlns:a16="http://schemas.microsoft.com/office/drawing/2014/main" id="{C8AC1616-4A32-47A1-9660-0174040C668E}"/>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4A8"/>
                </a:solidFill>
                <a:latin typeface="Meiryo"/>
                <a:ea typeface="Meiryo"/>
                <a:cs typeface="Meiryo"/>
              </a:defRPr>
            </a:pPr>
            <a:r>
              <a:rPr sz="1425" b="1">
                <a:solidFill>
                  <a:srgbClr val="2264A8"/>
                </a:solidFill>
                <a:latin typeface="Meiryo"/>
                <a:ea typeface="Meiryo"/>
                <a:cs typeface="Meiryo"/>
              </a:rPr>
              <a:t>ワークフロー管理</a:t>
            </a:r>
          </a:p>
        </p:txBody>
      </p:sp>
      <p:sp>
        <p:nvSpPr>
          <p:cNvPr id="2" name="text-53">
            <a:extLst xmlns:a="http://schemas.openxmlformats.org/drawingml/2006/main">
              <a:ext uri="{FF2B5EF4-FFF2-40B4-BE49-F238E27FC236}">
                <a16:creationId xmlns:a16="http://schemas.microsoft.com/office/drawing/2014/main" id="{9EF8D140-A4CF-43D7-831D-6DB1E1AC23D5}"/>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ワークフロー管理の用途と操作ハブ</a:t>
            </a:r>
          </a:p>
        </p:txBody>
      </p:sp>
      <p:sp>
        <p:nvSpPr>
          <p:cNvPr id="3" name="text-54">
            <a:extLst xmlns:a="http://schemas.openxmlformats.org/drawingml/2006/main">
              <a:ext uri="{FF2B5EF4-FFF2-40B4-BE49-F238E27FC236}">
                <a16:creationId xmlns:a16="http://schemas.microsoft.com/office/drawing/2014/main" id="{7EC7D2EF-A9AE-458E-A987-5FDFC23B39AE}"/>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繰り返す作業を、状態と成果物を持つ手順にする</a:t>
            </a:r>
          </a:p>
        </p:txBody>
      </p:sp>
      <p:sp>
        <p:nvSpPr>
          <p:cNvPr id="4" name="rule-55">
            <a:extLst xmlns:a="http://schemas.openxmlformats.org/drawingml/2006/main">
              <a:ext uri="{FF2B5EF4-FFF2-40B4-BE49-F238E27FC236}">
                <a16:creationId xmlns:a16="http://schemas.microsoft.com/office/drawing/2014/main" id="{A092B8AB-9F64-4A9D-92B6-3AB257A984F3}"/>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56">
            <a:extLst xmlns:a="http://schemas.openxmlformats.org/drawingml/2006/main">
              <a:ext uri="{FF2B5EF4-FFF2-40B4-BE49-F238E27FC236}">
                <a16:creationId xmlns:a16="http://schemas.microsoft.com/office/drawing/2014/main" id="{7E706919-CB38-4685-8C3F-9D80FB20A1C0}"/>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264A8"/>
                </a:solidFill>
                <a:latin typeface="Meiryo"/>
                <a:ea typeface="Meiryo"/>
                <a:cs typeface="Meiryo"/>
              </a:defRPr>
            </a:pPr>
            <a:r>
              <a:rPr sz="1800" b="1">
                <a:solidFill>
                  <a:srgbClr val="2264A8"/>
                </a:solidFill>
                <a:latin typeface="Meiryo"/>
                <a:ea typeface="Meiryo"/>
                <a:cs typeface="Meiryo"/>
              </a:rPr>
              <a:t>「Bob 操作ハブ」で、実行の状況と次の操作を確認する</a:t>
            </a:r>
          </a:p>
        </p:txBody>
      </p:sp>
      <p:sp>
        <p:nvSpPr>
          <p:cNvPr id="6" name="text-57">
            <a:extLst xmlns:a="http://schemas.openxmlformats.org/drawingml/2006/main">
              <a:ext uri="{FF2B5EF4-FFF2-40B4-BE49-F238E27FC236}">
                <a16:creationId xmlns:a16="http://schemas.microsoft.com/office/drawing/2014/main" id="{A700D1BA-13AF-4BF6-B0C0-DEE5BBA13222}"/>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06</a:t>
            </a:r>
          </a:p>
        </p:txBody>
      </p:sp>
      <p:sp>
        <p:nvSpPr>
          <p:cNvPr id="7" name="text-58">
            <a:extLst xmlns:a="http://schemas.openxmlformats.org/drawingml/2006/main">
              <a:ext uri="{FF2B5EF4-FFF2-40B4-BE49-F238E27FC236}">
                <a16:creationId xmlns:a16="http://schemas.microsoft.com/office/drawing/2014/main" id="{72612E8E-77EB-4718-AC90-AD73FD2203B3}"/>
              </a:ext>
            </a:extLst>
          </p:cNvPr>
          <p:cNvSpPr>
            <a:spLocks xmlns:a="http://schemas.openxmlformats.org/drawingml/2006/main" noGrp="1"/>
          </p:cNvSpPr>
          <p:nvPr/>
        </p:nvSpPr>
        <p:spPr>
          <a:xfrm xmlns:a="http://schemas.openxmlformats.org/drawingml/2006/main">
            <a:off x="68580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64A8"/>
                </a:solidFill>
                <a:latin typeface="Meiryo"/>
                <a:ea typeface="Meiryo"/>
                <a:cs typeface="Meiryo"/>
              </a:defRPr>
            </a:pPr>
            <a:r>
              <a:rPr sz="2250" b="1">
                <a:solidFill>
                  <a:srgbClr val="2264A8"/>
                </a:solidFill>
                <a:latin typeface="Meiryo"/>
                <a:ea typeface="Meiryo"/>
                <a:cs typeface="Meiryo"/>
              </a:rPr>
              <a:t>手順を選んで実行</a:t>
            </a:r>
          </a:p>
        </p:txBody>
      </p:sp>
      <p:sp>
        <p:nvSpPr>
          <p:cNvPr id="8" name="rule-59">
            <a:extLst xmlns:a="http://schemas.openxmlformats.org/drawingml/2006/main">
              <a:ext uri="{FF2B5EF4-FFF2-40B4-BE49-F238E27FC236}">
                <a16:creationId xmlns:a16="http://schemas.microsoft.com/office/drawing/2014/main" id="{E5D53189-7C46-4726-949A-B18F6BB39B9B}"/>
              </a:ext>
            </a:extLst>
          </p:cNvPr>
          <p:cNvSpPr>
            <a:spLocks xmlns:a="http://schemas.openxmlformats.org/drawingml/2006/main" noGrp="1"/>
          </p:cNvSpPr>
          <p:nvPr/>
        </p:nvSpPr>
        <p:spPr>
          <a:xfrm xmlns:a="http://schemas.openxmlformats.org/drawingml/2006/main">
            <a:off x="685800" y="3438525"/>
            <a:ext cx="3314700" cy="0"/>
          </a:xfrm>
          <a:prstGeom xmlns:a="http://schemas.openxmlformats.org/drawingml/2006/main" prst="line">
            <a:avLst/>
          </a:prstGeom>
          <a:noFill xmlns:a="http://schemas.openxmlformats.org/drawingml/2006/main"/>
          <a:ln xmlns:a="http://schemas.openxmlformats.org/drawingml/2006/main" w="9525">
            <a:solidFill>
              <a:srgbClr val="2264A8"/>
            </a:solidFill>
          </a:ln>
        </p:spPr>
      </p:sp>
      <p:sp>
        <p:nvSpPr>
          <p:cNvPr id="9" name="text-60">
            <a:extLst xmlns:a="http://schemas.openxmlformats.org/drawingml/2006/main">
              <a:ext uri="{FF2B5EF4-FFF2-40B4-BE49-F238E27FC236}">
                <a16:creationId xmlns:a16="http://schemas.microsoft.com/office/drawing/2014/main" id="{F9C3D535-726A-4180-816C-C273BBBE97DD}"/>
              </a:ext>
            </a:extLst>
          </p:cNvPr>
          <p:cNvSpPr>
            <a:spLocks xmlns:a="http://schemas.openxmlformats.org/drawingml/2006/main" noGrp="1"/>
          </p:cNvSpPr>
          <p:nvPr/>
        </p:nvSpPr>
        <p:spPr>
          <a:xfrm xmlns:a="http://schemas.openxmlformats.org/drawingml/2006/main">
            <a:off x="68580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カタログから対象を選択</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入力値と実行条件を確認</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現在のステップを把握</a:t>
            </a:r>
          </a:p>
        </p:txBody>
      </p:sp>
      <p:sp>
        <p:nvSpPr>
          <p:cNvPr id="10" name="text-61">
            <a:extLst xmlns:a="http://schemas.openxmlformats.org/drawingml/2006/main">
              <a:ext uri="{FF2B5EF4-FFF2-40B4-BE49-F238E27FC236}">
                <a16:creationId xmlns:a16="http://schemas.microsoft.com/office/drawing/2014/main" id="{FFD3B881-732D-4672-9501-7B4EA242130F}"/>
              </a:ext>
            </a:extLst>
          </p:cNvPr>
          <p:cNvSpPr>
            <a:spLocks xmlns:a="http://schemas.openxmlformats.org/drawingml/2006/main" noGrp="1"/>
          </p:cNvSpPr>
          <p:nvPr/>
        </p:nvSpPr>
        <p:spPr>
          <a:xfrm xmlns:a="http://schemas.openxmlformats.org/drawingml/2006/main">
            <a:off x="443865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64A8"/>
                </a:solidFill>
                <a:latin typeface="Meiryo"/>
                <a:ea typeface="Meiryo"/>
                <a:cs typeface="Meiryo"/>
              </a:defRPr>
            </a:pPr>
            <a:r>
              <a:rPr sz="2250" b="1">
                <a:solidFill>
                  <a:srgbClr val="2264A8"/>
                </a:solidFill>
                <a:latin typeface="Meiryo"/>
                <a:ea typeface="Meiryo"/>
                <a:cs typeface="Meiryo"/>
              </a:rPr>
              <a:t>途中で判断・復旧</a:t>
            </a:r>
          </a:p>
        </p:txBody>
      </p:sp>
      <p:sp>
        <p:nvSpPr>
          <p:cNvPr id="11" name="rule-62">
            <a:extLst xmlns:a="http://schemas.openxmlformats.org/drawingml/2006/main">
              <a:ext uri="{FF2B5EF4-FFF2-40B4-BE49-F238E27FC236}">
                <a16:creationId xmlns:a16="http://schemas.microsoft.com/office/drawing/2014/main" id="{88DC6A26-5066-4FF9-9CA2-1B3BD6DFFB6B}"/>
              </a:ext>
            </a:extLst>
          </p:cNvPr>
          <p:cNvSpPr>
            <a:spLocks xmlns:a="http://schemas.openxmlformats.org/drawingml/2006/main" noGrp="1"/>
          </p:cNvSpPr>
          <p:nvPr/>
        </p:nvSpPr>
        <p:spPr>
          <a:xfrm xmlns:a="http://schemas.openxmlformats.org/drawingml/2006/main">
            <a:off x="4438650" y="3438525"/>
            <a:ext cx="3314700" cy="0"/>
          </a:xfrm>
          <a:prstGeom xmlns:a="http://schemas.openxmlformats.org/drawingml/2006/main" prst="line">
            <a:avLst/>
          </a:prstGeom>
          <a:noFill xmlns:a="http://schemas.openxmlformats.org/drawingml/2006/main"/>
          <a:ln xmlns:a="http://schemas.openxmlformats.org/drawingml/2006/main" w="9525">
            <a:solidFill>
              <a:srgbClr val="2264A8"/>
            </a:solidFill>
          </a:ln>
        </p:spPr>
      </p:sp>
      <p:sp>
        <p:nvSpPr>
          <p:cNvPr id="12" name="text-63">
            <a:extLst xmlns:a="http://schemas.openxmlformats.org/drawingml/2006/main">
              <a:ext uri="{FF2B5EF4-FFF2-40B4-BE49-F238E27FC236}">
                <a16:creationId xmlns:a16="http://schemas.microsoft.com/office/drawing/2014/main" id="{1B1461B0-796F-4F6F-B66F-4B61CF8329A1}"/>
              </a:ext>
            </a:extLst>
          </p:cNvPr>
          <p:cNvSpPr>
            <a:spLocks xmlns:a="http://schemas.openxmlformats.org/drawingml/2006/main" noGrp="1"/>
          </p:cNvSpPr>
          <p:nvPr/>
        </p:nvSpPr>
        <p:spPr>
          <a:xfrm xmlns:a="http://schemas.openxmlformats.org/drawingml/2006/main">
            <a:off x="443865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承認、差し戻し、再試行</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停止後の再開</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成果物と診断の確認</a:t>
            </a:r>
          </a:p>
        </p:txBody>
      </p:sp>
      <p:sp>
        <p:nvSpPr>
          <p:cNvPr id="13" name="text-64">
            <a:extLst xmlns:a="http://schemas.openxmlformats.org/drawingml/2006/main">
              <a:ext uri="{FF2B5EF4-FFF2-40B4-BE49-F238E27FC236}">
                <a16:creationId xmlns:a16="http://schemas.microsoft.com/office/drawing/2014/main" id="{4EB90D82-435F-48CD-8C94-89C91A946B7E}"/>
              </a:ext>
            </a:extLst>
          </p:cNvPr>
          <p:cNvSpPr>
            <a:spLocks xmlns:a="http://schemas.openxmlformats.org/drawingml/2006/main" noGrp="1"/>
          </p:cNvSpPr>
          <p:nvPr/>
        </p:nvSpPr>
        <p:spPr>
          <a:xfrm xmlns:a="http://schemas.openxmlformats.org/drawingml/2006/main">
            <a:off x="819150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64A8"/>
                </a:solidFill>
                <a:latin typeface="Meiryo"/>
                <a:ea typeface="Meiryo"/>
                <a:cs typeface="Meiryo"/>
              </a:defRPr>
            </a:pPr>
            <a:r>
              <a:rPr sz="2250" b="1">
                <a:solidFill>
                  <a:srgbClr val="2264A8"/>
                </a:solidFill>
                <a:latin typeface="Meiryo"/>
                <a:ea typeface="Meiryo"/>
                <a:cs typeface="Meiryo"/>
              </a:rPr>
              <a:t>履歴を管理</a:t>
            </a:r>
          </a:p>
        </p:txBody>
      </p:sp>
      <p:sp>
        <p:nvSpPr>
          <p:cNvPr id="14" name="rule-65">
            <a:extLst xmlns:a="http://schemas.openxmlformats.org/drawingml/2006/main">
              <a:ext uri="{FF2B5EF4-FFF2-40B4-BE49-F238E27FC236}">
                <a16:creationId xmlns:a16="http://schemas.microsoft.com/office/drawing/2014/main" id="{35A45B34-00FB-4CAF-85DD-DE847D13E1F9}"/>
              </a:ext>
            </a:extLst>
          </p:cNvPr>
          <p:cNvSpPr>
            <a:spLocks xmlns:a="http://schemas.openxmlformats.org/drawingml/2006/main" noGrp="1"/>
          </p:cNvSpPr>
          <p:nvPr/>
        </p:nvSpPr>
        <p:spPr>
          <a:xfrm xmlns:a="http://schemas.openxmlformats.org/drawingml/2006/main">
            <a:off x="8191500" y="3438525"/>
            <a:ext cx="3314700" cy="0"/>
          </a:xfrm>
          <a:prstGeom xmlns:a="http://schemas.openxmlformats.org/drawingml/2006/main" prst="line">
            <a:avLst/>
          </a:prstGeom>
          <a:noFill xmlns:a="http://schemas.openxmlformats.org/drawingml/2006/main"/>
          <a:ln xmlns:a="http://schemas.openxmlformats.org/drawingml/2006/main" w="9525">
            <a:solidFill>
              <a:srgbClr val="2264A8"/>
            </a:solidFill>
          </a:ln>
        </p:spPr>
      </p:sp>
      <p:sp>
        <p:nvSpPr>
          <p:cNvPr id="15" name="text-66">
            <a:extLst xmlns:a="http://schemas.openxmlformats.org/drawingml/2006/main">
              <a:ext uri="{FF2B5EF4-FFF2-40B4-BE49-F238E27FC236}">
                <a16:creationId xmlns:a16="http://schemas.microsoft.com/office/drawing/2014/main" id="{6CBF39EE-39CE-43FB-8C16-AFF6170E39C7}"/>
              </a:ext>
            </a:extLst>
          </p:cNvPr>
          <p:cNvSpPr>
            <a:spLocks xmlns:a="http://schemas.openxmlformats.org/drawingml/2006/main" noGrp="1"/>
          </p:cNvSpPr>
          <p:nvPr/>
        </p:nvSpPr>
        <p:spPr>
          <a:xfrm xmlns:a="http://schemas.openxmlformats.org/drawingml/2006/main">
            <a:off x="819150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実行履歴と保存容量の確認</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保護する履歴をpin</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候補を確認して手動整理</a:t>
            </a:r>
          </a:p>
        </p:txBody>
      </p:sp>
    </p:spTree>
    <p:extLst>
      <p:ext uri="{BB962C8B-B14F-4D97-AF65-F5344CB8AC3E}">
        <p14:creationId xmlns:p14="http://schemas.microsoft.com/office/powerpoint/2010/main" val="4793651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67">
            <a:extLst xmlns:a="http://schemas.openxmlformats.org/drawingml/2006/main">
              <a:ext uri="{FF2B5EF4-FFF2-40B4-BE49-F238E27FC236}">
                <a16:creationId xmlns:a16="http://schemas.microsoft.com/office/drawing/2014/main" id="{D3BFCD95-8B03-4268-AA88-CA369EF69E1E}"/>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4A8"/>
                </a:solidFill>
                <a:latin typeface="Meiryo"/>
                <a:ea typeface="Meiryo"/>
                <a:cs typeface="Meiryo"/>
              </a:defRPr>
            </a:pPr>
            <a:r>
              <a:rPr sz="1425" b="1">
                <a:solidFill>
                  <a:srgbClr val="2264A8"/>
                </a:solidFill>
                <a:latin typeface="Meiryo"/>
                <a:ea typeface="Meiryo"/>
                <a:cs typeface="Meiryo"/>
              </a:rPr>
              <a:t>ワークフロー管理</a:t>
            </a:r>
          </a:p>
        </p:txBody>
      </p:sp>
      <p:sp>
        <p:nvSpPr>
          <p:cNvPr id="2" name="text-68">
            <a:extLst xmlns:a="http://schemas.openxmlformats.org/drawingml/2006/main">
              <a:ext uri="{FF2B5EF4-FFF2-40B4-BE49-F238E27FC236}">
                <a16:creationId xmlns:a16="http://schemas.microsoft.com/office/drawing/2014/main" id="{5AB67BA9-817B-4C39-B387-05C3C7051BAC}"/>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ワークフロー管理の内部構成</a:t>
            </a:r>
          </a:p>
        </p:txBody>
      </p:sp>
      <p:sp>
        <p:nvSpPr>
          <p:cNvPr id="3" name="text-69">
            <a:extLst xmlns:a="http://schemas.openxmlformats.org/drawingml/2006/main">
              <a:ext uri="{FF2B5EF4-FFF2-40B4-BE49-F238E27FC236}">
                <a16:creationId xmlns:a16="http://schemas.microsoft.com/office/drawing/2014/main" id="{E3D931FE-5242-4ABD-858D-E3078D9782BB}"/>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定義の読み込み、実行、保存、画面表示を分担する</a:t>
            </a:r>
          </a:p>
        </p:txBody>
      </p:sp>
      <p:sp>
        <p:nvSpPr>
          <p:cNvPr id="4" name="rule-70">
            <a:extLst xmlns:a="http://schemas.openxmlformats.org/drawingml/2006/main">
              <a:ext uri="{FF2B5EF4-FFF2-40B4-BE49-F238E27FC236}">
                <a16:creationId xmlns:a16="http://schemas.microsoft.com/office/drawing/2014/main" id="{E4C7AD50-8AF4-4035-8DB8-04A965C14B7B}"/>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71">
            <a:extLst xmlns:a="http://schemas.openxmlformats.org/drawingml/2006/main">
              <a:ext uri="{FF2B5EF4-FFF2-40B4-BE49-F238E27FC236}">
                <a16:creationId xmlns:a16="http://schemas.microsoft.com/office/drawing/2014/main" id="{1A044E6B-4EF2-4B78-A7EB-9EFB00DC1AE9}"/>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264A8"/>
                </a:solidFill>
                <a:latin typeface="Meiryo"/>
                <a:ea typeface="Meiryo"/>
                <a:cs typeface="Meiryo"/>
              </a:defRPr>
            </a:pPr>
            <a:r>
              <a:rPr sz="1800" b="1">
                <a:solidFill>
                  <a:srgbClr val="2264A8"/>
                </a:solidFill>
                <a:latin typeface="Meiryo"/>
                <a:ea typeface="Meiryo"/>
                <a:cs typeface="Meiryo"/>
              </a:rPr>
              <a:t>画面は状態を表示し、エンジンは手順を進め、storeが状態を保持する</a:t>
            </a:r>
          </a:p>
        </p:txBody>
      </p:sp>
      <p:sp>
        <p:nvSpPr>
          <p:cNvPr id="6" name="text-72">
            <a:extLst xmlns:a="http://schemas.openxmlformats.org/drawingml/2006/main">
              <a:ext uri="{FF2B5EF4-FFF2-40B4-BE49-F238E27FC236}">
                <a16:creationId xmlns:a16="http://schemas.microsoft.com/office/drawing/2014/main" id="{6795ADE2-527C-4C36-A076-592E05A7AFBD}"/>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07</a:t>
            </a:r>
          </a:p>
        </p:txBody>
      </p:sp>
      <p:sp>
        <p:nvSpPr>
          <p:cNvPr id="7" name="node-73">
            <a:extLst xmlns:a="http://schemas.openxmlformats.org/drawingml/2006/main">
              <a:ext uri="{FF2B5EF4-FFF2-40B4-BE49-F238E27FC236}">
                <a16:creationId xmlns:a16="http://schemas.microsoft.com/office/drawing/2014/main" id="{FA36BA57-7D12-47AB-BEB1-A2B76245C6B2}"/>
              </a:ext>
            </a:extLst>
          </p:cNvPr>
          <p:cNvSpPr>
            <a:spLocks xmlns:a="http://schemas.openxmlformats.org/drawingml/2006/main" noGrp="1"/>
          </p:cNvSpPr>
          <p:nvPr/>
        </p:nvSpPr>
        <p:spPr>
          <a:xfrm xmlns:a="http://schemas.openxmlformats.org/drawingml/2006/main">
            <a:off x="685800" y="2162175"/>
            <a:ext cx="3238500" cy="723900"/>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画面とコマンド</a:t>
            </a:r>
          </a:p>
        </p:txBody>
      </p:sp>
      <p:sp>
        <p:nvSpPr>
          <p:cNvPr id="8" name="text-74">
            <a:extLst xmlns:a="http://schemas.openxmlformats.org/drawingml/2006/main">
              <a:ext uri="{FF2B5EF4-FFF2-40B4-BE49-F238E27FC236}">
                <a16:creationId xmlns:a16="http://schemas.microsoft.com/office/drawing/2014/main" id="{4C467578-3680-492E-9FAD-27452D5AAFDB}"/>
              </a:ext>
            </a:extLst>
          </p:cNvPr>
          <p:cNvSpPr>
            <a:spLocks xmlns:a="http://schemas.openxmlformats.org/drawingml/2006/main" noGrp="1"/>
          </p:cNvSpPr>
          <p:nvPr/>
        </p:nvSpPr>
        <p:spPr>
          <a:xfrm xmlns:a="http://schemas.openxmlformats.org/drawingml/2006/main">
            <a:off x="4314825" y="2209800"/>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操作ハブ／Builder／Bob UIから操作を受ける</a:t>
            </a:r>
          </a:p>
        </p:txBody>
      </p:sp>
      <p:sp>
        <p:nvSpPr>
          <p:cNvPr id="9" name="node-75">
            <a:extLst xmlns:a="http://schemas.openxmlformats.org/drawingml/2006/main">
              <a:ext uri="{FF2B5EF4-FFF2-40B4-BE49-F238E27FC236}">
                <a16:creationId xmlns:a16="http://schemas.microsoft.com/office/drawing/2014/main" id="{BD479671-D2B1-4BE2-8F31-39320C3E436A}"/>
              </a:ext>
            </a:extLst>
          </p:cNvPr>
          <p:cNvSpPr>
            <a:spLocks xmlns:a="http://schemas.openxmlformats.org/drawingml/2006/main" noGrp="1"/>
          </p:cNvSpPr>
          <p:nvPr/>
        </p:nvSpPr>
        <p:spPr>
          <a:xfrm xmlns:a="http://schemas.openxmlformats.org/drawingml/2006/main">
            <a:off x="685800" y="3038475"/>
            <a:ext cx="3238500" cy="723900"/>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定義の処理</a:t>
            </a:r>
          </a:p>
        </p:txBody>
      </p:sp>
      <p:sp>
        <p:nvSpPr>
          <p:cNvPr id="10" name="text-76">
            <a:extLst xmlns:a="http://schemas.openxmlformats.org/drawingml/2006/main">
              <a:ext uri="{FF2B5EF4-FFF2-40B4-BE49-F238E27FC236}">
                <a16:creationId xmlns:a16="http://schemas.microsoft.com/office/drawing/2014/main" id="{D536596E-6AA7-4396-9319-067E838B3084}"/>
              </a:ext>
            </a:extLst>
          </p:cNvPr>
          <p:cNvSpPr>
            <a:spLocks xmlns:a="http://schemas.openxmlformats.org/drawingml/2006/main" noGrp="1"/>
          </p:cNvSpPr>
          <p:nvPr/>
        </p:nvSpPr>
        <p:spPr>
          <a:xfrm xmlns:a="http://schemas.openxmlformats.org/drawingml/2006/main">
            <a:off x="4314825" y="3086100"/>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WORKFLOW.mdを解析・検証し、実行用モデルへ変換</a:t>
            </a:r>
          </a:p>
        </p:txBody>
      </p:sp>
      <p:cxnSp>
        <p:nvCxnSpPr>
          <p:cNvPr id="28" name=""/>
          <p:cNvCxnSpPr>
            <a:stCxn xmlns:a="http://schemas.openxmlformats.org/drawingml/2006/main" id="7" idx="2"/>
            <a:endCxn xmlns:a="http://schemas.openxmlformats.org/drawingml/2006/main" id="9" idx="0"/>
          </p:cNvCxnSpPr>
          <p:nvPr/>
        </p:nvCxnSpPr>
        <p:spPr>
          <a:xfrm xmlns:a="http://schemas.openxmlformats.org/drawingml/2006/main">
            <a:off x="2305050" y="2886075"/>
            <a:ext cx="0" cy="15240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
        <p:nvSpPr>
          <p:cNvPr id="12" name="node-77">
            <a:extLst xmlns:a="http://schemas.openxmlformats.org/drawingml/2006/main">
              <a:ext uri="{FF2B5EF4-FFF2-40B4-BE49-F238E27FC236}">
                <a16:creationId xmlns:a16="http://schemas.microsoft.com/office/drawing/2014/main" id="{8A218949-C771-4C79-BC1E-43E6336B0C85}"/>
              </a:ext>
            </a:extLst>
          </p:cNvPr>
          <p:cNvSpPr>
            <a:spLocks xmlns:a="http://schemas.openxmlformats.org/drawingml/2006/main" noGrp="1"/>
          </p:cNvSpPr>
          <p:nvPr/>
        </p:nvSpPr>
        <p:spPr>
          <a:xfrm xmlns:a="http://schemas.openxmlformats.org/drawingml/2006/main">
            <a:off x="685800" y="3914775"/>
            <a:ext cx="3238500" cy="723900"/>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実行エンジン</a:t>
            </a:r>
          </a:p>
        </p:txBody>
      </p:sp>
      <p:sp>
        <p:nvSpPr>
          <p:cNvPr id="13" name="text-78">
            <a:extLst xmlns:a="http://schemas.openxmlformats.org/drawingml/2006/main">
              <a:ext uri="{FF2B5EF4-FFF2-40B4-BE49-F238E27FC236}">
                <a16:creationId xmlns:a16="http://schemas.microsoft.com/office/drawing/2014/main" id="{0D65B882-0CD0-4FD5-98CD-A403C781AADE}"/>
              </a:ext>
            </a:extLst>
          </p:cNvPr>
          <p:cNvSpPr>
            <a:spLocks xmlns:a="http://schemas.openxmlformats.org/drawingml/2006/main" noGrp="1"/>
          </p:cNvSpPr>
          <p:nvPr/>
        </p:nvSpPr>
        <p:spPr>
          <a:xfrm xmlns:a="http://schemas.openxmlformats.org/drawingml/2006/main">
            <a:off x="4314825" y="3962400"/>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providerを呼び出し、承認・分岐・結果保存を制御</a:t>
            </a:r>
          </a:p>
        </p:txBody>
      </p:sp>
      <p:cxnSp>
        <p:nvCxnSpPr>
          <p:cNvPr id="31" name=""/>
          <p:cNvCxnSpPr>
            <a:stCxn xmlns:a="http://schemas.openxmlformats.org/drawingml/2006/main" id="9" idx="2"/>
            <a:endCxn xmlns:a="http://schemas.openxmlformats.org/drawingml/2006/main" id="12" idx="0"/>
          </p:cNvCxnSpPr>
          <p:nvPr/>
        </p:nvCxnSpPr>
        <p:spPr>
          <a:xfrm xmlns:a="http://schemas.openxmlformats.org/drawingml/2006/main">
            <a:off x="2305050" y="3762375"/>
            <a:ext cx="0" cy="15240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
        <p:nvSpPr>
          <p:cNvPr id="15" name="node-79">
            <a:extLst xmlns:a="http://schemas.openxmlformats.org/drawingml/2006/main">
              <a:ext uri="{FF2B5EF4-FFF2-40B4-BE49-F238E27FC236}">
                <a16:creationId xmlns:a16="http://schemas.microsoft.com/office/drawing/2014/main" id="{EEFF9D0C-EEAD-40CF-9C24-ABC58BA14232}"/>
              </a:ext>
            </a:extLst>
          </p:cNvPr>
          <p:cNvSpPr>
            <a:spLocks xmlns:a="http://schemas.openxmlformats.org/drawingml/2006/main" noGrp="1"/>
          </p:cNvSpPr>
          <p:nvPr/>
        </p:nvSpPr>
        <p:spPr>
          <a:xfrm xmlns:a="http://schemas.openxmlformats.org/drawingml/2006/main">
            <a:off x="685800" y="4791075"/>
            <a:ext cx="3238500" cy="723900"/>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状態と成果物</a:t>
            </a:r>
          </a:p>
        </p:txBody>
      </p:sp>
      <p:sp>
        <p:nvSpPr>
          <p:cNvPr id="16" name="text-80">
            <a:extLst xmlns:a="http://schemas.openxmlformats.org/drawingml/2006/main">
              <a:ext uri="{FF2B5EF4-FFF2-40B4-BE49-F238E27FC236}">
                <a16:creationId xmlns:a16="http://schemas.microsoft.com/office/drawing/2014/main" id="{E7F3224A-E117-4065-A08E-D69404468CD7}"/>
              </a:ext>
            </a:extLst>
          </p:cNvPr>
          <p:cNvSpPr>
            <a:spLocks xmlns:a="http://schemas.openxmlformats.org/drawingml/2006/main" noGrp="1"/>
          </p:cNvSpPr>
          <p:nvPr/>
        </p:nvSpPr>
        <p:spPr>
          <a:xfrm xmlns:a="http://schemas.openxmlformats.org/drawingml/2006/main">
            <a:off x="4314825" y="4838700"/>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run.json／control.json／成果物・snapshotを保存</a:t>
            </a:r>
          </a:p>
        </p:txBody>
      </p:sp>
      <p:cxnSp>
        <p:nvCxnSpPr>
          <p:cNvPr id="34" name=""/>
          <p:cNvCxnSpPr>
            <a:stCxn xmlns:a="http://schemas.openxmlformats.org/drawingml/2006/main" id="12" idx="2"/>
            <a:endCxn xmlns:a="http://schemas.openxmlformats.org/drawingml/2006/main" id="15" idx="0"/>
          </p:cNvCxnSpPr>
          <p:nvPr/>
        </p:nvCxnSpPr>
        <p:spPr>
          <a:xfrm xmlns:a="http://schemas.openxmlformats.org/drawingml/2006/main">
            <a:off x="2305050" y="4638675"/>
            <a:ext cx="0" cy="15240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20152324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81">
            <a:extLst xmlns:a="http://schemas.openxmlformats.org/drawingml/2006/main">
              <a:ext uri="{FF2B5EF4-FFF2-40B4-BE49-F238E27FC236}">
                <a16:creationId xmlns:a16="http://schemas.microsoft.com/office/drawing/2014/main" id="{13AE02BB-8661-4024-800D-7558EBD9A861}"/>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4A8"/>
                </a:solidFill>
                <a:latin typeface="Meiryo"/>
                <a:ea typeface="Meiryo"/>
                <a:cs typeface="Meiryo"/>
              </a:defRPr>
            </a:pPr>
            <a:r>
              <a:rPr sz="1425" b="1">
                <a:solidFill>
                  <a:srgbClr val="2264A8"/>
                </a:solidFill>
                <a:latin typeface="Meiryo"/>
                <a:ea typeface="Meiryo"/>
                <a:cs typeface="Meiryo"/>
              </a:rPr>
              <a:t>ワークフロー管理</a:t>
            </a:r>
          </a:p>
        </p:txBody>
      </p:sp>
      <p:sp>
        <p:nvSpPr>
          <p:cNvPr id="2" name="text-82">
            <a:extLst xmlns:a="http://schemas.openxmlformats.org/drawingml/2006/main">
              <a:ext uri="{FF2B5EF4-FFF2-40B4-BE49-F238E27FC236}">
                <a16:creationId xmlns:a16="http://schemas.microsoft.com/office/drawing/2014/main" id="{5DF70EBA-1C1B-43BB-A2E0-CF5CA5149B3F}"/>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WORKFLOW.mdと入力定義</a:t>
            </a:r>
          </a:p>
        </p:txBody>
      </p:sp>
      <p:sp>
        <p:nvSpPr>
          <p:cNvPr id="3" name="text-83">
            <a:extLst xmlns:a="http://schemas.openxmlformats.org/drawingml/2006/main">
              <a:ext uri="{FF2B5EF4-FFF2-40B4-BE49-F238E27FC236}">
                <a16:creationId xmlns:a16="http://schemas.microsoft.com/office/drawing/2014/main" id="{9DB09CD2-C42E-4D82-9092-24FDA7EFD7B5}"/>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YAMLで手順を定義し、Markdownで説明を添える</a:t>
            </a:r>
          </a:p>
        </p:txBody>
      </p:sp>
      <p:sp>
        <p:nvSpPr>
          <p:cNvPr id="4" name="rule-84">
            <a:extLst xmlns:a="http://schemas.openxmlformats.org/drawingml/2006/main">
              <a:ext uri="{FF2B5EF4-FFF2-40B4-BE49-F238E27FC236}">
                <a16:creationId xmlns:a16="http://schemas.microsoft.com/office/drawing/2014/main" id="{B2294262-B410-45C2-BDA5-B3F38178437F}"/>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85">
            <a:extLst xmlns:a="http://schemas.openxmlformats.org/drawingml/2006/main">
              <a:ext uri="{FF2B5EF4-FFF2-40B4-BE49-F238E27FC236}">
                <a16:creationId xmlns:a16="http://schemas.microsoft.com/office/drawing/2014/main" id="{16BF3B38-A57D-4BC8-A069-76DEA6802796}"/>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264A8"/>
                </a:solidFill>
                <a:latin typeface="Meiryo"/>
                <a:ea typeface="Meiryo"/>
                <a:cs typeface="Meiryo"/>
              </a:defRPr>
            </a:pPr>
            <a:r>
              <a:rPr sz="1800" b="1">
                <a:solidFill>
                  <a:srgbClr val="2264A8"/>
                </a:solidFill>
                <a:latin typeface="Meiryo"/>
                <a:ea typeface="Meiryo"/>
                <a:cs typeface="Meiryo"/>
              </a:rPr>
              <a:t>入力を変えて同じ手順を再利用できる</a:t>
            </a:r>
          </a:p>
        </p:txBody>
      </p:sp>
      <p:sp>
        <p:nvSpPr>
          <p:cNvPr id="6" name="text-86">
            <a:extLst xmlns:a="http://schemas.openxmlformats.org/drawingml/2006/main">
              <a:ext uri="{FF2B5EF4-FFF2-40B4-BE49-F238E27FC236}">
                <a16:creationId xmlns:a16="http://schemas.microsoft.com/office/drawing/2014/main" id="{48117AA9-20E0-4F09-920A-EF085CC9BDC4}"/>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08</a:t>
            </a:r>
          </a:p>
        </p:txBody>
      </p:sp>
      <p:sp>
        <p:nvSpPr>
          <p:cNvPr id="7" name="node-87">
            <a:extLst xmlns:a="http://schemas.openxmlformats.org/drawingml/2006/main">
              <a:ext uri="{FF2B5EF4-FFF2-40B4-BE49-F238E27FC236}">
                <a16:creationId xmlns:a16="http://schemas.microsoft.com/office/drawing/2014/main" id="{93094D1B-04E7-46A1-93CE-AB88AF2A3378}"/>
              </a:ext>
            </a:extLst>
          </p:cNvPr>
          <p:cNvSpPr>
            <a:spLocks xmlns:a="http://schemas.openxmlformats.org/drawingml/2006/main" noGrp="1"/>
          </p:cNvSpPr>
          <p:nvPr/>
        </p:nvSpPr>
        <p:spPr>
          <a:xfrm xmlns:a="http://schemas.openxmlformats.org/drawingml/2006/main">
            <a:off x="685800" y="2143125"/>
            <a:ext cx="6477000" cy="3324225"/>
          </a:xfrm>
          <a:prstGeom xmlns:a="http://schemas.openxmlformats.org/drawingml/2006/main" prst="rect">
            <a:avLst/>
          </a:prstGeom>
          <a:solidFill xmlns:a="http://schemas.openxmlformats.org/drawingml/2006/main">
            <a:srgbClr val="F5F8FA"/>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r>
              <a:t/>
            </a:r>
          </a:p>
        </p:txBody>
      </p:sp>
      <p:sp>
        <p:nvSpPr>
          <p:cNvPr id="8" name="text-88">
            <a:extLst xmlns:a="http://schemas.openxmlformats.org/drawingml/2006/main">
              <a:ext uri="{FF2B5EF4-FFF2-40B4-BE49-F238E27FC236}">
                <a16:creationId xmlns:a16="http://schemas.microsoft.com/office/drawing/2014/main" id="{50ED20E2-7FD4-4E2B-A83C-166726A915FB}"/>
              </a:ext>
            </a:extLst>
          </p:cNvPr>
          <p:cNvSpPr>
            <a:spLocks xmlns:a="http://schemas.openxmlformats.org/drawingml/2006/main" noGrp="1"/>
          </p:cNvSpPr>
          <p:nvPr/>
        </p:nvSpPr>
        <p:spPr>
          <a:xfrm xmlns:a="http://schemas.openxmlformats.org/drawingml/2006/main">
            <a:off x="876300" y="2295525"/>
            <a:ext cx="6143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schemaVersion: workflow-register/v1</a:t>
            </a:r>
          </a:p>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name: sample-review</a:t>
            </a:r>
          </a:p>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inputs:</a:t>
            </a:r>
          </a:p>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  target: { type: string, title: 対象 }</a:t>
            </a:r>
          </a:p>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steps:</a:t>
            </a:r>
          </a:p>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  - id: analyze</a:t>
            </a:r>
          </a:p>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    title: 分析</a:t>
            </a:r>
          </a:p>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    type: agent</a:t>
            </a:r>
          </a:p>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    prompt: "{{inputs.target}} を要約"</a:t>
            </a:r>
          </a:p>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    resultKey: analysis</a:t>
            </a:r>
          </a:p>
        </p:txBody>
      </p:sp>
      <p:sp>
        <p:nvSpPr>
          <p:cNvPr id="9" name="text-89">
            <a:extLst xmlns:a="http://schemas.openxmlformats.org/drawingml/2006/main">
              <a:ext uri="{FF2B5EF4-FFF2-40B4-BE49-F238E27FC236}">
                <a16:creationId xmlns:a16="http://schemas.microsoft.com/office/drawing/2014/main" id="{5AEE6A8B-2213-41AC-A26A-B34F1780AC7F}"/>
              </a:ext>
            </a:extLst>
          </p:cNvPr>
          <p:cNvSpPr>
            <a:spLocks xmlns:a="http://schemas.openxmlformats.org/drawingml/2006/main" noGrp="1"/>
          </p:cNvSpPr>
          <p:nvPr/>
        </p:nvSpPr>
        <p:spPr>
          <a:xfrm xmlns:a="http://schemas.openxmlformats.org/drawingml/2006/main">
            <a:off x="7658100" y="2171700"/>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264A8"/>
                </a:solidFill>
                <a:latin typeface="Meiryo"/>
                <a:ea typeface="Meiryo"/>
                <a:cs typeface="Meiryo"/>
              </a:defRPr>
            </a:pPr>
            <a:r>
              <a:rPr sz="1950" b="1">
                <a:solidFill>
                  <a:srgbClr val="2264A8"/>
                </a:solidFill>
                <a:latin typeface="Meiryo"/>
                <a:ea typeface="Meiryo"/>
                <a:cs typeface="Meiryo"/>
              </a:rPr>
              <a:t>配置</a:t>
            </a:r>
          </a:p>
        </p:txBody>
      </p:sp>
      <p:sp>
        <p:nvSpPr>
          <p:cNvPr id="10" name="text-90">
            <a:extLst xmlns:a="http://schemas.openxmlformats.org/drawingml/2006/main">
              <a:ext uri="{FF2B5EF4-FFF2-40B4-BE49-F238E27FC236}">
                <a16:creationId xmlns:a16="http://schemas.microsoft.com/office/drawing/2014/main" id="{6DC14991-3A30-4456-9A2C-3595CBCB0018}"/>
              </a:ext>
            </a:extLst>
          </p:cNvPr>
          <p:cNvSpPr>
            <a:spLocks xmlns:a="http://schemas.openxmlformats.org/drawingml/2006/main" noGrp="1"/>
          </p:cNvSpPr>
          <p:nvPr/>
        </p:nvSpPr>
        <p:spPr>
          <a:xfrm xmlns:a="http://schemas.openxmlformats.org/drawingml/2006/main">
            <a:off x="7658100" y="2619375"/>
            <a:ext cx="3714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.bob/workflows/</a:t>
            </a:r>
          </a:p>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&lt;名前&gt;/WORKFLOW.md</a:t>
            </a:r>
          </a:p>
        </p:txBody>
      </p:sp>
      <p:sp>
        <p:nvSpPr>
          <p:cNvPr id="11" name="text-91">
            <a:extLst xmlns:a="http://schemas.openxmlformats.org/drawingml/2006/main">
              <a:ext uri="{FF2B5EF4-FFF2-40B4-BE49-F238E27FC236}">
                <a16:creationId xmlns:a16="http://schemas.microsoft.com/office/drawing/2014/main" id="{1F9C710E-6D4D-4735-ABBF-315B1D23F354}"/>
              </a:ext>
            </a:extLst>
          </p:cNvPr>
          <p:cNvSpPr>
            <a:spLocks xmlns:a="http://schemas.openxmlformats.org/drawingml/2006/main" noGrp="1"/>
          </p:cNvSpPr>
          <p:nvPr/>
        </p:nvSpPr>
        <p:spPr>
          <a:xfrm xmlns:a="http://schemas.openxmlformats.org/drawingml/2006/main">
            <a:off x="7658100" y="3314700"/>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264A8"/>
                </a:solidFill>
                <a:latin typeface="Meiryo"/>
                <a:ea typeface="Meiryo"/>
                <a:cs typeface="Meiryo"/>
              </a:defRPr>
            </a:pPr>
            <a:r>
              <a:rPr sz="1950" b="1">
                <a:solidFill>
                  <a:srgbClr val="2264A8"/>
                </a:solidFill>
                <a:latin typeface="Meiryo"/>
                <a:ea typeface="Meiryo"/>
                <a:cs typeface="Meiryo"/>
              </a:rPr>
              <a:t>入力と状態</a:t>
            </a:r>
          </a:p>
        </p:txBody>
      </p:sp>
      <p:sp>
        <p:nvSpPr>
          <p:cNvPr id="12" name="text-92">
            <a:extLst xmlns:a="http://schemas.openxmlformats.org/drawingml/2006/main">
              <a:ext uri="{FF2B5EF4-FFF2-40B4-BE49-F238E27FC236}">
                <a16:creationId xmlns:a16="http://schemas.microsoft.com/office/drawing/2014/main" id="{FF87043E-E923-4060-B35C-E9C3CF092420}"/>
              </a:ext>
            </a:extLst>
          </p:cNvPr>
          <p:cNvSpPr>
            <a:spLocks xmlns:a="http://schemas.openxmlformats.org/drawingml/2006/main" noGrp="1"/>
          </p:cNvSpPr>
          <p:nvPr/>
        </p:nvSpPr>
        <p:spPr>
          <a:xfrm xmlns:a="http://schemas.openxmlformats.org/drawingml/2006/main">
            <a:off x="7658100" y="3762375"/>
            <a:ext cx="3714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inputs は利用者の指定</a:t>
            </a:r>
          </a:p>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state は前段の処理結果</a:t>
            </a:r>
          </a:p>
        </p:txBody>
      </p:sp>
      <p:sp>
        <p:nvSpPr>
          <p:cNvPr id="13" name="text-93">
            <a:extLst xmlns:a="http://schemas.openxmlformats.org/drawingml/2006/main">
              <a:ext uri="{FF2B5EF4-FFF2-40B4-BE49-F238E27FC236}">
                <a16:creationId xmlns:a16="http://schemas.microsoft.com/office/drawing/2014/main" id="{D9A7A337-46AC-46F3-9AC5-513B9D08F1C0}"/>
              </a:ext>
            </a:extLst>
          </p:cNvPr>
          <p:cNvSpPr>
            <a:spLocks xmlns:a="http://schemas.openxmlformats.org/drawingml/2006/main" noGrp="1"/>
          </p:cNvSpPr>
          <p:nvPr/>
        </p:nvSpPr>
        <p:spPr>
          <a:xfrm xmlns:a="http://schemas.openxmlformats.org/drawingml/2006/main">
            <a:off x="7658100" y="4457700"/>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264A8"/>
                </a:solidFill>
                <a:latin typeface="Meiryo"/>
                <a:ea typeface="Meiryo"/>
                <a:cs typeface="Meiryo"/>
              </a:defRPr>
            </a:pPr>
            <a:r>
              <a:rPr sz="1950" b="1">
                <a:solidFill>
                  <a:srgbClr val="2264A8"/>
                </a:solidFill>
                <a:latin typeface="Meiryo"/>
                <a:ea typeface="Meiryo"/>
                <a:cs typeface="Meiryo"/>
              </a:rPr>
              <a:t>実行前の検証</a:t>
            </a:r>
          </a:p>
        </p:txBody>
      </p:sp>
      <p:sp>
        <p:nvSpPr>
          <p:cNvPr id="14" name="text-94">
            <a:extLst xmlns:a="http://schemas.openxmlformats.org/drawingml/2006/main">
              <a:ext uri="{FF2B5EF4-FFF2-40B4-BE49-F238E27FC236}">
                <a16:creationId xmlns:a16="http://schemas.microsoft.com/office/drawing/2014/main" id="{F8D89414-8B41-41DC-B62B-CBB0F631AE9D}"/>
              </a:ext>
            </a:extLst>
          </p:cNvPr>
          <p:cNvSpPr>
            <a:spLocks xmlns:a="http://schemas.openxmlformats.org/drawingml/2006/main" noGrp="1"/>
          </p:cNvSpPr>
          <p:nvPr/>
        </p:nvSpPr>
        <p:spPr>
          <a:xfrm xmlns:a="http://schemas.openxmlformats.org/drawingml/2006/main">
            <a:off x="7658100" y="4905375"/>
            <a:ext cx="3714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型・参照・順序・実行条件</a:t>
            </a:r>
          </a:p>
          <a:p xmlns:a="http://schemas.openxmlformats.org/drawingml/2006/main">
            <a:pPr algn="l">
              <a:defRPr sz="1725" b="0">
                <a:solidFill>
                  <a:srgbClr val="172A3A"/>
                </a:solidFill>
                <a:latin typeface="Meiryo"/>
                <a:ea typeface="Meiryo"/>
                <a:cs typeface="Meiryo"/>
              </a:defRPr>
            </a:pPr>
            <a:r>
              <a:rPr sz="1725" b="0">
                <a:solidFill>
                  <a:srgbClr val="172A3A"/>
                </a:solidFill>
                <a:latin typeface="Meiryo"/>
                <a:ea typeface="Meiryo"/>
                <a:cs typeface="Meiryo"/>
              </a:rPr>
              <a:t>を確認する</a:t>
            </a:r>
          </a:p>
        </p:txBody>
      </p:sp>
    </p:spTree>
    <p:extLst>
      <p:ext uri="{BB962C8B-B14F-4D97-AF65-F5344CB8AC3E}">
        <p14:creationId xmlns:p14="http://schemas.microsoft.com/office/powerpoint/2010/main" val="48306456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95">
            <a:extLst xmlns:a="http://schemas.openxmlformats.org/drawingml/2006/main">
              <a:ext uri="{FF2B5EF4-FFF2-40B4-BE49-F238E27FC236}">
                <a16:creationId xmlns:a16="http://schemas.microsoft.com/office/drawing/2014/main" id="{1E1AD302-160C-485F-8B96-75C87DC1A6B9}"/>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4A8"/>
                </a:solidFill>
                <a:latin typeface="Meiryo"/>
                <a:ea typeface="Meiryo"/>
                <a:cs typeface="Meiryo"/>
              </a:defRPr>
            </a:pPr>
            <a:r>
              <a:rPr sz="1425" b="1">
                <a:solidFill>
                  <a:srgbClr val="2264A8"/>
                </a:solidFill>
                <a:latin typeface="Meiryo"/>
                <a:ea typeface="Meiryo"/>
                <a:cs typeface="Meiryo"/>
              </a:rPr>
              <a:t>ワークフロー管理</a:t>
            </a:r>
          </a:p>
        </p:txBody>
      </p:sp>
      <p:sp>
        <p:nvSpPr>
          <p:cNvPr id="2" name="text-96">
            <a:extLst xmlns:a="http://schemas.openxmlformats.org/drawingml/2006/main">
              <a:ext uri="{FF2B5EF4-FFF2-40B4-BE49-F238E27FC236}">
                <a16:creationId xmlns:a16="http://schemas.microsoft.com/office/drawing/2014/main" id="{0787F2A8-E79C-4D50-A645-E38D7515AB0F}"/>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作成・編集から保存まで</a:t>
            </a:r>
          </a:p>
        </p:txBody>
      </p:sp>
      <p:sp>
        <p:nvSpPr>
          <p:cNvPr id="3" name="text-97">
            <a:extLst xmlns:a="http://schemas.openxmlformats.org/drawingml/2006/main">
              <a:ext uri="{FF2B5EF4-FFF2-40B4-BE49-F238E27FC236}">
                <a16:creationId xmlns:a16="http://schemas.microsoft.com/office/drawing/2014/main" id="{280CF094-9A4C-4E30-A83E-4F1F7F63646D}"/>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Builderで編集し、差分と検証結果を確認して保存する</a:t>
            </a:r>
          </a:p>
        </p:txBody>
      </p:sp>
      <p:sp>
        <p:nvSpPr>
          <p:cNvPr id="4" name="rule-98">
            <a:extLst xmlns:a="http://schemas.openxmlformats.org/drawingml/2006/main">
              <a:ext uri="{FF2B5EF4-FFF2-40B4-BE49-F238E27FC236}">
                <a16:creationId xmlns:a16="http://schemas.microsoft.com/office/drawing/2014/main" id="{F9571D45-A863-40D9-9F17-78952942E75E}"/>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99">
            <a:extLst xmlns:a="http://schemas.openxmlformats.org/drawingml/2006/main">
              <a:ext uri="{FF2B5EF4-FFF2-40B4-BE49-F238E27FC236}">
                <a16:creationId xmlns:a16="http://schemas.microsoft.com/office/drawing/2014/main" id="{C73FF6C0-A995-4275-9AC0-4458BDFB8506}"/>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264A8"/>
                </a:solidFill>
                <a:latin typeface="Meiryo"/>
                <a:ea typeface="Meiryo"/>
                <a:cs typeface="Meiryo"/>
              </a:defRPr>
            </a:pPr>
            <a:r>
              <a:rPr sz="1800" b="1">
                <a:solidFill>
                  <a:srgbClr val="2264A8"/>
                </a:solidFill>
                <a:latin typeface="Meiryo"/>
                <a:ea typeface="Meiryo"/>
                <a:cs typeface="Meiryo"/>
              </a:rPr>
              <a:t>既存ファイルとの差分を見てから、保存を確定する</a:t>
            </a:r>
          </a:p>
        </p:txBody>
      </p:sp>
      <p:sp>
        <p:nvSpPr>
          <p:cNvPr id="6" name="text-100">
            <a:extLst xmlns:a="http://schemas.openxmlformats.org/drawingml/2006/main">
              <a:ext uri="{FF2B5EF4-FFF2-40B4-BE49-F238E27FC236}">
                <a16:creationId xmlns:a16="http://schemas.microsoft.com/office/drawing/2014/main" id="{0D6F296A-3DCD-4191-A3F4-0BCE75DBC748}"/>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09</a:t>
            </a:r>
          </a:p>
        </p:txBody>
      </p:sp>
      <p:sp>
        <p:nvSpPr>
          <p:cNvPr id="7" name="text-101">
            <a:extLst xmlns:a="http://schemas.openxmlformats.org/drawingml/2006/main">
              <a:ext uri="{FF2B5EF4-FFF2-40B4-BE49-F238E27FC236}">
                <a16:creationId xmlns:a16="http://schemas.microsoft.com/office/drawing/2014/main" id="{15A6F7EB-941B-4314-A402-4A046A8373C8}"/>
              </a:ext>
            </a:extLst>
          </p:cNvPr>
          <p:cNvSpPr>
            <a:spLocks xmlns:a="http://schemas.openxmlformats.org/drawingml/2006/main" noGrp="1"/>
          </p:cNvSpPr>
          <p:nvPr/>
        </p:nvSpPr>
        <p:spPr>
          <a:xfrm xmlns:a="http://schemas.openxmlformats.org/drawingml/2006/main">
            <a:off x="685800"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264A8"/>
                </a:solidFill>
                <a:latin typeface="Meiryo"/>
                <a:ea typeface="Meiryo"/>
                <a:cs typeface="Meiryo"/>
              </a:defRPr>
            </a:pPr>
            <a:r>
              <a:rPr sz="1650" b="1">
                <a:solidFill>
                  <a:srgbClr val="2264A8"/>
                </a:solidFill>
                <a:latin typeface="Meiryo"/>
                <a:ea typeface="Meiryo"/>
                <a:cs typeface="Meiryo"/>
              </a:rPr>
              <a:t>01</a:t>
            </a:r>
          </a:p>
        </p:txBody>
      </p:sp>
      <p:sp>
        <p:nvSpPr>
          <p:cNvPr id="8" name="node-102">
            <a:extLst xmlns:a="http://schemas.openxmlformats.org/drawingml/2006/main">
              <a:ext uri="{FF2B5EF4-FFF2-40B4-BE49-F238E27FC236}">
                <a16:creationId xmlns:a16="http://schemas.microsoft.com/office/drawing/2014/main" id="{B439EC13-AD5D-4A20-AD94-49A1154EEE50}"/>
              </a:ext>
            </a:extLst>
          </p:cNvPr>
          <p:cNvSpPr>
            <a:spLocks xmlns:a="http://schemas.openxmlformats.org/drawingml/2006/main" noGrp="1"/>
          </p:cNvSpPr>
          <p:nvPr/>
        </p:nvSpPr>
        <p:spPr>
          <a:xfrm xmlns:a="http://schemas.openxmlformats.org/drawingml/2006/main">
            <a:off x="685800"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作成・読込</a:t>
            </a:r>
          </a:p>
        </p:txBody>
      </p:sp>
      <p:sp>
        <p:nvSpPr>
          <p:cNvPr id="9" name="text-103">
            <a:extLst xmlns:a="http://schemas.openxmlformats.org/drawingml/2006/main">
              <a:ext uri="{FF2B5EF4-FFF2-40B4-BE49-F238E27FC236}">
                <a16:creationId xmlns:a16="http://schemas.microsoft.com/office/drawing/2014/main" id="{A1370E73-4888-41F9-A9B7-10FD37145AAF}"/>
              </a:ext>
            </a:extLst>
          </p:cNvPr>
          <p:cNvSpPr>
            <a:spLocks xmlns:a="http://schemas.openxmlformats.org/drawingml/2006/main" noGrp="1"/>
          </p:cNvSpPr>
          <p:nvPr/>
        </p:nvSpPr>
        <p:spPr>
          <a:xfrm xmlns:a="http://schemas.openxmlformats.org/drawingml/2006/main">
            <a:off x="685800"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空の定義</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標準テンプレート</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既存WORKFLOW.md</a:t>
            </a:r>
          </a:p>
        </p:txBody>
      </p:sp>
      <p:sp>
        <p:nvSpPr>
          <p:cNvPr id="10" name="text-104">
            <a:extLst xmlns:a="http://schemas.openxmlformats.org/drawingml/2006/main">
              <a:ext uri="{FF2B5EF4-FFF2-40B4-BE49-F238E27FC236}">
                <a16:creationId xmlns:a16="http://schemas.microsoft.com/office/drawing/2014/main" id="{10077245-4960-4533-9B6B-EA98FD80B8F5}"/>
              </a:ext>
            </a:extLst>
          </p:cNvPr>
          <p:cNvSpPr>
            <a:spLocks xmlns:a="http://schemas.openxmlformats.org/drawingml/2006/main" noGrp="1"/>
          </p:cNvSpPr>
          <p:nvPr/>
        </p:nvSpPr>
        <p:spPr>
          <a:xfrm xmlns:a="http://schemas.openxmlformats.org/drawingml/2006/main">
            <a:off x="3471863"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264A8"/>
                </a:solidFill>
                <a:latin typeface="Meiryo"/>
                <a:ea typeface="Meiryo"/>
                <a:cs typeface="Meiryo"/>
              </a:defRPr>
            </a:pPr>
            <a:r>
              <a:rPr sz="1650" b="1">
                <a:solidFill>
                  <a:srgbClr val="2264A8"/>
                </a:solidFill>
                <a:latin typeface="Meiryo"/>
                <a:ea typeface="Meiryo"/>
                <a:cs typeface="Meiryo"/>
              </a:rPr>
              <a:t>02</a:t>
            </a:r>
          </a:p>
        </p:txBody>
      </p:sp>
      <p:sp>
        <p:nvSpPr>
          <p:cNvPr id="11" name="node-105">
            <a:extLst xmlns:a="http://schemas.openxmlformats.org/drawingml/2006/main">
              <a:ext uri="{FF2B5EF4-FFF2-40B4-BE49-F238E27FC236}">
                <a16:creationId xmlns:a16="http://schemas.microsoft.com/office/drawing/2014/main" id="{AE0BA574-D9DD-43DA-AACD-57B9E891EE27}"/>
              </a:ext>
            </a:extLst>
          </p:cNvPr>
          <p:cNvSpPr>
            <a:spLocks xmlns:a="http://schemas.openxmlformats.org/drawingml/2006/main" noGrp="1"/>
          </p:cNvSpPr>
          <p:nvPr/>
        </p:nvSpPr>
        <p:spPr>
          <a:xfrm xmlns:a="http://schemas.openxmlformats.org/drawingml/2006/main">
            <a:off x="3471863"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編集・検証</a:t>
            </a:r>
          </a:p>
        </p:txBody>
      </p:sp>
      <p:sp>
        <p:nvSpPr>
          <p:cNvPr id="12" name="text-106">
            <a:extLst xmlns:a="http://schemas.openxmlformats.org/drawingml/2006/main">
              <a:ext uri="{FF2B5EF4-FFF2-40B4-BE49-F238E27FC236}">
                <a16:creationId xmlns:a16="http://schemas.microsoft.com/office/drawing/2014/main" id="{C83328A2-5C15-4B78-A624-5EDECB322AF6}"/>
              </a:ext>
            </a:extLst>
          </p:cNvPr>
          <p:cNvSpPr>
            <a:spLocks xmlns:a="http://schemas.openxmlformats.org/drawingml/2006/main" noGrp="1"/>
          </p:cNvSpPr>
          <p:nvPr/>
        </p:nvSpPr>
        <p:spPr>
          <a:xfrm xmlns:a="http://schemas.openxmlformats.org/drawingml/2006/main">
            <a:off x="3471863"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編集用モデルを生成</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構文とschemaを検証</a:t>
            </a:r>
          </a:p>
        </p:txBody>
      </p:sp>
      <p:sp>
        <p:nvSpPr>
          <p:cNvPr id="13" name="text-107">
            <a:extLst xmlns:a="http://schemas.openxmlformats.org/drawingml/2006/main">
              <a:ext uri="{FF2B5EF4-FFF2-40B4-BE49-F238E27FC236}">
                <a16:creationId xmlns:a16="http://schemas.microsoft.com/office/drawing/2014/main" id="{BACC12E0-345B-4F11-A310-AC0BF01B359C}"/>
              </a:ext>
            </a:extLst>
          </p:cNvPr>
          <p:cNvSpPr>
            <a:spLocks xmlns:a="http://schemas.openxmlformats.org/drawingml/2006/main" noGrp="1"/>
          </p:cNvSpPr>
          <p:nvPr/>
        </p:nvSpPr>
        <p:spPr>
          <a:xfrm xmlns:a="http://schemas.openxmlformats.org/drawingml/2006/main">
            <a:off x="6257925"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264A8"/>
                </a:solidFill>
                <a:latin typeface="Meiryo"/>
                <a:ea typeface="Meiryo"/>
                <a:cs typeface="Meiryo"/>
              </a:defRPr>
            </a:pPr>
            <a:r>
              <a:rPr sz="1650" b="1">
                <a:solidFill>
                  <a:srgbClr val="2264A8"/>
                </a:solidFill>
                <a:latin typeface="Meiryo"/>
                <a:ea typeface="Meiryo"/>
                <a:cs typeface="Meiryo"/>
              </a:rPr>
              <a:t>03</a:t>
            </a:r>
          </a:p>
        </p:txBody>
      </p:sp>
      <p:sp>
        <p:nvSpPr>
          <p:cNvPr id="14" name="node-108">
            <a:extLst xmlns:a="http://schemas.openxmlformats.org/drawingml/2006/main">
              <a:ext uri="{FF2B5EF4-FFF2-40B4-BE49-F238E27FC236}">
                <a16:creationId xmlns:a16="http://schemas.microsoft.com/office/drawing/2014/main" id="{807D4A1F-6CB7-4161-BA66-28E8D2051CB1}"/>
              </a:ext>
            </a:extLst>
          </p:cNvPr>
          <p:cNvSpPr>
            <a:spLocks xmlns:a="http://schemas.openxmlformats.org/drawingml/2006/main" noGrp="1"/>
          </p:cNvSpPr>
          <p:nvPr/>
        </p:nvSpPr>
        <p:spPr>
          <a:xfrm xmlns:a="http://schemas.openxmlformats.org/drawingml/2006/main">
            <a:off x="6257925"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差分・確認</a:t>
            </a:r>
          </a:p>
        </p:txBody>
      </p:sp>
      <p:sp>
        <p:nvSpPr>
          <p:cNvPr id="15" name="text-109">
            <a:extLst xmlns:a="http://schemas.openxmlformats.org/drawingml/2006/main">
              <a:ext uri="{FF2B5EF4-FFF2-40B4-BE49-F238E27FC236}">
                <a16:creationId xmlns:a16="http://schemas.microsoft.com/office/drawing/2014/main" id="{12E5DA59-F748-4AEE-AFD5-0F92D7FAFAD6}"/>
              </a:ext>
            </a:extLst>
          </p:cNvPr>
          <p:cNvSpPr>
            <a:spLocks xmlns:a="http://schemas.openxmlformats.org/drawingml/2006/main" noGrp="1"/>
          </p:cNvSpPr>
          <p:nvPr/>
        </p:nvSpPr>
        <p:spPr>
          <a:xfrm xmlns:a="http://schemas.openxmlformats.org/drawingml/2006/main">
            <a:off x="6257925"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変更内容を表示</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利用者が保存を確認</a:t>
            </a:r>
          </a:p>
        </p:txBody>
      </p:sp>
      <p:sp>
        <p:nvSpPr>
          <p:cNvPr id="16" name="text-110">
            <a:extLst xmlns:a="http://schemas.openxmlformats.org/drawingml/2006/main">
              <a:ext uri="{FF2B5EF4-FFF2-40B4-BE49-F238E27FC236}">
                <a16:creationId xmlns:a16="http://schemas.microsoft.com/office/drawing/2014/main" id="{3E238975-2F0A-4593-9BFB-0D49605E7CFA}"/>
              </a:ext>
            </a:extLst>
          </p:cNvPr>
          <p:cNvSpPr>
            <a:spLocks xmlns:a="http://schemas.openxmlformats.org/drawingml/2006/main" noGrp="1"/>
          </p:cNvSpPr>
          <p:nvPr/>
        </p:nvSpPr>
        <p:spPr>
          <a:xfrm xmlns:a="http://schemas.openxmlformats.org/drawingml/2006/main">
            <a:off x="9043988"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264A8"/>
                </a:solidFill>
                <a:latin typeface="Meiryo"/>
                <a:ea typeface="Meiryo"/>
                <a:cs typeface="Meiryo"/>
              </a:defRPr>
            </a:pPr>
            <a:r>
              <a:rPr sz="1650" b="1">
                <a:solidFill>
                  <a:srgbClr val="2264A8"/>
                </a:solidFill>
                <a:latin typeface="Meiryo"/>
                <a:ea typeface="Meiryo"/>
                <a:cs typeface="Meiryo"/>
              </a:rPr>
              <a:t>04</a:t>
            </a:r>
          </a:p>
        </p:txBody>
      </p:sp>
      <p:sp>
        <p:nvSpPr>
          <p:cNvPr id="17" name="node-111">
            <a:extLst xmlns:a="http://schemas.openxmlformats.org/drawingml/2006/main">
              <a:ext uri="{FF2B5EF4-FFF2-40B4-BE49-F238E27FC236}">
                <a16:creationId xmlns:a16="http://schemas.microsoft.com/office/drawing/2014/main" id="{5C702EB4-9090-4ECF-A129-72D36CF6ABDA}"/>
              </a:ext>
            </a:extLst>
          </p:cNvPr>
          <p:cNvSpPr>
            <a:spLocks xmlns:a="http://schemas.openxmlformats.org/drawingml/2006/main" noGrp="1"/>
          </p:cNvSpPr>
          <p:nvPr/>
        </p:nvSpPr>
        <p:spPr>
          <a:xfrm xmlns:a="http://schemas.openxmlformats.org/drawingml/2006/main">
            <a:off x="9043988"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保存・再読込</a:t>
            </a:r>
          </a:p>
        </p:txBody>
      </p:sp>
      <p:sp>
        <p:nvSpPr>
          <p:cNvPr id="18" name="text-112">
            <a:extLst xmlns:a="http://schemas.openxmlformats.org/drawingml/2006/main">
              <a:ext uri="{FF2B5EF4-FFF2-40B4-BE49-F238E27FC236}">
                <a16:creationId xmlns:a16="http://schemas.microsoft.com/office/drawing/2014/main" id="{CED076BC-E257-4599-AE55-F01434740CB7}"/>
              </a:ext>
            </a:extLst>
          </p:cNvPr>
          <p:cNvSpPr>
            <a:spLocks xmlns:a="http://schemas.openxmlformats.org/drawingml/2006/main" noGrp="1"/>
          </p:cNvSpPr>
          <p:nvPr/>
        </p:nvSpPr>
        <p:spPr>
          <a:xfrm xmlns:a="http://schemas.openxmlformats.org/drawingml/2006/main">
            <a:off x="9043988"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backupとatomic save</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登録内容を更新</a:t>
            </a:r>
          </a:p>
        </p:txBody>
      </p:sp>
      <p:cxnSp>
        <p:nvCxnSpPr>
          <p:cNvPr id="40" name=""/>
          <p:cNvCxnSpPr>
            <a:stCxn xmlns:a="http://schemas.openxmlformats.org/drawingml/2006/main" id="8" idx="3"/>
            <a:endCxn xmlns:a="http://schemas.openxmlformats.org/drawingml/2006/main" id="11" idx="1"/>
          </p:cNvCxnSpPr>
          <p:nvPr/>
        </p:nvCxnSpPr>
        <p:spPr>
          <a:xfrm xmlns:a="http://schemas.openxmlformats.org/drawingml/2006/main">
            <a:off x="3148013"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1" name=""/>
          <p:cNvCxnSpPr>
            <a:stCxn xmlns:a="http://schemas.openxmlformats.org/drawingml/2006/main" id="11" idx="3"/>
            <a:endCxn xmlns:a="http://schemas.openxmlformats.org/drawingml/2006/main" id="14" idx="1"/>
          </p:cNvCxnSpPr>
          <p:nvPr/>
        </p:nvCxnSpPr>
        <p:spPr>
          <a:xfrm xmlns:a="http://schemas.openxmlformats.org/drawingml/2006/main">
            <a:off x="5934076" y="3338513"/>
            <a:ext cx="323849"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2" name=""/>
          <p:cNvCxnSpPr>
            <a:stCxn xmlns:a="http://schemas.openxmlformats.org/drawingml/2006/main" id="14" idx="3"/>
            <a:endCxn xmlns:a="http://schemas.openxmlformats.org/drawingml/2006/main" id="17" idx="1"/>
          </p:cNvCxnSpPr>
          <p:nvPr/>
        </p:nvCxnSpPr>
        <p:spPr>
          <a:xfrm xmlns:a="http://schemas.openxmlformats.org/drawingml/2006/main">
            <a:off x="8720138"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18922532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13">
            <a:extLst xmlns:a="http://schemas.openxmlformats.org/drawingml/2006/main">
              <a:ext uri="{FF2B5EF4-FFF2-40B4-BE49-F238E27FC236}">
                <a16:creationId xmlns:a16="http://schemas.microsoft.com/office/drawing/2014/main" id="{A3D34314-696D-424E-B91D-B40C494A9995}"/>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4A8"/>
                </a:solidFill>
                <a:latin typeface="Meiryo"/>
                <a:ea typeface="Meiryo"/>
                <a:cs typeface="Meiryo"/>
              </a:defRPr>
            </a:pPr>
            <a:r>
              <a:rPr sz="1425" b="1">
                <a:solidFill>
                  <a:srgbClr val="2264A8"/>
                </a:solidFill>
                <a:latin typeface="Meiryo"/>
                <a:ea typeface="Meiryo"/>
                <a:cs typeface="Meiryo"/>
              </a:rPr>
              <a:t>ワークフロー管理</a:t>
            </a:r>
          </a:p>
        </p:txBody>
      </p:sp>
      <p:sp>
        <p:nvSpPr>
          <p:cNvPr id="2" name="text-114">
            <a:extLst xmlns:a="http://schemas.openxmlformats.org/drawingml/2006/main">
              <a:ext uri="{FF2B5EF4-FFF2-40B4-BE49-F238E27FC236}">
                <a16:creationId xmlns:a16="http://schemas.microsoft.com/office/drawing/2014/main" id="{6F31AFCF-6FC3-46D2-B31B-74549C2E1877}"/>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標準テンプレートとAI作成支援</a:t>
            </a:r>
          </a:p>
        </p:txBody>
      </p:sp>
      <p:sp>
        <p:nvSpPr>
          <p:cNvPr id="3" name="text-115">
            <a:extLst xmlns:a="http://schemas.openxmlformats.org/drawingml/2006/main">
              <a:ext uri="{FF2B5EF4-FFF2-40B4-BE49-F238E27FC236}">
                <a16:creationId xmlns:a16="http://schemas.microsoft.com/office/drawing/2014/main" id="{82F676C8-5D4A-4AC5-9B8F-06A8B94E5F20}"/>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共通手順をプロジェクトに合わせ、同じ保存経路で反映する</a:t>
            </a:r>
          </a:p>
        </p:txBody>
      </p:sp>
      <p:sp>
        <p:nvSpPr>
          <p:cNvPr id="4" name="rule-116">
            <a:extLst xmlns:a="http://schemas.openxmlformats.org/drawingml/2006/main">
              <a:ext uri="{FF2B5EF4-FFF2-40B4-BE49-F238E27FC236}">
                <a16:creationId xmlns:a16="http://schemas.microsoft.com/office/drawing/2014/main" id="{FD46D35F-0975-4B25-822B-ACD95D14E3C1}"/>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117">
            <a:extLst xmlns:a="http://schemas.openxmlformats.org/drawingml/2006/main">
              <a:ext uri="{FF2B5EF4-FFF2-40B4-BE49-F238E27FC236}">
                <a16:creationId xmlns:a16="http://schemas.microsoft.com/office/drawing/2014/main" id="{F04BD052-A8B1-4006-B278-5F3EF61208A1}"/>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264A8"/>
                </a:solidFill>
                <a:latin typeface="Meiryo"/>
                <a:ea typeface="Meiryo"/>
                <a:cs typeface="Meiryo"/>
              </a:defRPr>
            </a:pPr>
            <a:r>
              <a:rPr sz="1800" b="1">
                <a:solidFill>
                  <a:srgbClr val="2264A8"/>
                </a:solidFill>
                <a:latin typeface="Meiryo"/>
                <a:ea typeface="Meiryo"/>
                <a:cs typeface="Meiryo"/>
              </a:rPr>
              <a:t>AI補助には設定済みproviderが必要。生成内容も通常の検証を通す</a:t>
            </a:r>
          </a:p>
        </p:txBody>
      </p:sp>
      <p:sp>
        <p:nvSpPr>
          <p:cNvPr id="6" name="text-118">
            <a:extLst xmlns:a="http://schemas.openxmlformats.org/drawingml/2006/main">
              <a:ext uri="{FF2B5EF4-FFF2-40B4-BE49-F238E27FC236}">
                <a16:creationId xmlns:a16="http://schemas.microsoft.com/office/drawing/2014/main" id="{8D40EBA2-AD84-4A4D-9E79-7178EDBF3E60}"/>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10</a:t>
            </a:r>
          </a:p>
        </p:txBody>
      </p:sp>
      <p:sp>
        <p:nvSpPr>
          <p:cNvPr id="7" name="text-119">
            <a:extLst xmlns:a="http://schemas.openxmlformats.org/drawingml/2006/main">
              <a:ext uri="{FF2B5EF4-FFF2-40B4-BE49-F238E27FC236}">
                <a16:creationId xmlns:a16="http://schemas.microsoft.com/office/drawing/2014/main" id="{CF68D72C-2D7C-4190-9116-F4A718A45513}"/>
              </a:ext>
            </a:extLst>
          </p:cNvPr>
          <p:cNvSpPr>
            <a:spLocks xmlns:a="http://schemas.openxmlformats.org/drawingml/2006/main" noGrp="1"/>
          </p:cNvSpPr>
          <p:nvPr/>
        </p:nvSpPr>
        <p:spPr>
          <a:xfrm xmlns:a="http://schemas.openxmlformats.org/drawingml/2006/main">
            <a:off x="68580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64A8"/>
                </a:solidFill>
                <a:latin typeface="Meiryo"/>
                <a:ea typeface="Meiryo"/>
                <a:cs typeface="Meiryo"/>
              </a:defRPr>
            </a:pPr>
            <a:r>
              <a:rPr sz="2250" b="1">
                <a:solidFill>
                  <a:srgbClr val="2264A8"/>
                </a:solidFill>
                <a:latin typeface="Meiryo"/>
                <a:ea typeface="Meiryo"/>
                <a:cs typeface="Meiryo"/>
              </a:rPr>
              <a:t>標準テンプレート</a:t>
            </a:r>
          </a:p>
        </p:txBody>
      </p:sp>
      <p:sp>
        <p:nvSpPr>
          <p:cNvPr id="8" name="rule-120">
            <a:extLst xmlns:a="http://schemas.openxmlformats.org/drawingml/2006/main">
              <a:ext uri="{FF2B5EF4-FFF2-40B4-BE49-F238E27FC236}">
                <a16:creationId xmlns:a16="http://schemas.microsoft.com/office/drawing/2014/main" id="{1C528694-9D66-4A1F-B435-4CE9C5AA44E5}"/>
              </a:ext>
            </a:extLst>
          </p:cNvPr>
          <p:cNvSpPr>
            <a:spLocks xmlns:a="http://schemas.openxmlformats.org/drawingml/2006/main" noGrp="1"/>
          </p:cNvSpPr>
          <p:nvPr/>
        </p:nvSpPr>
        <p:spPr>
          <a:xfrm xmlns:a="http://schemas.openxmlformats.org/drawingml/2006/main">
            <a:off x="685800" y="3438525"/>
            <a:ext cx="3314700" cy="0"/>
          </a:xfrm>
          <a:prstGeom xmlns:a="http://schemas.openxmlformats.org/drawingml/2006/main" prst="line">
            <a:avLst/>
          </a:prstGeom>
          <a:noFill xmlns:a="http://schemas.openxmlformats.org/drawingml/2006/main"/>
          <a:ln xmlns:a="http://schemas.openxmlformats.org/drawingml/2006/main" w="9525">
            <a:solidFill>
              <a:srgbClr val="2264A8"/>
            </a:solidFill>
          </a:ln>
        </p:spPr>
      </p:sp>
      <p:sp>
        <p:nvSpPr>
          <p:cNvPr id="9" name="text-121">
            <a:extLst xmlns:a="http://schemas.openxmlformats.org/drawingml/2006/main">
              <a:ext uri="{FF2B5EF4-FFF2-40B4-BE49-F238E27FC236}">
                <a16:creationId xmlns:a16="http://schemas.microsoft.com/office/drawing/2014/main" id="{B3389F8E-1F60-468B-A3E5-79E70BEFF553}"/>
              </a:ext>
            </a:extLst>
          </p:cNvPr>
          <p:cNvSpPr>
            <a:spLocks xmlns:a="http://schemas.openxmlformats.org/drawingml/2006/main" noGrp="1"/>
          </p:cNvSpPr>
          <p:nvPr/>
        </p:nvSpPr>
        <p:spPr>
          <a:xfrm xmlns:a="http://schemas.openxmlformats.org/drawingml/2006/main">
            <a:off x="68580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基本手順にproject profileと</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customizationを適用</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生成元の版・hashを記録</a:t>
            </a:r>
          </a:p>
        </p:txBody>
      </p:sp>
      <p:sp>
        <p:nvSpPr>
          <p:cNvPr id="10" name="text-122">
            <a:extLst xmlns:a="http://schemas.openxmlformats.org/drawingml/2006/main">
              <a:ext uri="{FF2B5EF4-FFF2-40B4-BE49-F238E27FC236}">
                <a16:creationId xmlns:a16="http://schemas.microsoft.com/office/drawing/2014/main" id="{A51773BF-D561-4006-ABF2-40A8BA5CF9EC}"/>
              </a:ext>
            </a:extLst>
          </p:cNvPr>
          <p:cNvSpPr>
            <a:spLocks xmlns:a="http://schemas.openxmlformats.org/drawingml/2006/main" noGrp="1"/>
          </p:cNvSpPr>
          <p:nvPr/>
        </p:nvSpPr>
        <p:spPr>
          <a:xfrm xmlns:a="http://schemas.openxmlformats.org/drawingml/2006/main">
            <a:off x="443865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64A8"/>
                </a:solidFill>
                <a:latin typeface="Meiryo"/>
                <a:ea typeface="Meiryo"/>
                <a:cs typeface="Meiryo"/>
              </a:defRPr>
            </a:pPr>
            <a:r>
              <a:rPr sz="2250" b="1">
                <a:solidFill>
                  <a:srgbClr val="2264A8"/>
                </a:solidFill>
                <a:latin typeface="Meiryo"/>
                <a:ea typeface="Meiryo"/>
                <a:cs typeface="Meiryo"/>
              </a:rPr>
              <a:t>AIによる補助</a:t>
            </a:r>
          </a:p>
        </p:txBody>
      </p:sp>
      <p:sp>
        <p:nvSpPr>
          <p:cNvPr id="11" name="rule-123">
            <a:extLst xmlns:a="http://schemas.openxmlformats.org/drawingml/2006/main">
              <a:ext uri="{FF2B5EF4-FFF2-40B4-BE49-F238E27FC236}">
                <a16:creationId xmlns:a16="http://schemas.microsoft.com/office/drawing/2014/main" id="{E8DE353F-EA9C-4696-9E3C-705B70183A95}"/>
              </a:ext>
            </a:extLst>
          </p:cNvPr>
          <p:cNvSpPr>
            <a:spLocks xmlns:a="http://schemas.openxmlformats.org/drawingml/2006/main" noGrp="1"/>
          </p:cNvSpPr>
          <p:nvPr/>
        </p:nvSpPr>
        <p:spPr>
          <a:xfrm xmlns:a="http://schemas.openxmlformats.org/drawingml/2006/main">
            <a:off x="4438650" y="3438525"/>
            <a:ext cx="3314700" cy="0"/>
          </a:xfrm>
          <a:prstGeom xmlns:a="http://schemas.openxmlformats.org/drawingml/2006/main" prst="line">
            <a:avLst/>
          </a:prstGeom>
          <a:noFill xmlns:a="http://schemas.openxmlformats.org/drawingml/2006/main"/>
          <a:ln xmlns:a="http://schemas.openxmlformats.org/drawingml/2006/main" w="9525">
            <a:solidFill>
              <a:srgbClr val="2264A8"/>
            </a:solidFill>
          </a:ln>
        </p:spPr>
      </p:sp>
      <p:sp>
        <p:nvSpPr>
          <p:cNvPr id="12" name="text-124">
            <a:extLst xmlns:a="http://schemas.openxmlformats.org/drawingml/2006/main">
              <a:ext uri="{FF2B5EF4-FFF2-40B4-BE49-F238E27FC236}">
                <a16:creationId xmlns:a16="http://schemas.microsoft.com/office/drawing/2014/main" id="{2ADEFCD4-DE04-42E3-B5D6-719F21F53911}"/>
              </a:ext>
            </a:extLst>
          </p:cNvPr>
          <p:cNvSpPr>
            <a:spLocks xmlns:a="http://schemas.openxmlformats.org/drawingml/2006/main" noGrp="1"/>
          </p:cNvSpPr>
          <p:nvPr/>
        </p:nvSpPr>
        <p:spPr>
          <a:xfrm xmlns:a="http://schemas.openxmlformats.org/drawingml/2006/main">
            <a:off x="443865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ワークフロー案の作成</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既存定義の改善案</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診断内容の説明</a:t>
            </a:r>
          </a:p>
        </p:txBody>
      </p:sp>
      <p:sp>
        <p:nvSpPr>
          <p:cNvPr id="13" name="text-125">
            <a:extLst xmlns:a="http://schemas.openxmlformats.org/drawingml/2006/main">
              <a:ext uri="{FF2B5EF4-FFF2-40B4-BE49-F238E27FC236}">
                <a16:creationId xmlns:a16="http://schemas.microsoft.com/office/drawing/2014/main" id="{CF136F3D-995F-40A8-845A-5E61AA5846AE}"/>
              </a:ext>
            </a:extLst>
          </p:cNvPr>
          <p:cNvSpPr>
            <a:spLocks xmlns:a="http://schemas.openxmlformats.org/drawingml/2006/main" noGrp="1"/>
          </p:cNvSpPr>
          <p:nvPr/>
        </p:nvSpPr>
        <p:spPr>
          <a:xfrm xmlns:a="http://schemas.openxmlformats.org/drawingml/2006/main">
            <a:off x="819150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64A8"/>
                </a:solidFill>
                <a:latin typeface="Meiryo"/>
                <a:ea typeface="Meiryo"/>
                <a:cs typeface="Meiryo"/>
              </a:defRPr>
            </a:pPr>
            <a:r>
              <a:rPr sz="2250" b="1">
                <a:solidFill>
                  <a:srgbClr val="2264A8"/>
                </a:solidFill>
                <a:latin typeface="Meiryo"/>
                <a:ea typeface="Meiryo"/>
                <a:cs typeface="Meiryo"/>
              </a:rPr>
              <a:t>保存前の確認</a:t>
            </a:r>
          </a:p>
        </p:txBody>
      </p:sp>
      <p:sp>
        <p:nvSpPr>
          <p:cNvPr id="14" name="rule-126">
            <a:extLst xmlns:a="http://schemas.openxmlformats.org/drawingml/2006/main">
              <a:ext uri="{FF2B5EF4-FFF2-40B4-BE49-F238E27FC236}">
                <a16:creationId xmlns:a16="http://schemas.microsoft.com/office/drawing/2014/main" id="{B450C2C1-2085-47F7-8A7A-DA338066BA98}"/>
              </a:ext>
            </a:extLst>
          </p:cNvPr>
          <p:cNvSpPr>
            <a:spLocks xmlns:a="http://schemas.openxmlformats.org/drawingml/2006/main" noGrp="1"/>
          </p:cNvSpPr>
          <p:nvPr/>
        </p:nvSpPr>
        <p:spPr>
          <a:xfrm xmlns:a="http://schemas.openxmlformats.org/drawingml/2006/main">
            <a:off x="8191500" y="3438525"/>
            <a:ext cx="3314700" cy="0"/>
          </a:xfrm>
          <a:prstGeom xmlns:a="http://schemas.openxmlformats.org/drawingml/2006/main" prst="line">
            <a:avLst/>
          </a:prstGeom>
          <a:noFill xmlns:a="http://schemas.openxmlformats.org/drawingml/2006/main"/>
          <a:ln xmlns:a="http://schemas.openxmlformats.org/drawingml/2006/main" w="9525">
            <a:solidFill>
              <a:srgbClr val="2264A8"/>
            </a:solidFill>
          </a:ln>
        </p:spPr>
      </p:sp>
      <p:sp>
        <p:nvSpPr>
          <p:cNvPr id="15" name="text-127">
            <a:extLst xmlns:a="http://schemas.openxmlformats.org/drawingml/2006/main">
              <a:ext uri="{FF2B5EF4-FFF2-40B4-BE49-F238E27FC236}">
                <a16:creationId xmlns:a16="http://schemas.microsoft.com/office/drawing/2014/main" id="{D8744FF9-BC9D-4FE2-99CC-856BBB4514C3}"/>
              </a:ext>
            </a:extLst>
          </p:cNvPr>
          <p:cNvSpPr>
            <a:spLocks xmlns:a="http://schemas.openxmlformats.org/drawingml/2006/main" noGrp="1"/>
          </p:cNvSpPr>
          <p:nvPr/>
        </p:nvSpPr>
        <p:spPr>
          <a:xfrm xmlns:a="http://schemas.openxmlformats.org/drawingml/2006/main">
            <a:off x="819150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Preview・Diagnostics・Diff</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変更できる範囲の検証</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利用者が確認して保存</a:t>
            </a:r>
          </a:p>
        </p:txBody>
      </p:sp>
    </p:spTree>
    <p:extLst>
      <p:ext uri="{BB962C8B-B14F-4D97-AF65-F5344CB8AC3E}">
        <p14:creationId xmlns:p14="http://schemas.microsoft.com/office/powerpoint/2010/main" val="13491062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128">
            <a:extLst xmlns:a="http://schemas.openxmlformats.org/drawingml/2006/main">
              <a:ext uri="{FF2B5EF4-FFF2-40B4-BE49-F238E27FC236}">
                <a16:creationId xmlns:a16="http://schemas.microsoft.com/office/drawing/2014/main" id="{E8316589-7960-459D-8D63-890AED6807AA}"/>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4A8"/>
                </a:solidFill>
                <a:latin typeface="Meiryo"/>
                <a:ea typeface="Meiryo"/>
                <a:cs typeface="Meiryo"/>
              </a:defRPr>
            </a:pPr>
            <a:r>
              <a:rPr sz="1425" b="1">
                <a:solidFill>
                  <a:srgbClr val="2264A8"/>
                </a:solidFill>
                <a:latin typeface="Meiryo"/>
                <a:ea typeface="Meiryo"/>
                <a:cs typeface="Meiryo"/>
              </a:rPr>
              <a:t>ワークフロー管理</a:t>
            </a:r>
          </a:p>
        </p:txBody>
      </p:sp>
      <p:sp>
        <p:nvSpPr>
          <p:cNvPr id="2" name="text-129">
            <a:extLst xmlns:a="http://schemas.openxmlformats.org/drawingml/2006/main">
              <a:ext uri="{FF2B5EF4-FFF2-40B4-BE49-F238E27FC236}">
                <a16:creationId xmlns:a16="http://schemas.microsoft.com/office/drawing/2014/main" id="{603D74AB-7258-4204-9C6B-C9A13B6EA25B}"/>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4種類のステップとデータ受け渡し</a:t>
            </a:r>
          </a:p>
        </p:txBody>
      </p:sp>
      <p:sp>
        <p:nvSpPr>
          <p:cNvPr id="3" name="text-130">
            <a:extLst xmlns:a="http://schemas.openxmlformats.org/drawingml/2006/main">
              <a:ext uri="{FF2B5EF4-FFF2-40B4-BE49-F238E27FC236}">
                <a16:creationId xmlns:a16="http://schemas.microsoft.com/office/drawing/2014/main" id="{F24BA224-D1D9-41F0-B281-AC4682279947}"/>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機械処理、AI、人の確認、出力を組み合わせる</a:t>
            </a:r>
          </a:p>
        </p:txBody>
      </p:sp>
      <p:sp>
        <p:nvSpPr>
          <p:cNvPr id="4" name="rule-131">
            <a:extLst xmlns:a="http://schemas.openxmlformats.org/drawingml/2006/main">
              <a:ext uri="{FF2B5EF4-FFF2-40B4-BE49-F238E27FC236}">
                <a16:creationId xmlns:a16="http://schemas.microsoft.com/office/drawing/2014/main" id="{88E37E61-6683-48E2-AAA7-4CE426EA8B7A}"/>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132">
            <a:extLst xmlns:a="http://schemas.openxmlformats.org/drawingml/2006/main">
              <a:ext uri="{FF2B5EF4-FFF2-40B4-BE49-F238E27FC236}">
                <a16:creationId xmlns:a16="http://schemas.microsoft.com/office/drawing/2014/main" id="{075FB18F-CB16-461E-B367-AB1328119D18}"/>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264A8"/>
                </a:solidFill>
                <a:latin typeface="Meiryo"/>
                <a:ea typeface="Meiryo"/>
                <a:cs typeface="Meiryo"/>
              </a:defRPr>
            </a:pPr>
            <a:r>
              <a:rPr sz="1800" b="1">
                <a:solidFill>
                  <a:srgbClr val="2264A8"/>
                </a:solidFill>
                <a:latin typeface="Meiryo"/>
                <a:ea typeface="Meiryo"/>
                <a:cs typeface="Meiryo"/>
              </a:rPr>
              <a:t>図は代表的な組み合わせ例。順序はワークフロー定義で決める</a:t>
            </a:r>
          </a:p>
        </p:txBody>
      </p:sp>
      <p:sp>
        <p:nvSpPr>
          <p:cNvPr id="6" name="text-133">
            <a:extLst xmlns:a="http://schemas.openxmlformats.org/drawingml/2006/main">
              <a:ext uri="{FF2B5EF4-FFF2-40B4-BE49-F238E27FC236}">
                <a16:creationId xmlns:a16="http://schemas.microsoft.com/office/drawing/2014/main" id="{16CDE2C4-E640-41D2-91D3-C84294AA12E9}"/>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11</a:t>
            </a:r>
          </a:p>
        </p:txBody>
      </p:sp>
      <p:sp>
        <p:nvSpPr>
          <p:cNvPr id="7" name="text-134">
            <a:extLst xmlns:a="http://schemas.openxmlformats.org/drawingml/2006/main">
              <a:ext uri="{FF2B5EF4-FFF2-40B4-BE49-F238E27FC236}">
                <a16:creationId xmlns:a16="http://schemas.microsoft.com/office/drawing/2014/main" id="{F1ACF917-6DF1-4DCC-A4DF-24CE142A6EAD}"/>
              </a:ext>
            </a:extLst>
          </p:cNvPr>
          <p:cNvSpPr>
            <a:spLocks xmlns:a="http://schemas.openxmlformats.org/drawingml/2006/main" noGrp="1"/>
          </p:cNvSpPr>
          <p:nvPr/>
        </p:nvSpPr>
        <p:spPr>
          <a:xfrm xmlns:a="http://schemas.openxmlformats.org/drawingml/2006/main">
            <a:off x="685800"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264A8"/>
                </a:solidFill>
                <a:latin typeface="Meiryo"/>
                <a:ea typeface="Meiryo"/>
                <a:cs typeface="Meiryo"/>
              </a:defRPr>
            </a:pPr>
            <a:r>
              <a:rPr sz="1650" b="1">
                <a:solidFill>
                  <a:srgbClr val="2264A8"/>
                </a:solidFill>
                <a:latin typeface="Meiryo"/>
                <a:ea typeface="Meiryo"/>
                <a:cs typeface="Meiryo"/>
              </a:rPr>
              <a:t>01</a:t>
            </a:r>
          </a:p>
        </p:txBody>
      </p:sp>
      <p:sp>
        <p:nvSpPr>
          <p:cNvPr id="8" name="node-135">
            <a:extLst xmlns:a="http://schemas.openxmlformats.org/drawingml/2006/main">
              <a:ext uri="{FF2B5EF4-FFF2-40B4-BE49-F238E27FC236}">
                <a16:creationId xmlns:a16="http://schemas.microsoft.com/office/drawing/2014/main" id="{8CFBEA42-9B29-48B8-A990-4859EC264D7D}"/>
              </a:ext>
            </a:extLst>
          </p:cNvPr>
          <p:cNvSpPr>
            <a:spLocks xmlns:a="http://schemas.openxmlformats.org/drawingml/2006/main" noGrp="1"/>
          </p:cNvSpPr>
          <p:nvPr/>
        </p:nvSpPr>
        <p:spPr>
          <a:xfrm xmlns:a="http://schemas.openxmlformats.org/drawingml/2006/main">
            <a:off x="685800"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command</a:t>
            </a:r>
          </a:p>
        </p:txBody>
      </p:sp>
      <p:sp>
        <p:nvSpPr>
          <p:cNvPr id="9" name="text-136">
            <a:extLst xmlns:a="http://schemas.openxmlformats.org/drawingml/2006/main">
              <a:ext uri="{FF2B5EF4-FFF2-40B4-BE49-F238E27FC236}">
                <a16:creationId xmlns:a16="http://schemas.microsoft.com/office/drawing/2014/main" id="{9B864517-D817-4B20-B4E6-CB8CA7F23244}"/>
              </a:ext>
            </a:extLst>
          </p:cNvPr>
          <p:cNvSpPr>
            <a:spLocks xmlns:a="http://schemas.openxmlformats.org/drawingml/2006/main" noGrp="1"/>
          </p:cNvSpPr>
          <p:nvPr/>
        </p:nvSpPr>
        <p:spPr>
          <a:xfrm xmlns:a="http://schemas.openxmlformats.org/drawingml/2006/main">
            <a:off x="685800"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登録providerを実行</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結果をstateへ格納</a:t>
            </a:r>
          </a:p>
        </p:txBody>
      </p:sp>
      <p:sp>
        <p:nvSpPr>
          <p:cNvPr id="10" name="text-137">
            <a:extLst xmlns:a="http://schemas.openxmlformats.org/drawingml/2006/main">
              <a:ext uri="{FF2B5EF4-FFF2-40B4-BE49-F238E27FC236}">
                <a16:creationId xmlns:a16="http://schemas.microsoft.com/office/drawing/2014/main" id="{39534B18-D9E5-480D-871B-E51A8E1DA9EF}"/>
              </a:ext>
            </a:extLst>
          </p:cNvPr>
          <p:cNvSpPr>
            <a:spLocks xmlns:a="http://schemas.openxmlformats.org/drawingml/2006/main" noGrp="1"/>
          </p:cNvSpPr>
          <p:nvPr/>
        </p:nvSpPr>
        <p:spPr>
          <a:xfrm xmlns:a="http://schemas.openxmlformats.org/drawingml/2006/main">
            <a:off x="3471863"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264A8"/>
                </a:solidFill>
                <a:latin typeface="Meiryo"/>
                <a:ea typeface="Meiryo"/>
                <a:cs typeface="Meiryo"/>
              </a:defRPr>
            </a:pPr>
            <a:r>
              <a:rPr sz="1650" b="1">
                <a:solidFill>
                  <a:srgbClr val="2264A8"/>
                </a:solidFill>
                <a:latin typeface="Meiryo"/>
                <a:ea typeface="Meiryo"/>
                <a:cs typeface="Meiryo"/>
              </a:rPr>
              <a:t>02</a:t>
            </a:r>
          </a:p>
        </p:txBody>
      </p:sp>
      <p:sp>
        <p:nvSpPr>
          <p:cNvPr id="11" name="node-138">
            <a:extLst xmlns:a="http://schemas.openxmlformats.org/drawingml/2006/main">
              <a:ext uri="{FF2B5EF4-FFF2-40B4-BE49-F238E27FC236}">
                <a16:creationId xmlns:a16="http://schemas.microsoft.com/office/drawing/2014/main" id="{58039997-0D7B-4F2C-A458-325162FC6886}"/>
              </a:ext>
            </a:extLst>
          </p:cNvPr>
          <p:cNvSpPr>
            <a:spLocks xmlns:a="http://schemas.openxmlformats.org/drawingml/2006/main" noGrp="1"/>
          </p:cNvSpPr>
          <p:nvPr/>
        </p:nvSpPr>
        <p:spPr>
          <a:xfrm xmlns:a="http://schemas.openxmlformats.org/drawingml/2006/main">
            <a:off x="3471863"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agent</a:t>
            </a:r>
          </a:p>
        </p:txBody>
      </p:sp>
      <p:sp>
        <p:nvSpPr>
          <p:cNvPr id="12" name="text-139">
            <a:extLst xmlns:a="http://schemas.openxmlformats.org/drawingml/2006/main">
              <a:ext uri="{FF2B5EF4-FFF2-40B4-BE49-F238E27FC236}">
                <a16:creationId xmlns:a16="http://schemas.microsoft.com/office/drawing/2014/main" id="{0AEABE28-B008-4645-9912-71AC95D23845}"/>
              </a:ext>
            </a:extLst>
          </p:cNvPr>
          <p:cNvSpPr>
            <a:spLocks xmlns:a="http://schemas.openxmlformats.org/drawingml/2006/main" noGrp="1"/>
          </p:cNvSpPr>
          <p:nvPr/>
        </p:nvSpPr>
        <p:spPr>
          <a:xfrm xmlns:a="http://schemas.openxmlformats.org/drawingml/2006/main">
            <a:off x="3471863"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promptとstateを渡す</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AIの結果を受け取る</a:t>
            </a:r>
          </a:p>
        </p:txBody>
      </p:sp>
      <p:sp>
        <p:nvSpPr>
          <p:cNvPr id="13" name="text-140">
            <a:extLst xmlns:a="http://schemas.openxmlformats.org/drawingml/2006/main">
              <a:ext uri="{FF2B5EF4-FFF2-40B4-BE49-F238E27FC236}">
                <a16:creationId xmlns:a16="http://schemas.microsoft.com/office/drawing/2014/main" id="{069C5272-8E3F-486F-BBC4-1A1354EA9DB8}"/>
              </a:ext>
            </a:extLst>
          </p:cNvPr>
          <p:cNvSpPr>
            <a:spLocks xmlns:a="http://schemas.openxmlformats.org/drawingml/2006/main" noGrp="1"/>
          </p:cNvSpPr>
          <p:nvPr/>
        </p:nvSpPr>
        <p:spPr>
          <a:xfrm xmlns:a="http://schemas.openxmlformats.org/drawingml/2006/main">
            <a:off x="6257925"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264A8"/>
                </a:solidFill>
                <a:latin typeface="Meiryo"/>
                <a:ea typeface="Meiryo"/>
                <a:cs typeface="Meiryo"/>
              </a:defRPr>
            </a:pPr>
            <a:r>
              <a:rPr sz="1650" b="1">
                <a:solidFill>
                  <a:srgbClr val="2264A8"/>
                </a:solidFill>
                <a:latin typeface="Meiryo"/>
                <a:ea typeface="Meiryo"/>
                <a:cs typeface="Meiryo"/>
              </a:rPr>
              <a:t>03</a:t>
            </a:r>
          </a:p>
        </p:txBody>
      </p:sp>
      <p:sp>
        <p:nvSpPr>
          <p:cNvPr id="14" name="node-141">
            <a:extLst xmlns:a="http://schemas.openxmlformats.org/drawingml/2006/main">
              <a:ext uri="{FF2B5EF4-FFF2-40B4-BE49-F238E27FC236}">
                <a16:creationId xmlns:a16="http://schemas.microsoft.com/office/drawing/2014/main" id="{201119F5-3AEB-4475-B8F2-2D97C037D27E}"/>
              </a:ext>
            </a:extLst>
          </p:cNvPr>
          <p:cNvSpPr>
            <a:spLocks xmlns:a="http://schemas.openxmlformats.org/drawingml/2006/main" noGrp="1"/>
          </p:cNvSpPr>
          <p:nvPr/>
        </p:nvSpPr>
        <p:spPr>
          <a:xfrm xmlns:a="http://schemas.openxmlformats.org/drawingml/2006/main">
            <a:off x="6257925"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manual</a:t>
            </a:r>
          </a:p>
        </p:txBody>
      </p:sp>
      <p:sp>
        <p:nvSpPr>
          <p:cNvPr id="15" name="text-142">
            <a:extLst xmlns:a="http://schemas.openxmlformats.org/drawingml/2006/main">
              <a:ext uri="{FF2B5EF4-FFF2-40B4-BE49-F238E27FC236}">
                <a16:creationId xmlns:a16="http://schemas.microsoft.com/office/drawing/2014/main" id="{D0EDF8B2-AC5A-42D6-9789-A765A5A35BE7}"/>
              </a:ext>
            </a:extLst>
          </p:cNvPr>
          <p:cNvSpPr>
            <a:spLocks xmlns:a="http://schemas.openxmlformats.org/drawingml/2006/main" noGrp="1"/>
          </p:cNvSpPr>
          <p:nvPr/>
        </p:nvSpPr>
        <p:spPr>
          <a:xfrm xmlns:a="http://schemas.openxmlformats.org/drawingml/2006/main">
            <a:off x="6257925"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フォーム入力や</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承認を待つ</a:t>
            </a:r>
          </a:p>
        </p:txBody>
      </p:sp>
      <p:sp>
        <p:nvSpPr>
          <p:cNvPr id="16" name="text-143">
            <a:extLst xmlns:a="http://schemas.openxmlformats.org/drawingml/2006/main">
              <a:ext uri="{FF2B5EF4-FFF2-40B4-BE49-F238E27FC236}">
                <a16:creationId xmlns:a16="http://schemas.microsoft.com/office/drawing/2014/main" id="{DE99EBF1-DAFE-4898-833D-B39E402C439F}"/>
              </a:ext>
            </a:extLst>
          </p:cNvPr>
          <p:cNvSpPr>
            <a:spLocks xmlns:a="http://schemas.openxmlformats.org/drawingml/2006/main" noGrp="1"/>
          </p:cNvSpPr>
          <p:nvPr/>
        </p:nvSpPr>
        <p:spPr>
          <a:xfrm xmlns:a="http://schemas.openxmlformats.org/drawingml/2006/main">
            <a:off x="9043988"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264A8"/>
                </a:solidFill>
                <a:latin typeface="Meiryo"/>
                <a:ea typeface="Meiryo"/>
                <a:cs typeface="Meiryo"/>
              </a:defRPr>
            </a:pPr>
            <a:r>
              <a:rPr sz="1650" b="1">
                <a:solidFill>
                  <a:srgbClr val="2264A8"/>
                </a:solidFill>
                <a:latin typeface="Meiryo"/>
                <a:ea typeface="Meiryo"/>
                <a:cs typeface="Meiryo"/>
              </a:rPr>
              <a:t>04</a:t>
            </a:r>
          </a:p>
        </p:txBody>
      </p:sp>
      <p:sp>
        <p:nvSpPr>
          <p:cNvPr id="17" name="node-144">
            <a:extLst xmlns:a="http://schemas.openxmlformats.org/drawingml/2006/main">
              <a:ext uri="{FF2B5EF4-FFF2-40B4-BE49-F238E27FC236}">
                <a16:creationId xmlns:a16="http://schemas.microsoft.com/office/drawing/2014/main" id="{AC72C670-4107-4BA7-97CC-9C8B76915109}"/>
              </a:ext>
            </a:extLst>
          </p:cNvPr>
          <p:cNvSpPr>
            <a:spLocks xmlns:a="http://schemas.openxmlformats.org/drawingml/2006/main" noGrp="1"/>
          </p:cNvSpPr>
          <p:nvPr/>
        </p:nvSpPr>
        <p:spPr>
          <a:xfrm xmlns:a="http://schemas.openxmlformats.org/drawingml/2006/main">
            <a:off x="9043988"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result</a:t>
            </a:r>
          </a:p>
        </p:txBody>
      </p:sp>
      <p:sp>
        <p:nvSpPr>
          <p:cNvPr id="18" name="text-145">
            <a:extLst xmlns:a="http://schemas.openxmlformats.org/drawingml/2006/main">
              <a:ext uri="{FF2B5EF4-FFF2-40B4-BE49-F238E27FC236}">
                <a16:creationId xmlns:a16="http://schemas.microsoft.com/office/drawing/2014/main" id="{FB022262-32D9-4611-BA92-F29FF6774DE7}"/>
              </a:ext>
            </a:extLst>
          </p:cNvPr>
          <p:cNvSpPr>
            <a:spLocks xmlns:a="http://schemas.openxmlformats.org/drawingml/2006/main" noGrp="1"/>
          </p:cNvSpPr>
          <p:nvPr/>
        </p:nvSpPr>
        <p:spPr>
          <a:xfrm xmlns:a="http://schemas.openxmlformats.org/drawingml/2006/main">
            <a:off x="9043988"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stateやAI結果を</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sinkへ保存・転送</a:t>
            </a:r>
          </a:p>
        </p:txBody>
      </p:sp>
      <p:cxnSp>
        <p:nvCxnSpPr>
          <p:cNvPr id="40" name=""/>
          <p:cNvCxnSpPr>
            <a:stCxn xmlns:a="http://schemas.openxmlformats.org/drawingml/2006/main" id="8" idx="3"/>
            <a:endCxn xmlns:a="http://schemas.openxmlformats.org/drawingml/2006/main" id="11" idx="1"/>
          </p:cNvCxnSpPr>
          <p:nvPr/>
        </p:nvCxnSpPr>
        <p:spPr>
          <a:xfrm xmlns:a="http://schemas.openxmlformats.org/drawingml/2006/main">
            <a:off x="3148013"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1" name=""/>
          <p:cNvCxnSpPr>
            <a:stCxn xmlns:a="http://schemas.openxmlformats.org/drawingml/2006/main" id="11" idx="3"/>
            <a:endCxn xmlns:a="http://schemas.openxmlformats.org/drawingml/2006/main" id="14" idx="1"/>
          </p:cNvCxnSpPr>
          <p:nvPr/>
        </p:nvCxnSpPr>
        <p:spPr>
          <a:xfrm xmlns:a="http://schemas.openxmlformats.org/drawingml/2006/main">
            <a:off x="5934076" y="3338513"/>
            <a:ext cx="323849"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2" name=""/>
          <p:cNvCxnSpPr>
            <a:stCxn xmlns:a="http://schemas.openxmlformats.org/drawingml/2006/main" id="14" idx="3"/>
            <a:endCxn xmlns:a="http://schemas.openxmlformats.org/drawingml/2006/main" id="17" idx="1"/>
          </p:cNvCxnSpPr>
          <p:nvPr/>
        </p:nvCxnSpPr>
        <p:spPr>
          <a:xfrm xmlns:a="http://schemas.openxmlformats.org/drawingml/2006/main">
            <a:off x="8720138"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190495785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146">
            <a:extLst xmlns:a="http://schemas.openxmlformats.org/drawingml/2006/main">
              <a:ext uri="{FF2B5EF4-FFF2-40B4-BE49-F238E27FC236}">
                <a16:creationId xmlns:a16="http://schemas.microsoft.com/office/drawing/2014/main" id="{EF2BFA6A-0A05-4796-83E8-2F41B8B696CB}"/>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4A8"/>
                </a:solidFill>
                <a:latin typeface="Meiryo"/>
                <a:ea typeface="Meiryo"/>
                <a:cs typeface="Meiryo"/>
              </a:defRPr>
            </a:pPr>
            <a:r>
              <a:rPr sz="1425" b="1">
                <a:solidFill>
                  <a:srgbClr val="2264A8"/>
                </a:solidFill>
                <a:latin typeface="Meiryo"/>
                <a:ea typeface="Meiryo"/>
                <a:cs typeface="Meiryo"/>
              </a:rPr>
              <a:t>ワークフロー管理</a:t>
            </a:r>
          </a:p>
        </p:txBody>
      </p:sp>
      <p:sp>
        <p:nvSpPr>
          <p:cNvPr id="2" name="text-147">
            <a:extLst xmlns:a="http://schemas.openxmlformats.org/drawingml/2006/main">
              <a:ext uri="{FF2B5EF4-FFF2-40B4-BE49-F238E27FC236}">
                <a16:creationId xmlns:a16="http://schemas.microsoft.com/office/drawing/2014/main" id="{87D3D90A-3E16-4BF9-BE99-B56911A98737}"/>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実行状態はrun.jsonに保存する</a:t>
            </a:r>
          </a:p>
        </p:txBody>
      </p:sp>
      <p:sp>
        <p:nvSpPr>
          <p:cNvPr id="3" name="text-148">
            <a:extLst xmlns:a="http://schemas.openxmlformats.org/drawingml/2006/main">
              <a:ext uri="{FF2B5EF4-FFF2-40B4-BE49-F238E27FC236}">
                <a16:creationId xmlns:a16="http://schemas.microsoft.com/office/drawing/2014/main" id="{8AEDFB58-3DC7-48AF-A978-438F5A7E603C}"/>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画面やBobのTodoは、保存済み状態をもとに表示する</a:t>
            </a:r>
          </a:p>
        </p:txBody>
      </p:sp>
      <p:sp>
        <p:nvSpPr>
          <p:cNvPr id="4" name="rule-149">
            <a:extLst xmlns:a="http://schemas.openxmlformats.org/drawingml/2006/main">
              <a:ext uri="{FF2B5EF4-FFF2-40B4-BE49-F238E27FC236}">
                <a16:creationId xmlns:a16="http://schemas.microsoft.com/office/drawing/2014/main" id="{7A451EFE-C169-4E97-9A70-BBA3768E4084}"/>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150">
            <a:extLst xmlns:a="http://schemas.openxmlformats.org/drawingml/2006/main">
              <a:ext uri="{FF2B5EF4-FFF2-40B4-BE49-F238E27FC236}">
                <a16:creationId xmlns:a16="http://schemas.microsoft.com/office/drawing/2014/main" id="{9D5002EB-412E-40CA-82C1-717608D9FE59}"/>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264A8"/>
                </a:solidFill>
                <a:latin typeface="Meiryo"/>
                <a:ea typeface="Meiryo"/>
                <a:cs typeface="Meiryo"/>
              </a:defRPr>
            </a:pPr>
            <a:r>
              <a:rPr sz="1800" b="1">
                <a:solidFill>
                  <a:srgbClr val="2264A8"/>
                </a:solidFill>
                <a:latin typeface="Meiryo"/>
                <a:ea typeface="Meiryo"/>
                <a:cs typeface="Meiryo"/>
              </a:rPr>
              <a:t>再開時は保存状態に加え、定義・入力・実行対象の整合も確認する</a:t>
            </a:r>
          </a:p>
        </p:txBody>
      </p:sp>
      <p:sp>
        <p:nvSpPr>
          <p:cNvPr id="6" name="text-151">
            <a:extLst xmlns:a="http://schemas.openxmlformats.org/drawingml/2006/main">
              <a:ext uri="{FF2B5EF4-FFF2-40B4-BE49-F238E27FC236}">
                <a16:creationId xmlns:a16="http://schemas.microsoft.com/office/drawing/2014/main" id="{187ECD15-1770-4F64-B45C-977C67AA2F41}"/>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12</a:t>
            </a:r>
          </a:p>
        </p:txBody>
      </p:sp>
      <p:sp>
        <p:nvSpPr>
          <p:cNvPr id="7" name="node-152">
            <a:extLst xmlns:a="http://schemas.openxmlformats.org/drawingml/2006/main">
              <a:ext uri="{FF2B5EF4-FFF2-40B4-BE49-F238E27FC236}">
                <a16:creationId xmlns:a16="http://schemas.microsoft.com/office/drawing/2014/main" id="{762F11DD-A84A-4C53-99BD-542205A2A475}"/>
              </a:ext>
            </a:extLst>
          </p:cNvPr>
          <p:cNvSpPr>
            <a:spLocks xmlns:a="http://schemas.openxmlformats.org/drawingml/2006/main" noGrp="1"/>
          </p:cNvSpPr>
          <p:nvPr/>
        </p:nvSpPr>
        <p:spPr>
          <a:xfrm xmlns:a="http://schemas.openxmlformats.org/drawingml/2006/main">
            <a:off x="685800" y="2209800"/>
            <a:ext cx="6238875" cy="2457450"/>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025" b="1">
                <a:solidFill>
                  <a:srgbClr val="2264A8"/>
                </a:solidFill>
                <a:latin typeface="Meiryo"/>
                <a:ea typeface="Meiryo"/>
                <a:cs typeface="Meiryo"/>
              </a:defRPr>
            </a:pPr>
            <a:r>
              <a:rPr sz="2025" b="1">
                <a:solidFill>
                  <a:srgbClr val="2264A8"/>
                </a:solidFill>
                <a:latin typeface="Meiryo"/>
                <a:ea typeface="Meiryo"/>
                <a:cs typeface="Meiryo"/>
              </a:rPr>
              <a:t>run.json</a:t>
            </a:r>
          </a:p>
          <a:p xmlns:a="http://schemas.openxmlformats.org/drawingml/2006/main">
            <a:r>
              <a:t/>
            </a:r>
          </a:p>
          <a:p xmlns:a="http://schemas.openxmlformats.org/drawingml/2006/main">
            <a:pPr algn="ctr">
              <a:defRPr sz="2025" b="1">
                <a:solidFill>
                  <a:srgbClr val="2264A8"/>
                </a:solidFill>
                <a:latin typeface="Meiryo"/>
                <a:ea typeface="Meiryo"/>
                <a:cs typeface="Meiryo"/>
              </a:defRPr>
            </a:pPr>
            <a:r>
              <a:rPr sz="2025" b="1">
                <a:solidFill>
                  <a:srgbClr val="2264A8"/>
                </a:solidFill>
                <a:latin typeface="Meiryo"/>
                <a:ea typeface="Meiryo"/>
                <a:cs typeface="Meiryo"/>
              </a:rPr>
              <a:t>定義・入力・step状態・試行履歴</a:t>
            </a:r>
          </a:p>
          <a:p xmlns:a="http://schemas.openxmlformats.org/drawingml/2006/main">
            <a:pPr algn="ctr">
              <a:defRPr sz="2025" b="1">
                <a:solidFill>
                  <a:srgbClr val="2264A8"/>
                </a:solidFill>
                <a:latin typeface="Meiryo"/>
                <a:ea typeface="Meiryo"/>
                <a:cs typeface="Meiryo"/>
              </a:defRPr>
            </a:pPr>
            <a:r>
              <a:rPr sz="2025" b="1">
                <a:solidFill>
                  <a:srgbClr val="2264A8"/>
                </a:solidFill>
                <a:latin typeface="Meiryo"/>
                <a:ea typeface="Meiryo"/>
                <a:cs typeface="Meiryo"/>
              </a:rPr>
              <a:t>結果・分岐・成果物の由来</a:t>
            </a:r>
          </a:p>
        </p:txBody>
      </p:sp>
      <p:sp>
        <p:nvSpPr>
          <p:cNvPr id="8" name="node-153">
            <a:extLst xmlns:a="http://schemas.openxmlformats.org/drawingml/2006/main">
              <a:ext uri="{FF2B5EF4-FFF2-40B4-BE49-F238E27FC236}">
                <a16:creationId xmlns:a16="http://schemas.microsoft.com/office/drawing/2014/main" id="{7E3519F8-D25F-436B-9E57-8FD92E864ACF}"/>
              </a:ext>
            </a:extLst>
          </p:cNvPr>
          <p:cNvSpPr>
            <a:spLocks xmlns:a="http://schemas.openxmlformats.org/drawingml/2006/main" noGrp="1"/>
          </p:cNvSpPr>
          <p:nvPr/>
        </p:nvSpPr>
        <p:spPr>
          <a:xfrm xmlns:a="http://schemas.openxmlformats.org/drawingml/2006/main">
            <a:off x="685800" y="5086350"/>
            <a:ext cx="6238875" cy="552450"/>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875" b="1">
                <a:solidFill>
                  <a:srgbClr val="2264A8"/>
                </a:solidFill>
                <a:latin typeface="Meiryo"/>
                <a:ea typeface="Meiryo"/>
                <a:cs typeface="Meiryo"/>
              </a:defRPr>
            </a:pPr>
            <a:r>
              <a:rPr sz="1875" b="1">
                <a:solidFill>
                  <a:srgbClr val="2264A8"/>
                </a:solidFill>
                <a:latin typeface="Meiryo"/>
                <a:ea typeface="Meiryo"/>
                <a:cs typeface="Meiryo"/>
              </a:rPr>
              <a:t>操作ハブ / Bob Todoに状態を表示</a:t>
            </a:r>
          </a:p>
        </p:txBody>
      </p:sp>
      <p:cxnSp>
        <p:nvCxnSpPr>
          <p:cNvPr id="21" name=""/>
          <p:cNvCxnSpPr>
            <a:stCxn xmlns:a="http://schemas.openxmlformats.org/drawingml/2006/main" id="7" idx="2"/>
            <a:endCxn xmlns:a="http://schemas.openxmlformats.org/drawingml/2006/main" id="8" idx="0"/>
          </p:cNvCxnSpPr>
          <p:nvPr/>
        </p:nvCxnSpPr>
        <p:spPr>
          <a:xfrm xmlns:a="http://schemas.openxmlformats.org/drawingml/2006/main">
            <a:off x="3805238" y="4667250"/>
            <a:ext cx="0" cy="41910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
        <p:nvSpPr>
          <p:cNvPr id="10" name="text-154">
            <a:extLst xmlns:a="http://schemas.openxmlformats.org/drawingml/2006/main">
              <a:ext uri="{FF2B5EF4-FFF2-40B4-BE49-F238E27FC236}">
                <a16:creationId xmlns:a16="http://schemas.microsoft.com/office/drawing/2014/main" id="{FF3E87B0-84D4-4E10-B1AA-50490B7C8086}"/>
              </a:ext>
            </a:extLst>
          </p:cNvPr>
          <p:cNvSpPr>
            <a:spLocks xmlns:a="http://schemas.openxmlformats.org/drawingml/2006/main" noGrp="1"/>
          </p:cNvSpPr>
          <p:nvPr/>
        </p:nvSpPr>
        <p:spPr>
          <a:xfrm xmlns:a="http://schemas.openxmlformats.org/drawingml/2006/main">
            <a:off x="7762875" y="2190750"/>
            <a:ext cx="37433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264A8"/>
                </a:solidFill>
                <a:latin typeface="Meiryo"/>
                <a:ea typeface="Meiryo"/>
                <a:cs typeface="Meiryo"/>
              </a:defRPr>
            </a:pPr>
            <a:r>
              <a:rPr sz="2025" b="1">
                <a:solidFill>
                  <a:srgbClr val="2264A8"/>
                </a:solidFill>
                <a:latin typeface="Meiryo"/>
                <a:ea typeface="Meiryo"/>
                <a:cs typeface="Meiryo"/>
              </a:rPr>
              <a:t>運用を支える別ファイル</a:t>
            </a:r>
          </a:p>
        </p:txBody>
      </p:sp>
      <p:sp>
        <p:nvSpPr>
          <p:cNvPr id="11" name="node-155">
            <a:extLst xmlns:a="http://schemas.openxmlformats.org/drawingml/2006/main">
              <a:ext uri="{FF2B5EF4-FFF2-40B4-BE49-F238E27FC236}">
                <a16:creationId xmlns:a16="http://schemas.microsoft.com/office/drawing/2014/main" id="{6F8C1F41-B5D5-4B36-9BCA-DA097FBE35EF}"/>
              </a:ext>
            </a:extLst>
          </p:cNvPr>
          <p:cNvSpPr>
            <a:spLocks xmlns:a="http://schemas.openxmlformats.org/drawingml/2006/main" noGrp="1"/>
          </p:cNvSpPr>
          <p:nvPr/>
        </p:nvSpPr>
        <p:spPr>
          <a:xfrm xmlns:a="http://schemas.openxmlformats.org/drawingml/2006/main">
            <a:off x="7762875" y="2828925"/>
            <a:ext cx="3743325" cy="990600"/>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control.json</a:t>
            </a:r>
          </a:p>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停止要求・再開メモ</a:t>
            </a:r>
          </a:p>
        </p:txBody>
      </p:sp>
      <p:sp>
        <p:nvSpPr>
          <p:cNvPr id="12" name="node-156">
            <a:extLst xmlns:a="http://schemas.openxmlformats.org/drawingml/2006/main">
              <a:ext uri="{FF2B5EF4-FFF2-40B4-BE49-F238E27FC236}">
                <a16:creationId xmlns:a16="http://schemas.microsoft.com/office/drawing/2014/main" id="{EAEC72F7-7E71-486E-8673-E7BD8256A6C1}"/>
              </a:ext>
            </a:extLst>
          </p:cNvPr>
          <p:cNvSpPr>
            <a:spLocks xmlns:a="http://schemas.openxmlformats.org/drawingml/2006/main" noGrp="1"/>
          </p:cNvSpPr>
          <p:nvPr/>
        </p:nvSpPr>
        <p:spPr>
          <a:xfrm xmlns:a="http://schemas.openxmlformats.org/drawingml/2006/main">
            <a:off x="7762875" y="4143375"/>
            <a:ext cx="3743325" cy="990600"/>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task snapshots</a:t>
            </a:r>
          </a:p>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復旧・診断の補助証跡</a:t>
            </a:r>
          </a:p>
        </p:txBody>
      </p:sp>
    </p:spTree>
    <p:extLst>
      <p:ext uri="{BB962C8B-B14F-4D97-AF65-F5344CB8AC3E}">
        <p14:creationId xmlns:p14="http://schemas.microsoft.com/office/powerpoint/2010/main" val="14535354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157">
            <a:extLst xmlns:a="http://schemas.openxmlformats.org/drawingml/2006/main">
              <a:ext uri="{FF2B5EF4-FFF2-40B4-BE49-F238E27FC236}">
                <a16:creationId xmlns:a16="http://schemas.microsoft.com/office/drawing/2014/main" id="{68B95F28-8BE8-410A-93C7-F1CB3AFA7427}"/>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4A8"/>
                </a:solidFill>
                <a:latin typeface="Meiryo"/>
                <a:ea typeface="Meiryo"/>
                <a:cs typeface="Meiryo"/>
              </a:defRPr>
            </a:pPr>
            <a:r>
              <a:rPr sz="1425" b="1">
                <a:solidFill>
                  <a:srgbClr val="2264A8"/>
                </a:solidFill>
                <a:latin typeface="Meiryo"/>
                <a:ea typeface="Meiryo"/>
                <a:cs typeface="Meiryo"/>
              </a:rPr>
              <a:t>ワークフロー管理</a:t>
            </a:r>
          </a:p>
        </p:txBody>
      </p:sp>
      <p:sp>
        <p:nvSpPr>
          <p:cNvPr id="2" name="text-158">
            <a:extLst xmlns:a="http://schemas.openxmlformats.org/drawingml/2006/main">
              <a:ext uri="{FF2B5EF4-FFF2-40B4-BE49-F238E27FC236}">
                <a16:creationId xmlns:a16="http://schemas.microsoft.com/office/drawing/2014/main" id="{C8AFB6EA-4C73-412E-ABF7-31F4C9A578C1}"/>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承認・分岐・再試行</a:t>
            </a:r>
          </a:p>
        </p:txBody>
      </p:sp>
      <p:sp>
        <p:nvSpPr>
          <p:cNvPr id="3" name="text-159">
            <a:extLst xmlns:a="http://schemas.openxmlformats.org/drawingml/2006/main">
              <a:ext uri="{FF2B5EF4-FFF2-40B4-BE49-F238E27FC236}">
                <a16:creationId xmlns:a16="http://schemas.microsoft.com/office/drawing/2014/main" id="{D804D3E9-D903-441B-A90A-16D66583A15D}"/>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ステップの結果を確認し、次へ進むかやり直すかを決める</a:t>
            </a:r>
          </a:p>
        </p:txBody>
      </p:sp>
      <p:sp>
        <p:nvSpPr>
          <p:cNvPr id="4" name="rule-160">
            <a:extLst xmlns:a="http://schemas.openxmlformats.org/drawingml/2006/main">
              <a:ext uri="{FF2B5EF4-FFF2-40B4-BE49-F238E27FC236}">
                <a16:creationId xmlns:a16="http://schemas.microsoft.com/office/drawing/2014/main" id="{CC16178F-C59A-4974-A42A-756F7B9153C2}"/>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161">
            <a:extLst xmlns:a="http://schemas.openxmlformats.org/drawingml/2006/main">
              <a:ext uri="{FF2B5EF4-FFF2-40B4-BE49-F238E27FC236}">
                <a16:creationId xmlns:a16="http://schemas.microsoft.com/office/drawing/2014/main" id="{EFACBF24-BF10-4B10-8C88-617D597E93F9}"/>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264A8"/>
                </a:solidFill>
                <a:latin typeface="Meiryo"/>
                <a:ea typeface="Meiryo"/>
                <a:cs typeface="Meiryo"/>
              </a:defRPr>
            </a:pPr>
            <a:r>
              <a:rPr sz="1800" b="1">
                <a:solidFill>
                  <a:srgbClr val="2264A8"/>
                </a:solidFill>
                <a:latin typeface="Meiryo"/>
                <a:ea typeface="Meiryo"/>
                <a:cs typeface="Meiryo"/>
              </a:rPr>
              <a:t>ステップ後の確認と、明示的なmanual承認を用途に応じて使い分ける</a:t>
            </a:r>
          </a:p>
        </p:txBody>
      </p:sp>
      <p:sp>
        <p:nvSpPr>
          <p:cNvPr id="6" name="text-162">
            <a:extLst xmlns:a="http://schemas.openxmlformats.org/drawingml/2006/main">
              <a:ext uri="{FF2B5EF4-FFF2-40B4-BE49-F238E27FC236}">
                <a16:creationId xmlns:a16="http://schemas.microsoft.com/office/drawing/2014/main" id="{8D2712BE-7D53-4556-937B-14FC84858028}"/>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13</a:t>
            </a:r>
          </a:p>
        </p:txBody>
      </p:sp>
      <p:sp>
        <p:nvSpPr>
          <p:cNvPr id="7" name="node-163">
            <a:extLst xmlns:a="http://schemas.openxmlformats.org/drawingml/2006/main">
              <a:ext uri="{FF2B5EF4-FFF2-40B4-BE49-F238E27FC236}">
                <a16:creationId xmlns:a16="http://schemas.microsoft.com/office/drawing/2014/main" id="{7D270698-108F-4EF3-A7E9-1C035CBDB279}"/>
              </a:ext>
            </a:extLst>
          </p:cNvPr>
          <p:cNvSpPr>
            <a:spLocks xmlns:a="http://schemas.openxmlformats.org/drawingml/2006/main" noGrp="1"/>
          </p:cNvSpPr>
          <p:nvPr/>
        </p:nvSpPr>
        <p:spPr>
          <a:xfrm xmlns:a="http://schemas.openxmlformats.org/drawingml/2006/main">
            <a:off x="685800" y="2914650"/>
            <a:ext cx="2409825" cy="90487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025" b="1">
                <a:solidFill>
                  <a:srgbClr val="2264A8"/>
                </a:solidFill>
                <a:latin typeface="Meiryo"/>
                <a:ea typeface="Meiryo"/>
                <a:cs typeface="Meiryo"/>
              </a:defRPr>
            </a:pPr>
            <a:r>
              <a:rPr sz="2025" b="1">
                <a:solidFill>
                  <a:srgbClr val="2264A8"/>
                </a:solidFill>
                <a:latin typeface="Meiryo"/>
                <a:ea typeface="Meiryo"/>
                <a:cs typeface="Meiryo"/>
              </a:rPr>
              <a:t>ステップ実行</a:t>
            </a:r>
          </a:p>
        </p:txBody>
      </p:sp>
      <p:sp>
        <p:nvSpPr>
          <p:cNvPr id="8" name="node-164">
            <a:extLst xmlns:a="http://schemas.openxmlformats.org/drawingml/2006/main">
              <a:ext uri="{FF2B5EF4-FFF2-40B4-BE49-F238E27FC236}">
                <a16:creationId xmlns:a16="http://schemas.microsoft.com/office/drawing/2014/main" id="{6099A974-6ED8-47E4-99C9-25AA20D312DC}"/>
              </a:ext>
            </a:extLst>
          </p:cNvPr>
          <p:cNvSpPr>
            <a:spLocks xmlns:a="http://schemas.openxmlformats.org/drawingml/2006/main" noGrp="1"/>
          </p:cNvSpPr>
          <p:nvPr/>
        </p:nvSpPr>
        <p:spPr>
          <a:xfrm xmlns:a="http://schemas.openxmlformats.org/drawingml/2006/main">
            <a:off x="4143375" y="2914650"/>
            <a:ext cx="2619375" cy="90487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025" b="1">
                <a:solidFill>
                  <a:srgbClr val="2264A8"/>
                </a:solidFill>
                <a:latin typeface="Meiryo"/>
                <a:ea typeface="Meiryo"/>
                <a:cs typeface="Meiryo"/>
              </a:defRPr>
            </a:pPr>
            <a:r>
              <a:rPr sz="2025" b="1">
                <a:solidFill>
                  <a:srgbClr val="2264A8"/>
                </a:solidFill>
                <a:latin typeface="Meiryo"/>
                <a:ea typeface="Meiryo"/>
                <a:cs typeface="Meiryo"/>
              </a:rPr>
              <a:t>結果を確認</a:t>
            </a:r>
          </a:p>
        </p:txBody>
      </p:sp>
      <p:sp>
        <p:nvSpPr>
          <p:cNvPr id="9" name="node-165">
            <a:extLst xmlns:a="http://schemas.openxmlformats.org/drawingml/2006/main">
              <a:ext uri="{FF2B5EF4-FFF2-40B4-BE49-F238E27FC236}">
                <a16:creationId xmlns:a16="http://schemas.microsoft.com/office/drawing/2014/main" id="{C1798126-1B46-42B5-9B62-21E7F17757B5}"/>
              </a:ext>
            </a:extLst>
          </p:cNvPr>
          <p:cNvSpPr>
            <a:spLocks xmlns:a="http://schemas.openxmlformats.org/drawingml/2006/main" noGrp="1"/>
          </p:cNvSpPr>
          <p:nvPr/>
        </p:nvSpPr>
        <p:spPr>
          <a:xfrm xmlns:a="http://schemas.openxmlformats.org/drawingml/2006/main">
            <a:off x="8905875" y="2914650"/>
            <a:ext cx="2600325" cy="90487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025" b="1">
                <a:solidFill>
                  <a:srgbClr val="2264A8"/>
                </a:solidFill>
                <a:latin typeface="Meiryo"/>
                <a:ea typeface="Meiryo"/>
                <a:cs typeface="Meiryo"/>
              </a:defRPr>
            </a:pPr>
            <a:r>
              <a:rPr sz="2025" b="1">
                <a:solidFill>
                  <a:srgbClr val="2264A8"/>
                </a:solidFill>
                <a:latin typeface="Meiryo"/>
                <a:ea typeface="Meiryo"/>
                <a:cs typeface="Meiryo"/>
              </a:rPr>
              <a:t>次へ進む</a:t>
            </a:r>
          </a:p>
        </p:txBody>
      </p:sp>
      <p:sp>
        <p:nvSpPr>
          <p:cNvPr id="10" name="node-166">
            <a:extLst xmlns:a="http://schemas.openxmlformats.org/drawingml/2006/main">
              <a:ext uri="{FF2B5EF4-FFF2-40B4-BE49-F238E27FC236}">
                <a16:creationId xmlns:a16="http://schemas.microsoft.com/office/drawing/2014/main" id="{04239500-7E6F-493B-AD1C-EE09B49007DB}"/>
              </a:ext>
            </a:extLst>
          </p:cNvPr>
          <p:cNvSpPr>
            <a:spLocks xmlns:a="http://schemas.openxmlformats.org/drawingml/2006/main" noGrp="1"/>
          </p:cNvSpPr>
          <p:nvPr/>
        </p:nvSpPr>
        <p:spPr>
          <a:xfrm xmlns:a="http://schemas.openxmlformats.org/drawingml/2006/main">
            <a:off x="3638550" y="4667250"/>
            <a:ext cx="4410075" cy="71437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2025" b="1">
                <a:solidFill>
                  <a:srgbClr val="2264A8"/>
                </a:solidFill>
                <a:latin typeface="Meiryo"/>
                <a:ea typeface="Meiryo"/>
                <a:cs typeface="Meiryo"/>
              </a:defRPr>
            </a:pPr>
            <a:r>
              <a:rPr sz="2025" b="1">
                <a:solidFill>
                  <a:srgbClr val="2264A8"/>
                </a:solidFill>
                <a:latin typeface="Meiryo"/>
                <a:ea typeface="Meiryo"/>
                <a:cs typeface="Meiryo"/>
              </a:rPr>
              <a:t>必要に応じ編集・再試行</a:t>
            </a:r>
          </a:p>
        </p:txBody>
      </p:sp>
      <p:cxnSp>
        <p:nvCxnSpPr>
          <p:cNvPr id="27" name=""/>
          <p:cNvCxnSpPr>
            <a:stCxn xmlns:a="http://schemas.openxmlformats.org/drawingml/2006/main" id="7" idx="3"/>
            <a:endCxn xmlns:a="http://schemas.openxmlformats.org/drawingml/2006/main" id="8" idx="1"/>
          </p:cNvCxnSpPr>
          <p:nvPr/>
        </p:nvCxnSpPr>
        <p:spPr>
          <a:xfrm xmlns:a="http://schemas.openxmlformats.org/drawingml/2006/main">
            <a:off x="3095625" y="3367088"/>
            <a:ext cx="10477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28" name=""/>
          <p:cNvCxnSpPr>
            <a:stCxn xmlns:a="http://schemas.openxmlformats.org/drawingml/2006/main" id="8" idx="3"/>
            <a:endCxn xmlns:a="http://schemas.openxmlformats.org/drawingml/2006/main" id="9" idx="1"/>
          </p:cNvCxnSpPr>
          <p:nvPr/>
        </p:nvCxnSpPr>
        <p:spPr>
          <a:xfrm xmlns:a="http://schemas.openxmlformats.org/drawingml/2006/main">
            <a:off x="6762750" y="3367088"/>
            <a:ext cx="2143125"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29" name=""/>
          <p:cNvCxnSpPr>
            <a:stCxn xmlns:a="http://schemas.openxmlformats.org/drawingml/2006/main" id="8" idx="2"/>
            <a:endCxn xmlns:a="http://schemas.openxmlformats.org/drawingml/2006/main" id="10" idx="0"/>
          </p:cNvCxnSpPr>
          <p:nvPr/>
        </p:nvCxnSpPr>
        <p:spPr>
          <a:xfrm xmlns:a="http://schemas.openxmlformats.org/drawingml/2006/main">
            <a:off x="5453063" y="3819525"/>
            <a:ext cx="390525" cy="847725"/>
          </a:xfrm>
          <a:prstGeom xmlns:a="http://schemas.openxmlformats.org/drawingml/2006/main" prst="bentConnector4">
            <a:avLst>
              <a:gd name="adj1" fmla="val 0"/>
              <a:gd name="adj2" fmla="val 50000"/>
            </a:avLst>
          </a:prstGeom>
          <a:ln xmlns:a="http://schemas.openxmlformats.org/drawingml/2006/main" w="19050">
            <a:solidFill>
              <a:srgbClr val="526574"/>
            </a:solidFill>
            <a:prstDash val="solid"/>
            <a:tailEnd type="arrow" w="med" len="med"/>
          </a:ln>
        </p:spPr>
      </p:cxnSp>
      <p:cxnSp>
        <p:nvCxnSpPr>
          <p:cNvPr id="30" name=""/>
          <p:cNvCxnSpPr>
            <a:stCxn xmlns:a="http://schemas.openxmlformats.org/drawingml/2006/main" id="10" idx="1"/>
            <a:endCxn xmlns:a="http://schemas.openxmlformats.org/drawingml/2006/main" id="7" idx="2"/>
          </p:cNvCxnSpPr>
          <p:nvPr/>
        </p:nvCxnSpPr>
        <p:spPr>
          <a:xfrm xmlns:a="http://schemas.openxmlformats.org/drawingml/2006/main" flipH="1" flipV="1">
            <a:off x="1890713" y="3819525"/>
            <a:ext cx="1747838" cy="1204913"/>
          </a:xfrm>
          <a:prstGeom xmlns:a="http://schemas.openxmlformats.org/drawingml/2006/main" prst="bentConnector2">
            <a:avLst/>
          </a:prstGeom>
          <a:ln xmlns:a="http://schemas.openxmlformats.org/drawingml/2006/main" w="19050">
            <a:solidFill>
              <a:srgbClr val="526574"/>
            </a:solidFill>
            <a:prstDash val="solid"/>
            <a:tailEnd type="arrow" w="med" len="med"/>
          </a:ln>
        </p:spPr>
      </p:cxnSp>
      <p:sp>
        <p:nvSpPr>
          <p:cNvPr id="15" name="text-167">
            <a:extLst xmlns:a="http://schemas.openxmlformats.org/drawingml/2006/main">
              <a:ext uri="{FF2B5EF4-FFF2-40B4-BE49-F238E27FC236}">
                <a16:creationId xmlns:a16="http://schemas.microsoft.com/office/drawing/2014/main" id="{14B09B04-F357-4CAB-A3D7-01405BE37446}"/>
              </a:ext>
            </a:extLst>
          </p:cNvPr>
          <p:cNvSpPr>
            <a:spLocks xmlns:a="http://schemas.openxmlformats.org/drawingml/2006/main" noGrp="1"/>
          </p:cNvSpPr>
          <p:nvPr/>
        </p:nvSpPr>
        <p:spPr>
          <a:xfrm xmlns:a="http://schemas.openxmlformats.org/drawingml/2006/main">
            <a:off x="7210425" y="2505075"/>
            <a:ext cx="123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a:solidFill>
                  <a:srgbClr val="2264A8"/>
                </a:solidFill>
                <a:latin typeface="Meiryo"/>
                <a:ea typeface="Meiryo"/>
                <a:cs typeface="Meiryo"/>
              </a:defRPr>
            </a:pPr>
            <a:r>
              <a:rPr sz="1875" b="1">
                <a:solidFill>
                  <a:srgbClr val="2264A8"/>
                </a:solidFill>
                <a:latin typeface="Meiryo"/>
                <a:ea typeface="Meiryo"/>
                <a:cs typeface="Meiryo"/>
              </a:rPr>
              <a:t>承認</a:t>
            </a:r>
          </a:p>
        </p:txBody>
      </p:sp>
      <p:sp>
        <p:nvSpPr>
          <p:cNvPr id="16" name="text-168">
            <a:extLst xmlns:a="http://schemas.openxmlformats.org/drawingml/2006/main">
              <a:ext uri="{FF2B5EF4-FFF2-40B4-BE49-F238E27FC236}">
                <a16:creationId xmlns:a16="http://schemas.microsoft.com/office/drawing/2014/main" id="{5FA48ECE-BE5F-4C21-90FC-EE64EFBB905A}"/>
              </a:ext>
            </a:extLst>
          </p:cNvPr>
          <p:cNvSpPr>
            <a:spLocks xmlns:a="http://schemas.openxmlformats.org/drawingml/2006/main" noGrp="1"/>
          </p:cNvSpPr>
          <p:nvPr/>
        </p:nvSpPr>
        <p:spPr>
          <a:xfrm xmlns:a="http://schemas.openxmlformats.org/drawingml/2006/main">
            <a:off x="6848475" y="4143375"/>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574"/>
                </a:solidFill>
                <a:latin typeface="Meiryo"/>
                <a:ea typeface="Meiryo"/>
                <a:cs typeface="Meiryo"/>
              </a:defRPr>
            </a:pPr>
            <a:r>
              <a:rPr sz="1725" b="0">
                <a:solidFill>
                  <a:srgbClr val="526574"/>
                </a:solidFill>
                <a:latin typeface="Meiryo"/>
                <a:ea typeface="Meiryo"/>
                <a:cs typeface="Meiryo"/>
              </a:rPr>
              <a:t>差し戻し</a:t>
            </a:r>
          </a:p>
        </p:txBody>
      </p:sp>
    </p:spTree>
    <p:extLst>
      <p:ext uri="{BB962C8B-B14F-4D97-AF65-F5344CB8AC3E}">
        <p14:creationId xmlns:p14="http://schemas.microsoft.com/office/powerpoint/2010/main" val="13537039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69">
            <a:extLst xmlns:a="http://schemas.openxmlformats.org/drawingml/2006/main">
              <a:ext uri="{FF2B5EF4-FFF2-40B4-BE49-F238E27FC236}">
                <a16:creationId xmlns:a16="http://schemas.microsoft.com/office/drawing/2014/main" id="{B9D07071-FAFB-4B88-B98B-2B3EA8A11099}"/>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4A8"/>
                </a:solidFill>
                <a:latin typeface="Meiryo"/>
                <a:ea typeface="Meiryo"/>
                <a:cs typeface="Meiryo"/>
              </a:defRPr>
            </a:pPr>
            <a:r>
              <a:rPr sz="1425" b="1">
                <a:solidFill>
                  <a:srgbClr val="2264A8"/>
                </a:solidFill>
                <a:latin typeface="Meiryo"/>
                <a:ea typeface="Meiryo"/>
                <a:cs typeface="Meiryo"/>
              </a:rPr>
              <a:t>ワークフロー管理</a:t>
            </a:r>
          </a:p>
        </p:txBody>
      </p:sp>
      <p:sp>
        <p:nvSpPr>
          <p:cNvPr id="2" name="text-170">
            <a:extLst xmlns:a="http://schemas.openxmlformats.org/drawingml/2006/main">
              <a:ext uri="{FF2B5EF4-FFF2-40B4-BE49-F238E27FC236}">
                <a16:creationId xmlns:a16="http://schemas.microsoft.com/office/drawing/2014/main" id="{F3085902-F7E9-43F8-B1AE-8AE7142E75A1}"/>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停止・再開と日常の運用</a:t>
            </a:r>
          </a:p>
        </p:txBody>
      </p:sp>
      <p:sp>
        <p:nvSpPr>
          <p:cNvPr id="3" name="text-171">
            <a:extLst xmlns:a="http://schemas.openxmlformats.org/drawingml/2006/main">
              <a:ext uri="{FF2B5EF4-FFF2-40B4-BE49-F238E27FC236}">
                <a16:creationId xmlns:a16="http://schemas.microsoft.com/office/drawing/2014/main" id="{7287E6AD-282E-47A2-99B1-278628DD0E5E}"/>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安全な区切りで停止し、状態を確認して再開する</a:t>
            </a:r>
          </a:p>
        </p:txBody>
      </p:sp>
      <p:sp>
        <p:nvSpPr>
          <p:cNvPr id="4" name="rule-172">
            <a:extLst xmlns:a="http://schemas.openxmlformats.org/drawingml/2006/main">
              <a:ext uri="{FF2B5EF4-FFF2-40B4-BE49-F238E27FC236}">
                <a16:creationId xmlns:a16="http://schemas.microsoft.com/office/drawing/2014/main" id="{06BB1D81-1FF0-4C97-92E9-DC432DBBD16F}"/>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173">
            <a:extLst xmlns:a="http://schemas.openxmlformats.org/drawingml/2006/main">
              <a:ext uri="{FF2B5EF4-FFF2-40B4-BE49-F238E27FC236}">
                <a16:creationId xmlns:a16="http://schemas.microsoft.com/office/drawing/2014/main" id="{7D81264E-1333-4CC6-A486-FB4168C38F39}"/>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264A8"/>
                </a:solidFill>
                <a:latin typeface="Meiryo"/>
                <a:ea typeface="Meiryo"/>
                <a:cs typeface="Meiryo"/>
              </a:defRPr>
            </a:pPr>
            <a:r>
              <a:rPr sz="1800" b="1">
                <a:solidFill>
                  <a:srgbClr val="2264A8"/>
                </a:solidFill>
                <a:latin typeface="Meiryo"/>
                <a:ea typeface="Meiryo"/>
                <a:cs typeface="Meiryo"/>
              </a:rPr>
              <a:t>停止意図、実行状態、履歴整理は別の仕組みとして管理する</a:t>
            </a:r>
          </a:p>
        </p:txBody>
      </p:sp>
      <p:sp>
        <p:nvSpPr>
          <p:cNvPr id="6" name="text-174">
            <a:extLst xmlns:a="http://schemas.openxmlformats.org/drawingml/2006/main">
              <a:ext uri="{FF2B5EF4-FFF2-40B4-BE49-F238E27FC236}">
                <a16:creationId xmlns:a16="http://schemas.microsoft.com/office/drawing/2014/main" id="{FE94841E-E03D-4331-9E4A-0E7E8FE2A3D9}"/>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14</a:t>
            </a:r>
          </a:p>
        </p:txBody>
      </p:sp>
      <p:graphicFrame>
        <p:nvGraphicFramePr>
          <p:cNvPr id="14" name=""/>
          <p:cNvGraphicFramePr/>
          <p:nvPr/>
        </p:nvGraphicFramePr>
        <p:xfrm>
          <a:off xmlns:a="http://schemas.openxmlformats.org/drawingml/2006/main" x="685800" y="2057400"/>
          <a:ext xmlns:a="http://schemas.openxmlformats.org/drawingml/2006/main" cx="10820400" cy="3543300"/>
        </p:xfrm>
        <a:graphic xmlns:a="http://schemas.openxmlformats.org/drawingml/2006/main">
          <a:graphicData uri="http://schemas.openxmlformats.org/drawingml/2006/table">
            <a:tbl>
              <a:tblPr/>
              <a:tblGrid>
                <a:gridCol w="2762250"/>
                <a:gridCol w="4000500"/>
                <a:gridCol w="4057650"/>
              </a:tblGrid>
              <a:tr h="495300">
                <a:tc>
                  <a:txBody>
                    <a:bodyPr wrap="square" lIns="133350" tIns="76200" rIns="114300" bIns="76200">
                      <a:noAutofit/>
                    </a:bodyPr>
                    <a:lstStyle/>
                    <a:p>
                      <a:r>
                        <a:rPr sz="1800" b="1">
                          <a:solidFill>
                            <a:srgbClr val="FFFFFF"/>
                          </a:solidFill>
                          <a:latin typeface="Meiryo"/>
                          <a:ea typeface="Meiryo"/>
                          <a:cs typeface="Meiryo"/>
                        </a:rPr>
                        <a:t>操作</a:t>
                      </a:r>
                    </a:p>
                  </a:txBody>
                  <a:tcPr marL="91440" marR="91440" marT="45720" marB="45720" anchor="ctr">
                    <a:solidFill>
                      <a:srgbClr val="2264A8"/>
                    </a:solidFill>
                  </a:tcPr>
                </a:tc>
                <a:tc>
                  <a:txBody>
                    <a:bodyPr wrap="square" lIns="133350" tIns="76200" rIns="114300" bIns="76200">
                      <a:noAutofit/>
                    </a:bodyPr>
                    <a:lstStyle/>
                    <a:p>
                      <a:r>
                        <a:rPr sz="1800" b="1">
                          <a:solidFill>
                            <a:srgbClr val="FFFFFF"/>
                          </a:solidFill>
                          <a:latin typeface="Meiryo"/>
                          <a:ea typeface="Meiryo"/>
                          <a:cs typeface="Meiryo"/>
                        </a:rPr>
                        <a:t>しくみ</a:t>
                      </a:r>
                    </a:p>
                  </a:txBody>
                  <a:tcPr marL="91440" marR="91440" marT="45720" marB="45720" anchor="ctr">
                    <a:solidFill>
                      <a:srgbClr val="2264A8"/>
                    </a:solidFill>
                  </a:tcPr>
                </a:tc>
                <a:tc>
                  <a:txBody>
                    <a:bodyPr wrap="square" lIns="133350" tIns="76200" rIns="114300" bIns="76200">
                      <a:noAutofit/>
                    </a:bodyPr>
                    <a:lstStyle/>
                    <a:p>
                      <a:r>
                        <a:rPr sz="1800" b="1">
                          <a:solidFill>
                            <a:srgbClr val="FFFFFF"/>
                          </a:solidFill>
                          <a:latin typeface="Meiryo"/>
                          <a:ea typeface="Meiryo"/>
                          <a:cs typeface="Meiryo"/>
                        </a:rPr>
                        <a:t>利用時のポイント</a:t>
                      </a:r>
                    </a:p>
                  </a:txBody>
                  <a:tcPr marL="91440" marR="91440" marT="45720" marB="45720" anchor="ctr">
                    <a:solidFill>
                      <a:srgbClr val="2264A8"/>
                    </a:solidFill>
                  </a:tcPr>
                </a:tc>
              </a:tr>
              <a:tr h="1016000">
                <a:tc>
                  <a:txBody>
                    <a:bodyPr wrap="square" lIns="133350" tIns="76200" rIns="114300" bIns="76200">
                      <a:noAutofit/>
                    </a:bodyPr>
                    <a:lstStyle/>
                    <a:p>
                      <a:r>
                        <a:rPr sz="1800" b="0">
                          <a:solidFill>
                            <a:srgbClr val="172A3A"/>
                          </a:solidFill>
                          <a:latin typeface="Meiryo"/>
                          <a:ea typeface="Meiryo"/>
                          <a:cs typeface="Meiryo"/>
                        </a:rPr>
                        <a:t>一時停止</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現在stepの後／次のAI呼出し前</a:t>
                      </a:r>
                    </a:p>
                    <a:p>
                      <a:r>
                        <a:rPr sz="1800" b="0">
                          <a:solidFill>
                            <a:srgbClr val="172A3A"/>
                          </a:solidFill>
                          <a:latin typeface="Meiryo"/>
                          <a:ea typeface="Meiryo"/>
                          <a:cs typeface="Meiryo"/>
                        </a:rPr>
                        <a:t>時間や呼出し回数でも判定</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実行中の処理を強制停止しない</a:t>
                      </a:r>
                    </a:p>
                  </a:txBody>
                  <a:tcPr marL="91440" marR="91440" marT="45720" marB="45720" anchor="ctr">
                    <a:solidFill>
                      <a:srgbClr val="F5F8FA"/>
                    </a:solidFill>
                  </a:tcPr>
                </a:tc>
              </a:tr>
              <a:tr h="1016000">
                <a:tc>
                  <a:txBody>
                    <a:bodyPr wrap="square" lIns="133350" tIns="76200" rIns="114300" bIns="76200">
                      <a:noAutofit/>
                    </a:bodyPr>
                    <a:lstStyle/>
                    <a:p>
                      <a:r>
                        <a:rPr sz="1800" b="0">
                          <a:solidFill>
                            <a:srgbClr val="172A3A"/>
                          </a:solidFill>
                          <a:latin typeface="Meiryo"/>
                          <a:ea typeface="Meiryo"/>
                          <a:cs typeface="Meiryo"/>
                        </a:rPr>
                        <a:t>再開・診断</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状態・定義・revisionを再確認</a:t>
                      </a:r>
                    </a:p>
                    <a:p>
                      <a:r>
                        <a:rPr sz="1800" b="0">
                          <a:solidFill>
                            <a:srgbClr val="172A3A"/>
                          </a:solidFill>
                          <a:latin typeface="Meiryo"/>
                          <a:ea typeface="Meiryo"/>
                          <a:cs typeface="Meiryo"/>
                        </a:rPr>
                        <a:t>診断結果とエラーを表示</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停止理由と必要な入力を確認</a:t>
                      </a:r>
                    </a:p>
                  </a:txBody>
                  <a:tcPr marL="91440" marR="91440" marT="45720" marB="45720" anchor="ctr">
                    <a:solidFill>
                      <a:srgbClr val="FFFFFF"/>
                    </a:solidFill>
                  </a:tcPr>
                </a:tc>
              </a:tr>
              <a:tr h="1016000">
                <a:tc>
                  <a:txBody>
                    <a:bodyPr wrap="square" lIns="133350" tIns="76200" rIns="114300" bIns="76200">
                      <a:noAutofit/>
                    </a:bodyPr>
                    <a:lstStyle/>
                    <a:p>
                      <a:r>
                        <a:rPr sz="1800" b="0">
                          <a:solidFill>
                            <a:srgbClr val="172A3A"/>
                          </a:solidFill>
                          <a:latin typeface="Meiryo"/>
                          <a:ea typeface="Meiryo"/>
                          <a:cs typeface="Meiryo"/>
                        </a:rPr>
                        <a:t>履歴整理</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保持日数・件数・容量から候補作成</a:t>
                      </a:r>
                    </a:p>
                    <a:p>
                      <a:r>
                        <a:rPr sz="1800" b="0">
                          <a:solidFill>
                            <a:srgbClr val="172A3A"/>
                          </a:solidFill>
                          <a:latin typeface="Meiryo"/>
                          <a:ea typeface="Meiryo"/>
                          <a:cs typeface="Meiryo"/>
                        </a:rPr>
                        <a:t>preview後に手動適用</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実行中・復旧可能・参照中を保護</a:t>
                      </a:r>
                    </a:p>
                  </a:txBody>
                  <a:tcPr marL="91440" marR="91440" marT="45720" marB="45720" anchor="ctr">
                    <a:solidFill>
                      <a:srgbClr val="F5F8FA"/>
                    </a:solidFill>
                  </a:tcPr>
                </a:tc>
              </a:tr>
            </a:tbl>
          </a:graphicData>
        </a:graphic>
      </p:graphicFrame>
    </p:spTree>
    <p:extLst>
      <p:ext uri="{BB962C8B-B14F-4D97-AF65-F5344CB8AC3E}">
        <p14:creationId xmlns:p14="http://schemas.microsoft.com/office/powerpoint/2010/main" val="3603133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175">
            <a:extLst xmlns:a="http://schemas.openxmlformats.org/drawingml/2006/main">
              <a:ext uri="{FF2B5EF4-FFF2-40B4-BE49-F238E27FC236}">
                <a16:creationId xmlns:a16="http://schemas.microsoft.com/office/drawing/2014/main" id="{F2D3F44A-6780-4E2A-B1BB-2B19EB72DEEA}"/>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4A8"/>
                </a:solidFill>
                <a:latin typeface="Meiryo"/>
                <a:ea typeface="Meiryo"/>
                <a:cs typeface="Meiryo"/>
              </a:defRPr>
            </a:pPr>
            <a:r>
              <a:rPr sz="1425" b="1">
                <a:solidFill>
                  <a:srgbClr val="2264A8"/>
                </a:solidFill>
                <a:latin typeface="Meiryo"/>
                <a:ea typeface="Meiryo"/>
                <a:cs typeface="Meiryo"/>
              </a:rPr>
              <a:t>ワークフロー管理</a:t>
            </a:r>
          </a:p>
        </p:txBody>
      </p:sp>
      <p:sp>
        <p:nvSpPr>
          <p:cNvPr id="2" name="text-176">
            <a:extLst xmlns:a="http://schemas.openxmlformats.org/drawingml/2006/main">
              <a:ext uri="{FF2B5EF4-FFF2-40B4-BE49-F238E27FC236}">
                <a16:creationId xmlns:a16="http://schemas.microsoft.com/office/drawing/2014/main" id="{AE41D5DF-19DF-481B-A8DE-A03BAF7AF714}"/>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成果物の再利用と中断後の復旧</a:t>
            </a:r>
          </a:p>
        </p:txBody>
      </p:sp>
      <p:sp>
        <p:nvSpPr>
          <p:cNvPr id="3" name="text-177">
            <a:extLst xmlns:a="http://schemas.openxmlformats.org/drawingml/2006/main">
              <a:ext uri="{FF2B5EF4-FFF2-40B4-BE49-F238E27FC236}">
                <a16:creationId xmlns:a16="http://schemas.microsoft.com/office/drawing/2014/main" id="{0D58D110-6368-47AC-B6AA-F078CEEE42ED}"/>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保存済みの結果を検証し、使える範囲だけ引き継ぐ</a:t>
            </a:r>
          </a:p>
        </p:txBody>
      </p:sp>
      <p:sp>
        <p:nvSpPr>
          <p:cNvPr id="4" name="rule-178">
            <a:extLst xmlns:a="http://schemas.openxmlformats.org/drawingml/2006/main">
              <a:ext uri="{FF2B5EF4-FFF2-40B4-BE49-F238E27FC236}">
                <a16:creationId xmlns:a16="http://schemas.microsoft.com/office/drawing/2014/main" id="{78E386A1-FDE7-4119-ACC1-36AC04AD80D6}"/>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179">
            <a:extLst xmlns:a="http://schemas.openxmlformats.org/drawingml/2006/main">
              <a:ext uri="{FF2B5EF4-FFF2-40B4-BE49-F238E27FC236}">
                <a16:creationId xmlns:a16="http://schemas.microsoft.com/office/drawing/2014/main" id="{ED3598BB-4347-4447-8C78-6AB752E92C31}"/>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264A8"/>
                </a:solidFill>
                <a:latin typeface="Meiryo"/>
                <a:ea typeface="Meiryo"/>
                <a:cs typeface="Meiryo"/>
              </a:defRPr>
            </a:pPr>
            <a:r>
              <a:rPr sz="1800" b="1">
                <a:solidFill>
                  <a:srgbClr val="2264A8"/>
                </a:solidFill>
                <a:latin typeface="Meiryo"/>
                <a:ea typeface="Meiryo"/>
                <a:cs typeface="Meiryo"/>
              </a:rPr>
              <a:t>snapshotがあるだけでは、自動的に完了や再開とは判定しない</a:t>
            </a:r>
          </a:p>
        </p:txBody>
      </p:sp>
      <p:sp>
        <p:nvSpPr>
          <p:cNvPr id="6" name="text-180">
            <a:extLst xmlns:a="http://schemas.openxmlformats.org/drawingml/2006/main">
              <a:ext uri="{FF2B5EF4-FFF2-40B4-BE49-F238E27FC236}">
                <a16:creationId xmlns:a16="http://schemas.microsoft.com/office/drawing/2014/main" id="{99D0AEBC-9C57-4A7D-8FA0-397DA0E0D75D}"/>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15</a:t>
            </a:r>
          </a:p>
        </p:txBody>
      </p:sp>
      <p:sp>
        <p:nvSpPr>
          <p:cNvPr id="7" name="text-181">
            <a:extLst xmlns:a="http://schemas.openxmlformats.org/drawingml/2006/main">
              <a:ext uri="{FF2B5EF4-FFF2-40B4-BE49-F238E27FC236}">
                <a16:creationId xmlns:a16="http://schemas.microsoft.com/office/drawing/2014/main" id="{447D38E1-2FBC-42FA-8A8D-B05D6EC4EA28}"/>
              </a:ext>
            </a:extLst>
          </p:cNvPr>
          <p:cNvSpPr>
            <a:spLocks xmlns:a="http://schemas.openxmlformats.org/drawingml/2006/main" noGrp="1"/>
          </p:cNvSpPr>
          <p:nvPr/>
        </p:nvSpPr>
        <p:spPr>
          <a:xfrm xmlns:a="http://schemas.openxmlformats.org/drawingml/2006/main">
            <a:off x="685800"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264A8"/>
                </a:solidFill>
                <a:latin typeface="Meiryo"/>
                <a:ea typeface="Meiryo"/>
                <a:cs typeface="Meiryo"/>
              </a:defRPr>
            </a:pPr>
            <a:r>
              <a:rPr sz="1650" b="1">
                <a:solidFill>
                  <a:srgbClr val="2264A8"/>
                </a:solidFill>
                <a:latin typeface="Meiryo"/>
                <a:ea typeface="Meiryo"/>
                <a:cs typeface="Meiryo"/>
              </a:rPr>
              <a:t>01</a:t>
            </a:r>
          </a:p>
        </p:txBody>
      </p:sp>
      <p:sp>
        <p:nvSpPr>
          <p:cNvPr id="8" name="node-182">
            <a:extLst xmlns:a="http://schemas.openxmlformats.org/drawingml/2006/main">
              <a:ext uri="{FF2B5EF4-FFF2-40B4-BE49-F238E27FC236}">
                <a16:creationId xmlns:a16="http://schemas.microsoft.com/office/drawing/2014/main" id="{8129A6F9-A7F2-4BAE-A36C-3FB06C82E922}"/>
              </a:ext>
            </a:extLst>
          </p:cNvPr>
          <p:cNvSpPr>
            <a:spLocks xmlns:a="http://schemas.openxmlformats.org/drawingml/2006/main" noGrp="1"/>
          </p:cNvSpPr>
          <p:nvPr/>
        </p:nvSpPr>
        <p:spPr>
          <a:xfrm xmlns:a="http://schemas.openxmlformats.org/drawingml/2006/main">
            <a:off x="685800"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成果物を選択</a:t>
            </a:r>
          </a:p>
        </p:txBody>
      </p:sp>
      <p:sp>
        <p:nvSpPr>
          <p:cNvPr id="9" name="text-183">
            <a:extLst xmlns:a="http://schemas.openxmlformats.org/drawingml/2006/main">
              <a:ext uri="{FF2B5EF4-FFF2-40B4-BE49-F238E27FC236}">
                <a16:creationId xmlns:a16="http://schemas.microsoft.com/office/drawing/2014/main" id="{12E9BCBE-F36B-400F-A16F-61DF2612DA6E}"/>
              </a:ext>
            </a:extLst>
          </p:cNvPr>
          <p:cNvSpPr>
            <a:spLocks xmlns:a="http://schemas.openxmlformats.org/drawingml/2006/main" noGrp="1"/>
          </p:cNvSpPr>
          <p:nvPr/>
        </p:nvSpPr>
        <p:spPr>
          <a:xfrm xmlns:a="http://schemas.openxmlformats.org/drawingml/2006/main">
            <a:off x="685800"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過去runのmanifest</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またはtask snapshot</a:t>
            </a:r>
          </a:p>
        </p:txBody>
      </p:sp>
      <p:sp>
        <p:nvSpPr>
          <p:cNvPr id="10" name="text-184">
            <a:extLst xmlns:a="http://schemas.openxmlformats.org/drawingml/2006/main">
              <a:ext uri="{FF2B5EF4-FFF2-40B4-BE49-F238E27FC236}">
                <a16:creationId xmlns:a16="http://schemas.microsoft.com/office/drawing/2014/main" id="{AE27274C-AE10-42B3-BCF7-4F4BDB70A0E6}"/>
              </a:ext>
            </a:extLst>
          </p:cNvPr>
          <p:cNvSpPr>
            <a:spLocks xmlns:a="http://schemas.openxmlformats.org/drawingml/2006/main" noGrp="1"/>
          </p:cNvSpPr>
          <p:nvPr/>
        </p:nvSpPr>
        <p:spPr>
          <a:xfrm xmlns:a="http://schemas.openxmlformats.org/drawingml/2006/main">
            <a:off x="3471863"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264A8"/>
                </a:solidFill>
                <a:latin typeface="Meiryo"/>
                <a:ea typeface="Meiryo"/>
                <a:cs typeface="Meiryo"/>
              </a:defRPr>
            </a:pPr>
            <a:r>
              <a:rPr sz="1650" b="1">
                <a:solidFill>
                  <a:srgbClr val="2264A8"/>
                </a:solidFill>
                <a:latin typeface="Meiryo"/>
                <a:ea typeface="Meiryo"/>
                <a:cs typeface="Meiryo"/>
              </a:rPr>
              <a:t>02</a:t>
            </a:r>
          </a:p>
        </p:txBody>
      </p:sp>
      <p:sp>
        <p:nvSpPr>
          <p:cNvPr id="11" name="node-185">
            <a:extLst xmlns:a="http://schemas.openxmlformats.org/drawingml/2006/main">
              <a:ext uri="{FF2B5EF4-FFF2-40B4-BE49-F238E27FC236}">
                <a16:creationId xmlns:a16="http://schemas.microsoft.com/office/drawing/2014/main" id="{A552B0AF-781F-4ACE-A5BA-439BD5875152}"/>
              </a:ext>
            </a:extLst>
          </p:cNvPr>
          <p:cNvSpPr>
            <a:spLocks xmlns:a="http://schemas.openxmlformats.org/drawingml/2006/main" noGrp="1"/>
          </p:cNvSpPr>
          <p:nvPr/>
        </p:nvSpPr>
        <p:spPr>
          <a:xfrm xmlns:a="http://schemas.openxmlformats.org/drawingml/2006/main">
            <a:off x="3471863"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整合を検証</a:t>
            </a:r>
          </a:p>
        </p:txBody>
      </p:sp>
      <p:sp>
        <p:nvSpPr>
          <p:cNvPr id="12" name="text-186">
            <a:extLst xmlns:a="http://schemas.openxmlformats.org/drawingml/2006/main">
              <a:ext uri="{FF2B5EF4-FFF2-40B4-BE49-F238E27FC236}">
                <a16:creationId xmlns:a16="http://schemas.microsoft.com/office/drawing/2014/main" id="{5ADDF8F1-05DC-4A53-B2F5-754CD29A423A}"/>
              </a:ext>
            </a:extLst>
          </p:cNvPr>
          <p:cNvSpPr>
            <a:spLocks xmlns:a="http://schemas.openxmlformats.org/drawingml/2006/main" noGrp="1"/>
          </p:cNvSpPr>
          <p:nvPr/>
        </p:nvSpPr>
        <p:spPr>
          <a:xfrm xmlns:a="http://schemas.openxmlformats.org/drawingml/2006/main">
            <a:off x="3471863"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hash・サイズ・定義</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入力・生成stepを照合</a:t>
            </a:r>
          </a:p>
        </p:txBody>
      </p:sp>
      <p:sp>
        <p:nvSpPr>
          <p:cNvPr id="13" name="text-187">
            <a:extLst xmlns:a="http://schemas.openxmlformats.org/drawingml/2006/main">
              <a:ext uri="{FF2B5EF4-FFF2-40B4-BE49-F238E27FC236}">
                <a16:creationId xmlns:a16="http://schemas.microsoft.com/office/drawing/2014/main" id="{4211A588-C0A4-4F09-8991-4C6157514935}"/>
              </a:ext>
            </a:extLst>
          </p:cNvPr>
          <p:cNvSpPr>
            <a:spLocks xmlns:a="http://schemas.openxmlformats.org/drawingml/2006/main" noGrp="1"/>
          </p:cNvSpPr>
          <p:nvPr/>
        </p:nvSpPr>
        <p:spPr>
          <a:xfrm xmlns:a="http://schemas.openxmlformats.org/drawingml/2006/main">
            <a:off x="6257925"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264A8"/>
                </a:solidFill>
                <a:latin typeface="Meiryo"/>
                <a:ea typeface="Meiryo"/>
                <a:cs typeface="Meiryo"/>
              </a:defRPr>
            </a:pPr>
            <a:r>
              <a:rPr sz="1650" b="1">
                <a:solidFill>
                  <a:srgbClr val="2264A8"/>
                </a:solidFill>
                <a:latin typeface="Meiryo"/>
                <a:ea typeface="Meiryo"/>
                <a:cs typeface="Meiryo"/>
              </a:rPr>
              <a:t>03</a:t>
            </a:r>
          </a:p>
        </p:txBody>
      </p:sp>
      <p:sp>
        <p:nvSpPr>
          <p:cNvPr id="14" name="node-188">
            <a:extLst xmlns:a="http://schemas.openxmlformats.org/drawingml/2006/main">
              <a:ext uri="{FF2B5EF4-FFF2-40B4-BE49-F238E27FC236}">
                <a16:creationId xmlns:a16="http://schemas.microsoft.com/office/drawing/2014/main" id="{DB44338A-6870-4B9A-8B40-E615F4C62DAE}"/>
              </a:ext>
            </a:extLst>
          </p:cNvPr>
          <p:cNvSpPr>
            <a:spLocks xmlns:a="http://schemas.openxmlformats.org/drawingml/2006/main" noGrp="1"/>
          </p:cNvSpPr>
          <p:nvPr/>
        </p:nvSpPr>
        <p:spPr>
          <a:xfrm xmlns:a="http://schemas.openxmlformats.org/drawingml/2006/main">
            <a:off x="6257925"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状態を復元</a:t>
            </a:r>
          </a:p>
        </p:txBody>
      </p:sp>
      <p:sp>
        <p:nvSpPr>
          <p:cNvPr id="15" name="text-189">
            <a:extLst xmlns:a="http://schemas.openxmlformats.org/drawingml/2006/main">
              <a:ext uri="{FF2B5EF4-FFF2-40B4-BE49-F238E27FC236}">
                <a16:creationId xmlns:a16="http://schemas.microsoft.com/office/drawing/2014/main" id="{E0FFC5BB-2434-4B91-A8BA-45EDF10156E1}"/>
              </a:ext>
            </a:extLst>
          </p:cNvPr>
          <p:cNvSpPr>
            <a:spLocks xmlns:a="http://schemas.openxmlformats.org/drawingml/2006/main" noGrp="1"/>
          </p:cNvSpPr>
          <p:nvPr/>
        </p:nvSpPr>
        <p:spPr>
          <a:xfrm xmlns:a="http://schemas.openxmlformats.org/drawingml/2006/main">
            <a:off x="6257925"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必要な前段state</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と由来を保持</a:t>
            </a:r>
          </a:p>
        </p:txBody>
      </p:sp>
      <p:sp>
        <p:nvSpPr>
          <p:cNvPr id="16" name="text-190">
            <a:extLst xmlns:a="http://schemas.openxmlformats.org/drawingml/2006/main">
              <a:ext uri="{FF2B5EF4-FFF2-40B4-BE49-F238E27FC236}">
                <a16:creationId xmlns:a16="http://schemas.microsoft.com/office/drawing/2014/main" id="{9E284D00-629F-4110-985A-47A218334CDB}"/>
              </a:ext>
            </a:extLst>
          </p:cNvPr>
          <p:cNvSpPr>
            <a:spLocks xmlns:a="http://schemas.openxmlformats.org/drawingml/2006/main" noGrp="1"/>
          </p:cNvSpPr>
          <p:nvPr/>
        </p:nvSpPr>
        <p:spPr>
          <a:xfrm xmlns:a="http://schemas.openxmlformats.org/drawingml/2006/main">
            <a:off x="9043988"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2264A8"/>
                </a:solidFill>
                <a:latin typeface="Meiryo"/>
                <a:ea typeface="Meiryo"/>
                <a:cs typeface="Meiryo"/>
              </a:defRPr>
            </a:pPr>
            <a:r>
              <a:rPr sz="1650" b="1">
                <a:solidFill>
                  <a:srgbClr val="2264A8"/>
                </a:solidFill>
                <a:latin typeface="Meiryo"/>
                <a:ea typeface="Meiryo"/>
                <a:cs typeface="Meiryo"/>
              </a:rPr>
              <a:t>04</a:t>
            </a:r>
          </a:p>
        </p:txBody>
      </p:sp>
      <p:sp>
        <p:nvSpPr>
          <p:cNvPr id="17" name="node-191">
            <a:extLst xmlns:a="http://schemas.openxmlformats.org/drawingml/2006/main">
              <a:ext uri="{FF2B5EF4-FFF2-40B4-BE49-F238E27FC236}">
                <a16:creationId xmlns:a16="http://schemas.microsoft.com/office/drawing/2014/main" id="{3970C375-0FD6-432D-B6D3-1261CD2F53E6}"/>
              </a:ext>
            </a:extLst>
          </p:cNvPr>
          <p:cNvSpPr>
            <a:spLocks xmlns:a="http://schemas.openxmlformats.org/drawingml/2006/main" noGrp="1"/>
          </p:cNvSpPr>
          <p:nvPr/>
        </p:nvSpPr>
        <p:spPr>
          <a:xfrm xmlns:a="http://schemas.openxmlformats.org/drawingml/2006/main">
            <a:off x="9043988"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2264A8"/>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2264A8"/>
                </a:solidFill>
                <a:latin typeface="Meiryo"/>
                <a:ea typeface="Meiryo"/>
                <a:cs typeface="Meiryo"/>
              </a:defRPr>
            </a:pPr>
            <a:r>
              <a:rPr sz="1950" b="1">
                <a:solidFill>
                  <a:srgbClr val="2264A8"/>
                </a:solidFill>
                <a:latin typeface="Meiryo"/>
                <a:ea typeface="Meiryo"/>
                <a:cs typeface="Meiryo"/>
              </a:rPr>
              <a:t>途中から開始</a:t>
            </a:r>
          </a:p>
        </p:txBody>
      </p:sp>
      <p:sp>
        <p:nvSpPr>
          <p:cNvPr id="18" name="text-192">
            <a:extLst xmlns:a="http://schemas.openxmlformats.org/drawingml/2006/main">
              <a:ext uri="{FF2B5EF4-FFF2-40B4-BE49-F238E27FC236}">
                <a16:creationId xmlns:a16="http://schemas.microsoft.com/office/drawing/2014/main" id="{D853AD9C-9BB7-48E5-B827-1B99C631DF4E}"/>
              </a:ext>
            </a:extLst>
          </p:cNvPr>
          <p:cNvSpPr>
            <a:spLocks xmlns:a="http://schemas.openxmlformats.org/drawingml/2006/main" noGrp="1"/>
          </p:cNvSpPr>
          <p:nvPr/>
        </p:nvSpPr>
        <p:spPr>
          <a:xfrm xmlns:a="http://schemas.openxmlformats.org/drawingml/2006/main">
            <a:off x="9043988"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指定stepから新規run</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または確認付きの復旧</a:t>
            </a:r>
          </a:p>
        </p:txBody>
      </p:sp>
      <p:cxnSp>
        <p:nvCxnSpPr>
          <p:cNvPr id="40" name=""/>
          <p:cNvCxnSpPr>
            <a:stCxn xmlns:a="http://schemas.openxmlformats.org/drawingml/2006/main" id="8" idx="3"/>
            <a:endCxn xmlns:a="http://schemas.openxmlformats.org/drawingml/2006/main" id="11" idx="1"/>
          </p:cNvCxnSpPr>
          <p:nvPr/>
        </p:nvCxnSpPr>
        <p:spPr>
          <a:xfrm xmlns:a="http://schemas.openxmlformats.org/drawingml/2006/main">
            <a:off x="3148013"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1" name=""/>
          <p:cNvCxnSpPr>
            <a:stCxn xmlns:a="http://schemas.openxmlformats.org/drawingml/2006/main" id="11" idx="3"/>
            <a:endCxn xmlns:a="http://schemas.openxmlformats.org/drawingml/2006/main" id="14" idx="1"/>
          </p:cNvCxnSpPr>
          <p:nvPr/>
        </p:nvCxnSpPr>
        <p:spPr>
          <a:xfrm xmlns:a="http://schemas.openxmlformats.org/drawingml/2006/main">
            <a:off x="5934076" y="3338513"/>
            <a:ext cx="323849"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2" name=""/>
          <p:cNvCxnSpPr>
            <a:stCxn xmlns:a="http://schemas.openxmlformats.org/drawingml/2006/main" id="14" idx="3"/>
            <a:endCxn xmlns:a="http://schemas.openxmlformats.org/drawingml/2006/main" id="17" idx="1"/>
          </p:cNvCxnSpPr>
          <p:nvPr/>
        </p:nvCxnSpPr>
        <p:spPr>
          <a:xfrm xmlns:a="http://schemas.openxmlformats.org/drawingml/2006/main">
            <a:off x="8720138"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1960503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193">
            <a:extLst xmlns:a="http://schemas.openxmlformats.org/drawingml/2006/main">
              <a:ext uri="{FF2B5EF4-FFF2-40B4-BE49-F238E27FC236}">
                <a16:creationId xmlns:a16="http://schemas.microsoft.com/office/drawing/2014/main" id="{D2074773-33BD-4FA8-B18E-6058A64E854F}"/>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2264A8"/>
                </a:solidFill>
                <a:latin typeface="Meiryo"/>
                <a:ea typeface="Meiryo"/>
                <a:cs typeface="Meiryo"/>
              </a:defRPr>
            </a:pPr>
            <a:r>
              <a:rPr sz="1425" b="1">
                <a:solidFill>
                  <a:srgbClr val="2264A8"/>
                </a:solidFill>
                <a:latin typeface="Meiryo"/>
                <a:ea typeface="Meiryo"/>
                <a:cs typeface="Meiryo"/>
              </a:rPr>
              <a:t>ワークフロー管理</a:t>
            </a:r>
          </a:p>
        </p:txBody>
      </p:sp>
      <p:sp>
        <p:nvSpPr>
          <p:cNvPr id="2" name="text-194">
            <a:extLst xmlns:a="http://schemas.openxmlformats.org/drawingml/2006/main">
              <a:ext uri="{FF2B5EF4-FFF2-40B4-BE49-F238E27FC236}">
                <a16:creationId xmlns:a16="http://schemas.microsoft.com/office/drawing/2014/main" id="{6B949B56-DB23-426B-80D1-47E8BCFAF69A}"/>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機械チェックと工程別ワークフロー</a:t>
            </a:r>
          </a:p>
        </p:txBody>
      </p:sp>
      <p:sp>
        <p:nvSpPr>
          <p:cNvPr id="3" name="text-195">
            <a:extLst xmlns:a="http://schemas.openxmlformats.org/drawingml/2006/main">
              <a:ext uri="{FF2B5EF4-FFF2-40B4-BE49-F238E27FC236}">
                <a16:creationId xmlns:a16="http://schemas.microsoft.com/office/drawing/2014/main" id="{D8F8F68B-D389-43A8-808B-11C7813E1D67}"/>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ローカルの確認処理とレビューを、工程の記録につなぐ</a:t>
            </a:r>
          </a:p>
        </p:txBody>
      </p:sp>
      <p:sp>
        <p:nvSpPr>
          <p:cNvPr id="4" name="rule-196">
            <a:extLst xmlns:a="http://schemas.openxmlformats.org/drawingml/2006/main">
              <a:ext uri="{FF2B5EF4-FFF2-40B4-BE49-F238E27FC236}">
                <a16:creationId xmlns:a16="http://schemas.microsoft.com/office/drawing/2014/main" id="{441D07DD-6AE6-407C-9715-499175F9ADB4}"/>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197">
            <a:extLst xmlns:a="http://schemas.openxmlformats.org/drawingml/2006/main">
              <a:ext uri="{FF2B5EF4-FFF2-40B4-BE49-F238E27FC236}">
                <a16:creationId xmlns:a16="http://schemas.microsoft.com/office/drawing/2014/main" id="{AABCA93C-92E3-4860-AD89-C2FACE21BF34}"/>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264A8"/>
                </a:solidFill>
                <a:latin typeface="Meiryo"/>
                <a:ea typeface="Meiryo"/>
                <a:cs typeface="Meiryo"/>
              </a:defRPr>
            </a:pPr>
            <a:r>
              <a:rPr sz="1800" b="1">
                <a:solidFill>
                  <a:srgbClr val="2264A8"/>
                </a:solidFill>
                <a:latin typeface="Meiryo"/>
                <a:ea typeface="Meiryo"/>
                <a:cs typeface="Meiryo"/>
              </a:rPr>
              <a:t>チェック結果とAIレビュー、人間の判断を別々の根拠として残す</a:t>
            </a:r>
          </a:p>
        </p:txBody>
      </p:sp>
      <p:sp>
        <p:nvSpPr>
          <p:cNvPr id="6" name="text-198">
            <a:extLst xmlns:a="http://schemas.openxmlformats.org/drawingml/2006/main">
              <a:ext uri="{FF2B5EF4-FFF2-40B4-BE49-F238E27FC236}">
                <a16:creationId xmlns:a16="http://schemas.microsoft.com/office/drawing/2014/main" id="{29789957-64A1-4C10-BD13-06119F35BF1C}"/>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16</a:t>
            </a:r>
          </a:p>
        </p:txBody>
      </p:sp>
      <p:sp>
        <p:nvSpPr>
          <p:cNvPr id="7" name="text-199">
            <a:extLst xmlns:a="http://schemas.openxmlformats.org/drawingml/2006/main">
              <a:ext uri="{FF2B5EF4-FFF2-40B4-BE49-F238E27FC236}">
                <a16:creationId xmlns:a16="http://schemas.microsoft.com/office/drawing/2014/main" id="{5CB5E304-61EC-4B6A-A0D7-ACCB63AF1B7E}"/>
              </a:ext>
            </a:extLst>
          </p:cNvPr>
          <p:cNvSpPr>
            <a:spLocks xmlns:a="http://schemas.openxmlformats.org/drawingml/2006/main" noGrp="1"/>
          </p:cNvSpPr>
          <p:nvPr/>
        </p:nvSpPr>
        <p:spPr>
          <a:xfrm xmlns:a="http://schemas.openxmlformats.org/drawingml/2006/main">
            <a:off x="685800" y="2524125"/>
            <a:ext cx="5191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64A8"/>
                </a:solidFill>
                <a:latin typeface="Meiryo"/>
                <a:ea typeface="Meiryo"/>
                <a:cs typeface="Meiryo"/>
              </a:defRPr>
            </a:pPr>
            <a:r>
              <a:rPr sz="2250" b="1">
                <a:solidFill>
                  <a:srgbClr val="2264A8"/>
                </a:solidFill>
                <a:latin typeface="Meiryo"/>
                <a:ea typeface="Meiryo"/>
                <a:cs typeface="Meiryo"/>
              </a:rPr>
              <a:t>機械チェック</a:t>
            </a:r>
          </a:p>
        </p:txBody>
      </p:sp>
      <p:sp>
        <p:nvSpPr>
          <p:cNvPr id="8" name="rule-200">
            <a:extLst xmlns:a="http://schemas.openxmlformats.org/drawingml/2006/main">
              <a:ext uri="{FF2B5EF4-FFF2-40B4-BE49-F238E27FC236}">
                <a16:creationId xmlns:a16="http://schemas.microsoft.com/office/drawing/2014/main" id="{5F02F851-B71F-4658-966D-8F828A5F4016}"/>
              </a:ext>
            </a:extLst>
          </p:cNvPr>
          <p:cNvSpPr>
            <a:spLocks xmlns:a="http://schemas.openxmlformats.org/drawingml/2006/main" noGrp="1"/>
          </p:cNvSpPr>
          <p:nvPr/>
        </p:nvSpPr>
        <p:spPr>
          <a:xfrm xmlns:a="http://schemas.openxmlformats.org/drawingml/2006/main">
            <a:off x="685800" y="3438525"/>
            <a:ext cx="5191125" cy="0"/>
          </a:xfrm>
          <a:prstGeom xmlns:a="http://schemas.openxmlformats.org/drawingml/2006/main" prst="line">
            <a:avLst/>
          </a:prstGeom>
          <a:noFill xmlns:a="http://schemas.openxmlformats.org/drawingml/2006/main"/>
          <a:ln xmlns:a="http://schemas.openxmlformats.org/drawingml/2006/main" w="9525">
            <a:solidFill>
              <a:srgbClr val="2264A8"/>
            </a:solidFill>
          </a:ln>
        </p:spPr>
      </p:sp>
      <p:sp>
        <p:nvSpPr>
          <p:cNvPr id="9" name="text-201">
            <a:extLst xmlns:a="http://schemas.openxmlformats.org/drawingml/2006/main">
              <a:ext uri="{FF2B5EF4-FFF2-40B4-BE49-F238E27FC236}">
                <a16:creationId xmlns:a16="http://schemas.microsoft.com/office/drawing/2014/main" id="{105B3258-36A5-4BF3-80DC-FBBA0EC9965F}"/>
              </a:ext>
            </a:extLst>
          </p:cNvPr>
          <p:cNvSpPr>
            <a:spLocks xmlns:a="http://schemas.openxmlformats.org/drawingml/2006/main" noGrp="1"/>
          </p:cNvSpPr>
          <p:nvPr/>
        </p:nvSpPr>
        <p:spPr>
          <a:xfrm xmlns:a="http://schemas.openxmlformats.org/drawingml/2006/main">
            <a:off x="685800" y="3676650"/>
            <a:ext cx="51911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登録したprofileでローカル処理を実行</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標準出力・ログ・判定を保存</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AIレビューの前段で利用</a:t>
            </a:r>
          </a:p>
        </p:txBody>
      </p:sp>
      <p:sp>
        <p:nvSpPr>
          <p:cNvPr id="10" name="text-202">
            <a:extLst xmlns:a="http://schemas.openxmlformats.org/drawingml/2006/main">
              <a:ext uri="{FF2B5EF4-FFF2-40B4-BE49-F238E27FC236}">
                <a16:creationId xmlns:a16="http://schemas.microsoft.com/office/drawing/2014/main" id="{D344EF8A-05A0-45C7-A423-87032F03D1F6}"/>
              </a:ext>
            </a:extLst>
          </p:cNvPr>
          <p:cNvSpPr>
            <a:spLocks xmlns:a="http://schemas.openxmlformats.org/drawingml/2006/main" noGrp="1"/>
          </p:cNvSpPr>
          <p:nvPr/>
        </p:nvSpPr>
        <p:spPr>
          <a:xfrm xmlns:a="http://schemas.openxmlformats.org/drawingml/2006/main">
            <a:off x="6315075" y="2524125"/>
            <a:ext cx="5191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264A8"/>
                </a:solidFill>
                <a:latin typeface="Meiryo"/>
                <a:ea typeface="Meiryo"/>
                <a:cs typeface="Meiryo"/>
              </a:defRPr>
            </a:pPr>
            <a:r>
              <a:rPr sz="2250" b="1">
                <a:solidFill>
                  <a:srgbClr val="2264A8"/>
                </a:solidFill>
                <a:latin typeface="Meiryo"/>
                <a:ea typeface="Meiryo"/>
                <a:cs typeface="Meiryo"/>
              </a:rPr>
              <a:t>工程別の手順</a:t>
            </a:r>
          </a:p>
        </p:txBody>
      </p:sp>
      <p:sp>
        <p:nvSpPr>
          <p:cNvPr id="11" name="rule-203">
            <a:extLst xmlns:a="http://schemas.openxmlformats.org/drawingml/2006/main">
              <a:ext uri="{FF2B5EF4-FFF2-40B4-BE49-F238E27FC236}">
                <a16:creationId xmlns:a16="http://schemas.microsoft.com/office/drawing/2014/main" id="{0976F471-2D7C-4962-9499-217E7437E348}"/>
              </a:ext>
            </a:extLst>
          </p:cNvPr>
          <p:cNvSpPr>
            <a:spLocks xmlns:a="http://schemas.openxmlformats.org/drawingml/2006/main" noGrp="1"/>
          </p:cNvSpPr>
          <p:nvPr/>
        </p:nvSpPr>
        <p:spPr>
          <a:xfrm xmlns:a="http://schemas.openxmlformats.org/drawingml/2006/main">
            <a:off x="6315075" y="3438525"/>
            <a:ext cx="5191125" cy="0"/>
          </a:xfrm>
          <a:prstGeom xmlns:a="http://schemas.openxmlformats.org/drawingml/2006/main" prst="line">
            <a:avLst/>
          </a:prstGeom>
          <a:noFill xmlns:a="http://schemas.openxmlformats.org/drawingml/2006/main"/>
          <a:ln xmlns:a="http://schemas.openxmlformats.org/drawingml/2006/main" w="9525">
            <a:solidFill>
              <a:srgbClr val="2264A8"/>
            </a:solidFill>
          </a:ln>
        </p:spPr>
      </p:sp>
      <p:sp>
        <p:nvSpPr>
          <p:cNvPr id="12" name="text-204">
            <a:extLst xmlns:a="http://schemas.openxmlformats.org/drawingml/2006/main">
              <a:ext uri="{FF2B5EF4-FFF2-40B4-BE49-F238E27FC236}">
                <a16:creationId xmlns:a16="http://schemas.microsoft.com/office/drawing/2014/main" id="{8AD538EE-632A-46ED-AE47-417451E51C02}"/>
              </a:ext>
            </a:extLst>
          </p:cNvPr>
          <p:cNvSpPr>
            <a:spLocks xmlns:a="http://schemas.openxmlformats.org/drawingml/2006/main" noGrp="1"/>
          </p:cNvSpPr>
          <p:nvPr/>
        </p:nvSpPr>
        <p:spPr>
          <a:xfrm xmlns:a="http://schemas.openxmlformats.org/drawingml/2006/main">
            <a:off x="6315075" y="3676650"/>
            <a:ext cx="5191125"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要求分析・設計・コード・テスト</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工程ごとの入力と根拠を収集</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承認後に工程記録へ保存</a:t>
            </a:r>
          </a:p>
        </p:txBody>
      </p:sp>
    </p:spTree>
    <p:extLst>
      <p:ext uri="{BB962C8B-B14F-4D97-AF65-F5344CB8AC3E}">
        <p14:creationId xmlns:p14="http://schemas.microsoft.com/office/powerpoint/2010/main" val="768347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205">
            <a:extLst xmlns:a="http://schemas.openxmlformats.org/drawingml/2006/main">
              <a:ext uri="{FF2B5EF4-FFF2-40B4-BE49-F238E27FC236}">
                <a16:creationId xmlns:a16="http://schemas.microsoft.com/office/drawing/2014/main" id="{BDCAAD99-3049-4724-86BA-2D06A04FCD3B}"/>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AD581D"/>
                </a:solidFill>
                <a:latin typeface="Meiryo"/>
                <a:ea typeface="Meiryo"/>
                <a:cs typeface="Meiryo"/>
              </a:defRPr>
            </a:pPr>
            <a:r>
              <a:rPr sz="1425" b="1">
                <a:solidFill>
                  <a:srgbClr val="AD581D"/>
                </a:solidFill>
                <a:latin typeface="Meiryo"/>
                <a:ea typeface="Meiryo"/>
                <a:cs typeface="Meiryo"/>
              </a:rPr>
              <a:t>Bazaarレビュー</a:t>
            </a:r>
          </a:p>
        </p:txBody>
      </p:sp>
      <p:sp>
        <p:nvSpPr>
          <p:cNvPr id="2" name="text-206">
            <a:extLst xmlns:a="http://schemas.openxmlformats.org/drawingml/2006/main">
              <a:ext uri="{FF2B5EF4-FFF2-40B4-BE49-F238E27FC236}">
                <a16:creationId xmlns:a16="http://schemas.microsoft.com/office/drawing/2014/main" id="{1CBDF584-7686-4B83-831A-E5735A1CCEAA}"/>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Bazaarレビューの流れ</a:t>
            </a:r>
          </a:p>
        </p:txBody>
      </p:sp>
      <p:sp>
        <p:nvSpPr>
          <p:cNvPr id="3" name="text-207">
            <a:extLst xmlns:a="http://schemas.openxmlformats.org/drawingml/2006/main">
              <a:ext uri="{FF2B5EF4-FFF2-40B4-BE49-F238E27FC236}">
                <a16:creationId xmlns:a16="http://schemas.microsoft.com/office/drawing/2014/main" id="{9892EE64-2D3C-4B74-9FEE-74C468C4A116}"/>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対象の選択から、人の判断と実績確認まで</a:t>
            </a:r>
          </a:p>
        </p:txBody>
      </p:sp>
      <p:sp>
        <p:nvSpPr>
          <p:cNvPr id="4" name="rule-208">
            <a:extLst xmlns:a="http://schemas.openxmlformats.org/drawingml/2006/main">
              <a:ext uri="{FF2B5EF4-FFF2-40B4-BE49-F238E27FC236}">
                <a16:creationId xmlns:a16="http://schemas.microsoft.com/office/drawing/2014/main" id="{5CEC78EE-7CB9-4B46-8D75-07B60EBE9167}"/>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209">
            <a:extLst xmlns:a="http://schemas.openxmlformats.org/drawingml/2006/main">
              <a:ext uri="{FF2B5EF4-FFF2-40B4-BE49-F238E27FC236}">
                <a16:creationId xmlns:a16="http://schemas.microsoft.com/office/drawing/2014/main" id="{10FDED0D-2A7E-4E14-B528-133971D9FDD4}"/>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D581D"/>
                </a:solidFill>
                <a:latin typeface="Meiryo"/>
                <a:ea typeface="Meiryo"/>
                <a:cs typeface="Meiryo"/>
              </a:defRPr>
            </a:pPr>
            <a:r>
              <a:rPr sz="1800" b="1">
                <a:solidFill>
                  <a:srgbClr val="AD581D"/>
                </a:solidFill>
                <a:latin typeface="Meiryo"/>
                <a:ea typeface="Meiryo"/>
                <a:cs typeface="Meiryo"/>
              </a:rPr>
              <a:t>差分の取得、AIレビュー、人の判断、記録を同じ流れで扱う</a:t>
            </a:r>
          </a:p>
        </p:txBody>
      </p:sp>
      <p:sp>
        <p:nvSpPr>
          <p:cNvPr id="6" name="text-210">
            <a:extLst xmlns:a="http://schemas.openxmlformats.org/drawingml/2006/main">
              <a:ext uri="{FF2B5EF4-FFF2-40B4-BE49-F238E27FC236}">
                <a16:creationId xmlns:a16="http://schemas.microsoft.com/office/drawing/2014/main" id="{9BEF7B06-E014-4129-B5F2-C9D45FC52D29}"/>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17</a:t>
            </a:r>
          </a:p>
        </p:txBody>
      </p:sp>
      <p:sp>
        <p:nvSpPr>
          <p:cNvPr id="7" name="text-211">
            <a:extLst xmlns:a="http://schemas.openxmlformats.org/drawingml/2006/main">
              <a:ext uri="{FF2B5EF4-FFF2-40B4-BE49-F238E27FC236}">
                <a16:creationId xmlns:a16="http://schemas.microsoft.com/office/drawing/2014/main" id="{BFF2C44D-BA49-4038-82F8-18F18BEA72DE}"/>
              </a:ext>
            </a:extLst>
          </p:cNvPr>
          <p:cNvSpPr>
            <a:spLocks xmlns:a="http://schemas.openxmlformats.org/drawingml/2006/main" noGrp="1"/>
          </p:cNvSpPr>
          <p:nvPr/>
        </p:nvSpPr>
        <p:spPr>
          <a:xfrm xmlns:a="http://schemas.openxmlformats.org/drawingml/2006/main">
            <a:off x="6858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D581D"/>
                </a:solidFill>
                <a:latin typeface="Meiryo"/>
                <a:ea typeface="Meiryo"/>
                <a:cs typeface="Meiryo"/>
              </a:defRPr>
            </a:pPr>
            <a:r>
              <a:rPr sz="1650" b="1">
                <a:solidFill>
                  <a:srgbClr val="AD581D"/>
                </a:solidFill>
                <a:latin typeface="Meiryo"/>
                <a:ea typeface="Meiryo"/>
                <a:cs typeface="Meiryo"/>
              </a:rPr>
              <a:t>01</a:t>
            </a:r>
          </a:p>
        </p:txBody>
      </p:sp>
      <p:sp>
        <p:nvSpPr>
          <p:cNvPr id="8" name="node-212">
            <a:extLst xmlns:a="http://schemas.openxmlformats.org/drawingml/2006/main">
              <a:ext uri="{FF2B5EF4-FFF2-40B4-BE49-F238E27FC236}">
                <a16:creationId xmlns:a16="http://schemas.microsoft.com/office/drawing/2014/main" id="{F1690A83-EBDF-4EC4-B3FB-E5FBA555C1A2}"/>
              </a:ext>
            </a:extLst>
          </p:cNvPr>
          <p:cNvSpPr>
            <a:spLocks xmlns:a="http://schemas.openxmlformats.org/drawingml/2006/main" noGrp="1"/>
          </p:cNvSpPr>
          <p:nvPr/>
        </p:nvSpPr>
        <p:spPr>
          <a:xfrm xmlns:a="http://schemas.openxmlformats.org/drawingml/2006/main">
            <a:off x="6858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対象を選ぶ</a:t>
            </a:r>
          </a:p>
        </p:txBody>
      </p:sp>
      <p:sp>
        <p:nvSpPr>
          <p:cNvPr id="9" name="text-213">
            <a:extLst xmlns:a="http://schemas.openxmlformats.org/drawingml/2006/main">
              <a:ext uri="{FF2B5EF4-FFF2-40B4-BE49-F238E27FC236}">
                <a16:creationId xmlns:a16="http://schemas.microsoft.com/office/drawing/2014/main" id="{883CE51B-62CA-47CB-9FBB-C20536C273F3}"/>
              </a:ext>
            </a:extLst>
          </p:cNvPr>
          <p:cNvSpPr>
            <a:spLocks xmlns:a="http://schemas.openxmlformats.org/drawingml/2006/main" noGrp="1"/>
          </p:cNvSpPr>
          <p:nvPr/>
        </p:nvSpPr>
        <p:spPr>
          <a:xfrm xmlns:a="http://schemas.openxmlformats.org/drawingml/2006/main">
            <a:off x="6858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単一revision</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範囲・作業ツリー</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から選択</a:t>
            </a:r>
          </a:p>
        </p:txBody>
      </p:sp>
      <p:sp>
        <p:nvSpPr>
          <p:cNvPr id="10" name="text-214">
            <a:extLst xmlns:a="http://schemas.openxmlformats.org/drawingml/2006/main">
              <a:ext uri="{FF2B5EF4-FFF2-40B4-BE49-F238E27FC236}">
                <a16:creationId xmlns:a16="http://schemas.microsoft.com/office/drawing/2014/main" id="{E285F426-2461-47A4-86C5-2674ABF4C039}"/>
              </a:ext>
            </a:extLst>
          </p:cNvPr>
          <p:cNvSpPr>
            <a:spLocks xmlns:a="http://schemas.openxmlformats.org/drawingml/2006/main" noGrp="1"/>
          </p:cNvSpPr>
          <p:nvPr/>
        </p:nvSpPr>
        <p:spPr>
          <a:xfrm xmlns:a="http://schemas.openxmlformats.org/drawingml/2006/main">
            <a:off x="291465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D581D"/>
                </a:solidFill>
                <a:latin typeface="Meiryo"/>
                <a:ea typeface="Meiryo"/>
                <a:cs typeface="Meiryo"/>
              </a:defRPr>
            </a:pPr>
            <a:r>
              <a:rPr sz="1650" b="1">
                <a:solidFill>
                  <a:srgbClr val="AD581D"/>
                </a:solidFill>
                <a:latin typeface="Meiryo"/>
                <a:ea typeface="Meiryo"/>
                <a:cs typeface="Meiryo"/>
              </a:rPr>
              <a:t>02</a:t>
            </a:r>
          </a:p>
        </p:txBody>
      </p:sp>
      <p:sp>
        <p:nvSpPr>
          <p:cNvPr id="11" name="node-215">
            <a:extLst xmlns:a="http://schemas.openxmlformats.org/drawingml/2006/main">
              <a:ext uri="{FF2B5EF4-FFF2-40B4-BE49-F238E27FC236}">
                <a16:creationId xmlns:a16="http://schemas.microsoft.com/office/drawing/2014/main" id="{AD7D8FFB-99BD-404B-B1DD-2925AD954F2E}"/>
              </a:ext>
            </a:extLst>
          </p:cNvPr>
          <p:cNvSpPr>
            <a:spLocks xmlns:a="http://schemas.openxmlformats.org/drawingml/2006/main" noGrp="1"/>
          </p:cNvSpPr>
          <p:nvPr/>
        </p:nvSpPr>
        <p:spPr>
          <a:xfrm xmlns:a="http://schemas.openxmlformats.org/drawingml/2006/main">
            <a:off x="291465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資料を作る</a:t>
            </a:r>
          </a:p>
        </p:txBody>
      </p:sp>
      <p:sp>
        <p:nvSpPr>
          <p:cNvPr id="12" name="text-216">
            <a:extLst xmlns:a="http://schemas.openxmlformats.org/drawingml/2006/main">
              <a:ext uri="{FF2B5EF4-FFF2-40B4-BE49-F238E27FC236}">
                <a16:creationId xmlns:a16="http://schemas.microsoft.com/office/drawing/2014/main" id="{3312988D-1C8E-4825-A4F2-C23ED92773B2}"/>
              </a:ext>
            </a:extLst>
          </p:cNvPr>
          <p:cNvSpPr>
            <a:spLocks xmlns:a="http://schemas.openxmlformats.org/drawingml/2006/main" noGrp="1"/>
          </p:cNvSpPr>
          <p:nvPr/>
        </p:nvSpPr>
        <p:spPr>
          <a:xfrm xmlns:a="http://schemas.openxmlformats.org/drawingml/2006/main">
            <a:off x="291465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差分・履歴</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変更ファイル</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規約をまとめる</a:t>
            </a:r>
          </a:p>
        </p:txBody>
      </p:sp>
      <p:sp>
        <p:nvSpPr>
          <p:cNvPr id="13" name="text-217">
            <a:extLst xmlns:a="http://schemas.openxmlformats.org/drawingml/2006/main">
              <a:ext uri="{FF2B5EF4-FFF2-40B4-BE49-F238E27FC236}">
                <a16:creationId xmlns:a16="http://schemas.microsoft.com/office/drawing/2014/main" id="{6AD7520A-1FCE-43B1-8538-2B310539ECBE}"/>
              </a:ext>
            </a:extLst>
          </p:cNvPr>
          <p:cNvSpPr>
            <a:spLocks xmlns:a="http://schemas.openxmlformats.org/drawingml/2006/main" noGrp="1"/>
          </p:cNvSpPr>
          <p:nvPr/>
        </p:nvSpPr>
        <p:spPr>
          <a:xfrm xmlns:a="http://schemas.openxmlformats.org/drawingml/2006/main">
            <a:off x="51435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D581D"/>
                </a:solidFill>
                <a:latin typeface="Meiryo"/>
                <a:ea typeface="Meiryo"/>
                <a:cs typeface="Meiryo"/>
              </a:defRPr>
            </a:pPr>
            <a:r>
              <a:rPr sz="1650" b="1">
                <a:solidFill>
                  <a:srgbClr val="AD581D"/>
                </a:solidFill>
                <a:latin typeface="Meiryo"/>
                <a:ea typeface="Meiryo"/>
                <a:cs typeface="Meiryo"/>
              </a:rPr>
              <a:t>03</a:t>
            </a:r>
          </a:p>
        </p:txBody>
      </p:sp>
      <p:sp>
        <p:nvSpPr>
          <p:cNvPr id="14" name="node-218">
            <a:extLst xmlns:a="http://schemas.openxmlformats.org/drawingml/2006/main">
              <a:ext uri="{FF2B5EF4-FFF2-40B4-BE49-F238E27FC236}">
                <a16:creationId xmlns:a16="http://schemas.microsoft.com/office/drawing/2014/main" id="{582DD75F-5173-4E55-B58D-0947A411E699}"/>
              </a:ext>
            </a:extLst>
          </p:cNvPr>
          <p:cNvSpPr>
            <a:spLocks xmlns:a="http://schemas.openxmlformats.org/drawingml/2006/main" noGrp="1"/>
          </p:cNvSpPr>
          <p:nvPr/>
        </p:nvSpPr>
        <p:spPr>
          <a:xfrm xmlns:a="http://schemas.openxmlformats.org/drawingml/2006/main">
            <a:off x="51435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Bobで確認</a:t>
            </a:r>
          </a:p>
        </p:txBody>
      </p:sp>
      <p:sp>
        <p:nvSpPr>
          <p:cNvPr id="15" name="text-219">
            <a:extLst xmlns:a="http://schemas.openxmlformats.org/drawingml/2006/main">
              <a:ext uri="{FF2B5EF4-FFF2-40B4-BE49-F238E27FC236}">
                <a16:creationId xmlns:a16="http://schemas.microsoft.com/office/drawing/2014/main" id="{2AD1ED8F-8D17-4F26-8D3C-3EB31EA1DF76}"/>
              </a:ext>
            </a:extLst>
          </p:cNvPr>
          <p:cNvSpPr>
            <a:spLocks xmlns:a="http://schemas.openxmlformats.org/drawingml/2006/main" noGrp="1"/>
          </p:cNvSpPr>
          <p:nvPr/>
        </p:nvSpPr>
        <p:spPr>
          <a:xfrm xmlns:a="http://schemas.openxmlformats.org/drawingml/2006/main">
            <a:off x="51435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資料を渡し</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指摘と根拠を</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得る</a:t>
            </a:r>
          </a:p>
        </p:txBody>
      </p:sp>
      <p:sp>
        <p:nvSpPr>
          <p:cNvPr id="16" name="text-220">
            <a:extLst xmlns:a="http://schemas.openxmlformats.org/drawingml/2006/main">
              <a:ext uri="{FF2B5EF4-FFF2-40B4-BE49-F238E27FC236}">
                <a16:creationId xmlns:a16="http://schemas.microsoft.com/office/drawing/2014/main" id="{BF3BC9AE-FDD0-41B6-B761-BBDC316B2341}"/>
              </a:ext>
            </a:extLst>
          </p:cNvPr>
          <p:cNvSpPr>
            <a:spLocks xmlns:a="http://schemas.openxmlformats.org/drawingml/2006/main" noGrp="1"/>
          </p:cNvSpPr>
          <p:nvPr/>
        </p:nvSpPr>
        <p:spPr>
          <a:xfrm xmlns:a="http://schemas.openxmlformats.org/drawingml/2006/main">
            <a:off x="737235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D581D"/>
                </a:solidFill>
                <a:latin typeface="Meiryo"/>
                <a:ea typeface="Meiryo"/>
                <a:cs typeface="Meiryo"/>
              </a:defRPr>
            </a:pPr>
            <a:r>
              <a:rPr sz="1650" b="1">
                <a:solidFill>
                  <a:srgbClr val="AD581D"/>
                </a:solidFill>
                <a:latin typeface="Meiryo"/>
                <a:ea typeface="Meiryo"/>
                <a:cs typeface="Meiryo"/>
              </a:rPr>
              <a:t>04</a:t>
            </a:r>
          </a:p>
        </p:txBody>
      </p:sp>
      <p:sp>
        <p:nvSpPr>
          <p:cNvPr id="17" name="node-221">
            <a:extLst xmlns:a="http://schemas.openxmlformats.org/drawingml/2006/main">
              <a:ext uri="{FF2B5EF4-FFF2-40B4-BE49-F238E27FC236}">
                <a16:creationId xmlns:a16="http://schemas.microsoft.com/office/drawing/2014/main" id="{D882085E-5B96-49F7-92D9-79EDD2DC2742}"/>
              </a:ext>
            </a:extLst>
          </p:cNvPr>
          <p:cNvSpPr>
            <a:spLocks xmlns:a="http://schemas.openxmlformats.org/drawingml/2006/main" noGrp="1"/>
          </p:cNvSpPr>
          <p:nvPr/>
        </p:nvSpPr>
        <p:spPr>
          <a:xfrm xmlns:a="http://schemas.openxmlformats.org/drawingml/2006/main">
            <a:off x="737235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結果を確認</a:t>
            </a:r>
          </a:p>
        </p:txBody>
      </p:sp>
      <p:sp>
        <p:nvSpPr>
          <p:cNvPr id="18" name="text-222">
            <a:extLst xmlns:a="http://schemas.openxmlformats.org/drawingml/2006/main">
              <a:ext uri="{FF2B5EF4-FFF2-40B4-BE49-F238E27FC236}">
                <a16:creationId xmlns:a16="http://schemas.microsoft.com/office/drawing/2014/main" id="{7772D06F-C85B-40C9-B4FB-F8135DD151C6}"/>
              </a:ext>
            </a:extLst>
          </p:cNvPr>
          <p:cNvSpPr>
            <a:spLocks xmlns:a="http://schemas.openxmlformats.org/drawingml/2006/main" noGrp="1"/>
          </p:cNvSpPr>
          <p:nvPr/>
        </p:nvSpPr>
        <p:spPr>
          <a:xfrm xmlns:a="http://schemas.openxmlformats.org/drawingml/2006/main">
            <a:off x="737235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検証して保存</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人が指摘を</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振り分ける</a:t>
            </a:r>
          </a:p>
        </p:txBody>
      </p:sp>
      <p:sp>
        <p:nvSpPr>
          <p:cNvPr id="19" name="text-223">
            <a:extLst xmlns:a="http://schemas.openxmlformats.org/drawingml/2006/main">
              <a:ext uri="{FF2B5EF4-FFF2-40B4-BE49-F238E27FC236}">
                <a16:creationId xmlns:a16="http://schemas.microsoft.com/office/drawing/2014/main" id="{F37DD0C2-D10C-42A5-B95C-EE5B68D28C0F}"/>
              </a:ext>
            </a:extLst>
          </p:cNvPr>
          <p:cNvSpPr>
            <a:spLocks xmlns:a="http://schemas.openxmlformats.org/drawingml/2006/main" noGrp="1"/>
          </p:cNvSpPr>
          <p:nvPr/>
        </p:nvSpPr>
        <p:spPr>
          <a:xfrm xmlns:a="http://schemas.openxmlformats.org/drawingml/2006/main">
            <a:off x="96012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D581D"/>
                </a:solidFill>
                <a:latin typeface="Meiryo"/>
                <a:ea typeface="Meiryo"/>
                <a:cs typeface="Meiryo"/>
              </a:defRPr>
            </a:pPr>
            <a:r>
              <a:rPr sz="1650" b="1">
                <a:solidFill>
                  <a:srgbClr val="AD581D"/>
                </a:solidFill>
                <a:latin typeface="Meiryo"/>
                <a:ea typeface="Meiryo"/>
                <a:cs typeface="Meiryo"/>
              </a:rPr>
              <a:t>05</a:t>
            </a:r>
          </a:p>
        </p:txBody>
      </p:sp>
      <p:sp>
        <p:nvSpPr>
          <p:cNvPr id="20" name="node-224">
            <a:extLst xmlns:a="http://schemas.openxmlformats.org/drawingml/2006/main">
              <a:ext uri="{FF2B5EF4-FFF2-40B4-BE49-F238E27FC236}">
                <a16:creationId xmlns:a16="http://schemas.microsoft.com/office/drawing/2014/main" id="{8F734B7E-4ACC-4AC7-9107-9D24A5DB61DB}"/>
              </a:ext>
            </a:extLst>
          </p:cNvPr>
          <p:cNvSpPr>
            <a:spLocks xmlns:a="http://schemas.openxmlformats.org/drawingml/2006/main" noGrp="1"/>
          </p:cNvSpPr>
          <p:nvPr/>
        </p:nvSpPr>
        <p:spPr>
          <a:xfrm xmlns:a="http://schemas.openxmlformats.org/drawingml/2006/main">
            <a:off x="96012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実績を確認</a:t>
            </a:r>
          </a:p>
        </p:txBody>
      </p:sp>
      <p:sp>
        <p:nvSpPr>
          <p:cNvPr id="21" name="text-225">
            <a:extLst xmlns:a="http://schemas.openxmlformats.org/drawingml/2006/main">
              <a:ext uri="{FF2B5EF4-FFF2-40B4-BE49-F238E27FC236}">
                <a16:creationId xmlns:a16="http://schemas.microsoft.com/office/drawing/2014/main" id="{E865FCB4-FDB4-4082-867E-7B8B9BCCCB98}"/>
              </a:ext>
            </a:extLst>
          </p:cNvPr>
          <p:cNvSpPr>
            <a:spLocks xmlns:a="http://schemas.openxmlformats.org/drawingml/2006/main" noGrp="1"/>
          </p:cNvSpPr>
          <p:nvPr/>
        </p:nvSpPr>
        <p:spPr>
          <a:xfrm xmlns:a="http://schemas.openxmlformats.org/drawingml/2006/main">
            <a:off x="96012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記録を確定</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キャンペーン</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単位で集計</a:t>
            </a:r>
          </a:p>
        </p:txBody>
      </p:sp>
      <p:cxnSp>
        <p:nvCxnSpPr>
          <p:cNvPr id="47" name=""/>
          <p:cNvCxnSpPr>
            <a:stCxn xmlns:a="http://schemas.openxmlformats.org/drawingml/2006/main" id="8" idx="3"/>
            <a:endCxn xmlns:a="http://schemas.openxmlformats.org/drawingml/2006/main" id="11" idx="1"/>
          </p:cNvCxnSpPr>
          <p:nvPr/>
        </p:nvCxnSpPr>
        <p:spPr>
          <a:xfrm xmlns:a="http://schemas.openxmlformats.org/drawingml/2006/main">
            <a:off x="259080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8" name=""/>
          <p:cNvCxnSpPr>
            <a:stCxn xmlns:a="http://schemas.openxmlformats.org/drawingml/2006/main" id="11" idx="3"/>
            <a:endCxn xmlns:a="http://schemas.openxmlformats.org/drawingml/2006/main" id="14" idx="1"/>
          </p:cNvCxnSpPr>
          <p:nvPr/>
        </p:nvCxnSpPr>
        <p:spPr>
          <a:xfrm xmlns:a="http://schemas.openxmlformats.org/drawingml/2006/main">
            <a:off x="481965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9" name=""/>
          <p:cNvCxnSpPr>
            <a:stCxn xmlns:a="http://schemas.openxmlformats.org/drawingml/2006/main" id="14" idx="3"/>
            <a:endCxn xmlns:a="http://schemas.openxmlformats.org/drawingml/2006/main" id="17" idx="1"/>
          </p:cNvCxnSpPr>
          <p:nvPr/>
        </p:nvCxnSpPr>
        <p:spPr>
          <a:xfrm xmlns:a="http://schemas.openxmlformats.org/drawingml/2006/main">
            <a:off x="704850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50" name=""/>
          <p:cNvCxnSpPr>
            <a:stCxn xmlns:a="http://schemas.openxmlformats.org/drawingml/2006/main" id="17" idx="3"/>
            <a:endCxn xmlns:a="http://schemas.openxmlformats.org/drawingml/2006/main" id="20" idx="1"/>
          </p:cNvCxnSpPr>
          <p:nvPr/>
        </p:nvCxnSpPr>
        <p:spPr>
          <a:xfrm xmlns:a="http://schemas.openxmlformats.org/drawingml/2006/main">
            <a:off x="927735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154783304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226">
            <a:extLst xmlns:a="http://schemas.openxmlformats.org/drawingml/2006/main">
              <a:ext uri="{FF2B5EF4-FFF2-40B4-BE49-F238E27FC236}">
                <a16:creationId xmlns:a16="http://schemas.microsoft.com/office/drawing/2014/main" id="{6E013E83-50E0-45D5-AF62-DBF903ED89A5}"/>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AD581D"/>
                </a:solidFill>
                <a:latin typeface="Meiryo"/>
                <a:ea typeface="Meiryo"/>
                <a:cs typeface="Meiryo"/>
              </a:defRPr>
            </a:pPr>
            <a:r>
              <a:rPr sz="1425" b="1">
                <a:solidFill>
                  <a:srgbClr val="AD581D"/>
                </a:solidFill>
                <a:latin typeface="Meiryo"/>
                <a:ea typeface="Meiryo"/>
                <a:cs typeface="Meiryo"/>
              </a:rPr>
              <a:t>Bazaarレビュー</a:t>
            </a:r>
          </a:p>
        </p:txBody>
      </p:sp>
      <p:sp>
        <p:nvSpPr>
          <p:cNvPr id="2" name="text-227">
            <a:extLst xmlns:a="http://schemas.openxmlformats.org/drawingml/2006/main">
              <a:ext uri="{FF2B5EF4-FFF2-40B4-BE49-F238E27FC236}">
                <a16:creationId xmlns:a16="http://schemas.microsoft.com/office/drawing/2014/main" id="{82599B15-C4FA-4385-B88D-28D9EE906030}"/>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Bazaarレビューの内部構成</a:t>
            </a:r>
          </a:p>
        </p:txBody>
      </p:sp>
      <p:sp>
        <p:nvSpPr>
          <p:cNvPr id="3" name="text-228">
            <a:extLst xmlns:a="http://schemas.openxmlformats.org/drawingml/2006/main">
              <a:ext uri="{FF2B5EF4-FFF2-40B4-BE49-F238E27FC236}">
                <a16:creationId xmlns:a16="http://schemas.microsoft.com/office/drawing/2014/main" id="{B2D83FD2-0C1E-4CB3-BDF4-85BE320637BE}"/>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共通の処理をGUI・ワークフロー・MCPから利用</a:t>
            </a:r>
          </a:p>
        </p:txBody>
      </p:sp>
      <p:sp>
        <p:nvSpPr>
          <p:cNvPr id="4" name="rule-229">
            <a:extLst xmlns:a="http://schemas.openxmlformats.org/drawingml/2006/main">
              <a:ext uri="{FF2B5EF4-FFF2-40B4-BE49-F238E27FC236}">
                <a16:creationId xmlns:a16="http://schemas.microsoft.com/office/drawing/2014/main" id="{DC51324A-15F2-4B8F-8FB7-D4A950FB152E}"/>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230">
            <a:extLst xmlns:a="http://schemas.openxmlformats.org/drawingml/2006/main">
              <a:ext uri="{FF2B5EF4-FFF2-40B4-BE49-F238E27FC236}">
                <a16:creationId xmlns:a16="http://schemas.microsoft.com/office/drawing/2014/main" id="{7DCBEB81-D07B-435D-9B46-AF5391FA1DE0}"/>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D581D"/>
                </a:solidFill>
                <a:latin typeface="Meiryo"/>
                <a:ea typeface="Meiryo"/>
                <a:cs typeface="Meiryo"/>
              </a:defRPr>
            </a:pPr>
            <a:r>
              <a:rPr sz="1800" b="1">
                <a:solidFill>
                  <a:srgbClr val="AD581D"/>
                </a:solidFill>
                <a:latin typeface="Meiryo"/>
                <a:ea typeface="Meiryo"/>
                <a:cs typeface="Meiryo"/>
              </a:rPr>
              <a:t>入口が異なっても、対象の解決・検証・保存の処理を共有する</a:t>
            </a:r>
          </a:p>
        </p:txBody>
      </p:sp>
      <p:sp>
        <p:nvSpPr>
          <p:cNvPr id="6" name="text-231">
            <a:extLst xmlns:a="http://schemas.openxmlformats.org/drawingml/2006/main">
              <a:ext uri="{FF2B5EF4-FFF2-40B4-BE49-F238E27FC236}">
                <a16:creationId xmlns:a16="http://schemas.microsoft.com/office/drawing/2014/main" id="{211F4CB2-38E6-4041-86F1-E93C1648FE6B}"/>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18</a:t>
            </a:r>
          </a:p>
        </p:txBody>
      </p:sp>
      <p:sp>
        <p:nvSpPr>
          <p:cNvPr id="7" name="node-232">
            <a:extLst xmlns:a="http://schemas.openxmlformats.org/drawingml/2006/main">
              <a:ext uri="{FF2B5EF4-FFF2-40B4-BE49-F238E27FC236}">
                <a16:creationId xmlns:a16="http://schemas.microsoft.com/office/drawing/2014/main" id="{3CD5F7D5-04AE-4498-96C1-A84657060B8E}"/>
              </a:ext>
            </a:extLst>
          </p:cNvPr>
          <p:cNvSpPr>
            <a:spLocks xmlns:a="http://schemas.openxmlformats.org/drawingml/2006/main" noGrp="1"/>
          </p:cNvSpPr>
          <p:nvPr/>
        </p:nvSpPr>
        <p:spPr>
          <a:xfrm xmlns:a="http://schemas.openxmlformats.org/drawingml/2006/main">
            <a:off x="685800" y="2162175"/>
            <a:ext cx="3238500" cy="723900"/>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公開入口と画面</a:t>
            </a:r>
          </a:p>
        </p:txBody>
      </p:sp>
      <p:sp>
        <p:nvSpPr>
          <p:cNvPr id="8" name="text-233">
            <a:extLst xmlns:a="http://schemas.openxmlformats.org/drawingml/2006/main">
              <a:ext uri="{FF2B5EF4-FFF2-40B4-BE49-F238E27FC236}">
                <a16:creationId xmlns:a16="http://schemas.microsoft.com/office/drawing/2014/main" id="{94F97AA2-A91D-478D-8F79-A606FBCD84E8}"/>
              </a:ext>
            </a:extLst>
          </p:cNvPr>
          <p:cNvSpPr>
            <a:spLocks xmlns:a="http://schemas.openxmlformats.org/drawingml/2006/main" noGrp="1"/>
          </p:cNvSpPr>
          <p:nvPr/>
        </p:nvSpPr>
        <p:spPr>
          <a:xfrm xmlns:a="http://schemas.openxmlformats.org/drawingml/2006/main">
            <a:off x="4314825" y="2209800"/>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レビューGUI／規約作成GUI</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利用者の入力と進行を扱う</a:t>
            </a:r>
          </a:p>
        </p:txBody>
      </p:sp>
      <p:sp>
        <p:nvSpPr>
          <p:cNvPr id="9" name="node-234">
            <a:extLst xmlns:a="http://schemas.openxmlformats.org/drawingml/2006/main">
              <a:ext uri="{FF2B5EF4-FFF2-40B4-BE49-F238E27FC236}">
                <a16:creationId xmlns:a16="http://schemas.microsoft.com/office/drawing/2014/main" id="{7EA2C8FF-1778-4A40-A145-17F286052035}"/>
              </a:ext>
            </a:extLst>
          </p:cNvPr>
          <p:cNvSpPr>
            <a:spLocks xmlns:a="http://schemas.openxmlformats.org/drawingml/2006/main" noGrp="1"/>
          </p:cNvSpPr>
          <p:nvPr/>
        </p:nvSpPr>
        <p:spPr>
          <a:xfrm xmlns:a="http://schemas.openxmlformats.org/drawingml/2006/main">
            <a:off x="685800" y="3038475"/>
            <a:ext cx="3238500" cy="723900"/>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処理をつなぐ層</a:t>
            </a:r>
          </a:p>
        </p:txBody>
      </p:sp>
      <p:sp>
        <p:nvSpPr>
          <p:cNvPr id="10" name="text-235">
            <a:extLst xmlns:a="http://schemas.openxmlformats.org/drawingml/2006/main">
              <a:ext uri="{FF2B5EF4-FFF2-40B4-BE49-F238E27FC236}">
                <a16:creationId xmlns:a16="http://schemas.microsoft.com/office/drawing/2014/main" id="{2473A51C-C7AA-47C2-AFBB-04E4BEFA8D1E}"/>
              </a:ext>
            </a:extLst>
          </p:cNvPr>
          <p:cNvSpPr>
            <a:spLocks xmlns:a="http://schemas.openxmlformats.org/drawingml/2006/main" noGrp="1"/>
          </p:cNvSpPr>
          <p:nvPr/>
        </p:nvSpPr>
        <p:spPr>
          <a:xfrm xmlns:a="http://schemas.openxmlformats.org/drawingml/2006/main">
            <a:off x="4314825" y="3086100"/>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Review Run／ワークフロー連携</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対象・結果・進捗を引き継ぐ</a:t>
            </a:r>
          </a:p>
        </p:txBody>
      </p:sp>
      <p:cxnSp>
        <p:nvCxnSpPr>
          <p:cNvPr id="28" name=""/>
          <p:cNvCxnSpPr>
            <a:stCxn xmlns:a="http://schemas.openxmlformats.org/drawingml/2006/main" id="7" idx="2"/>
            <a:endCxn xmlns:a="http://schemas.openxmlformats.org/drawingml/2006/main" id="9" idx="0"/>
          </p:cNvCxnSpPr>
          <p:nvPr/>
        </p:nvCxnSpPr>
        <p:spPr>
          <a:xfrm xmlns:a="http://schemas.openxmlformats.org/drawingml/2006/main">
            <a:off x="2305050" y="2886075"/>
            <a:ext cx="0" cy="15240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
        <p:nvSpPr>
          <p:cNvPr id="12" name="node-236">
            <a:extLst xmlns:a="http://schemas.openxmlformats.org/drawingml/2006/main">
              <a:ext uri="{FF2B5EF4-FFF2-40B4-BE49-F238E27FC236}">
                <a16:creationId xmlns:a16="http://schemas.microsoft.com/office/drawing/2014/main" id="{9C2685F2-6BC7-44D5-BEE8-2761664D0FF2}"/>
              </a:ext>
            </a:extLst>
          </p:cNvPr>
          <p:cNvSpPr>
            <a:spLocks xmlns:a="http://schemas.openxmlformats.org/drawingml/2006/main" noGrp="1"/>
          </p:cNvSpPr>
          <p:nvPr/>
        </p:nvSpPr>
        <p:spPr>
          <a:xfrm xmlns:a="http://schemas.openxmlformats.org/drawingml/2006/main">
            <a:off x="685800" y="3914775"/>
            <a:ext cx="3238500" cy="723900"/>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レビューの共通処理</a:t>
            </a:r>
          </a:p>
        </p:txBody>
      </p:sp>
      <p:sp>
        <p:nvSpPr>
          <p:cNvPr id="13" name="text-237">
            <a:extLst xmlns:a="http://schemas.openxmlformats.org/drawingml/2006/main">
              <a:ext uri="{FF2B5EF4-FFF2-40B4-BE49-F238E27FC236}">
                <a16:creationId xmlns:a16="http://schemas.microsoft.com/office/drawing/2014/main" id="{209087AB-030F-49F8-9A25-526500CB3506}"/>
              </a:ext>
            </a:extLst>
          </p:cNvPr>
          <p:cNvSpPr>
            <a:spLocks xmlns:a="http://schemas.openxmlformats.org/drawingml/2006/main" noGrp="1"/>
          </p:cNvSpPr>
          <p:nvPr/>
        </p:nvSpPr>
        <p:spPr>
          <a:xfrm xmlns:a="http://schemas.openxmlformats.org/drawingml/2006/main">
            <a:off x="4314825" y="3962400"/>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Bazaar操作／規約／結果検証／記録</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資料抽出と規約反映</a:t>
            </a:r>
          </a:p>
        </p:txBody>
      </p:sp>
      <p:cxnSp>
        <p:nvCxnSpPr>
          <p:cNvPr id="31" name=""/>
          <p:cNvCxnSpPr>
            <a:stCxn xmlns:a="http://schemas.openxmlformats.org/drawingml/2006/main" id="9" idx="2"/>
            <a:endCxn xmlns:a="http://schemas.openxmlformats.org/drawingml/2006/main" id="12" idx="0"/>
          </p:cNvCxnSpPr>
          <p:nvPr/>
        </p:nvCxnSpPr>
        <p:spPr>
          <a:xfrm xmlns:a="http://schemas.openxmlformats.org/drawingml/2006/main">
            <a:off x="2305050" y="3762375"/>
            <a:ext cx="0" cy="15240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
        <p:nvSpPr>
          <p:cNvPr id="15" name="node-238">
            <a:extLst xmlns:a="http://schemas.openxmlformats.org/drawingml/2006/main">
              <a:ext uri="{FF2B5EF4-FFF2-40B4-BE49-F238E27FC236}">
                <a16:creationId xmlns:a16="http://schemas.microsoft.com/office/drawing/2014/main" id="{52953225-2E4B-400B-92DD-E84A774FF6B7}"/>
              </a:ext>
            </a:extLst>
          </p:cNvPr>
          <p:cNvSpPr>
            <a:spLocks xmlns:a="http://schemas.openxmlformats.org/drawingml/2006/main" noGrp="1"/>
          </p:cNvSpPr>
          <p:nvPr/>
        </p:nvSpPr>
        <p:spPr>
          <a:xfrm xmlns:a="http://schemas.openxmlformats.org/drawingml/2006/main">
            <a:off x="685800" y="4791075"/>
            <a:ext cx="3238500" cy="723900"/>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外部との接続</a:t>
            </a:r>
          </a:p>
        </p:txBody>
      </p:sp>
      <p:sp>
        <p:nvSpPr>
          <p:cNvPr id="16" name="text-239">
            <a:extLst xmlns:a="http://schemas.openxmlformats.org/drawingml/2006/main">
              <a:ext uri="{FF2B5EF4-FFF2-40B4-BE49-F238E27FC236}">
                <a16:creationId xmlns:a16="http://schemas.microsoft.com/office/drawing/2014/main" id="{3297BE84-1918-41FE-A7FA-FFE63057605E}"/>
              </a:ext>
            </a:extLst>
          </p:cNvPr>
          <p:cNvSpPr>
            <a:spLocks xmlns:a="http://schemas.openxmlformats.org/drawingml/2006/main" noGrp="1"/>
          </p:cNvSpPr>
          <p:nvPr/>
        </p:nvSpPr>
        <p:spPr>
          <a:xfrm xmlns:a="http://schemas.openxmlformats.org/drawingml/2006/main">
            <a:off x="4314825" y="4838700"/>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Bazaar CLI／Bob context／MCP</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各接続先の条件を検証</a:t>
            </a:r>
          </a:p>
        </p:txBody>
      </p:sp>
      <p:cxnSp>
        <p:nvCxnSpPr>
          <p:cNvPr id="34" name=""/>
          <p:cNvCxnSpPr>
            <a:stCxn xmlns:a="http://schemas.openxmlformats.org/drawingml/2006/main" id="12" idx="2"/>
            <a:endCxn xmlns:a="http://schemas.openxmlformats.org/drawingml/2006/main" id="15" idx="0"/>
          </p:cNvCxnSpPr>
          <p:nvPr/>
        </p:nvCxnSpPr>
        <p:spPr>
          <a:xfrm xmlns:a="http://schemas.openxmlformats.org/drawingml/2006/main">
            <a:off x="2305050" y="4638675"/>
            <a:ext cx="0" cy="15240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137061326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240">
            <a:extLst xmlns:a="http://schemas.openxmlformats.org/drawingml/2006/main">
              <a:ext uri="{FF2B5EF4-FFF2-40B4-BE49-F238E27FC236}">
                <a16:creationId xmlns:a16="http://schemas.microsoft.com/office/drawing/2014/main" id="{8B1D2F9C-5343-4DEE-9330-FAEE4E9DCF4E}"/>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AD581D"/>
                </a:solidFill>
                <a:latin typeface="Meiryo"/>
                <a:ea typeface="Meiryo"/>
                <a:cs typeface="Meiryo"/>
              </a:defRPr>
            </a:pPr>
            <a:r>
              <a:rPr sz="1425" b="1">
                <a:solidFill>
                  <a:srgbClr val="AD581D"/>
                </a:solidFill>
                <a:latin typeface="Meiryo"/>
                <a:ea typeface="Meiryo"/>
                <a:cs typeface="Meiryo"/>
              </a:rPr>
              <a:t>Bazaarレビュー</a:t>
            </a:r>
          </a:p>
        </p:txBody>
      </p:sp>
      <p:sp>
        <p:nvSpPr>
          <p:cNvPr id="2" name="text-241">
            <a:extLst xmlns:a="http://schemas.openxmlformats.org/drawingml/2006/main">
              <a:ext uri="{FF2B5EF4-FFF2-40B4-BE49-F238E27FC236}">
                <a16:creationId xmlns:a16="http://schemas.microsoft.com/office/drawing/2014/main" id="{EF59A56F-766E-48C1-9147-2EE3BB022738}"/>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差分の収集とレビュー資料の生成</a:t>
            </a:r>
          </a:p>
        </p:txBody>
      </p:sp>
      <p:sp>
        <p:nvSpPr>
          <p:cNvPr id="3" name="text-242">
            <a:extLst xmlns:a="http://schemas.openxmlformats.org/drawingml/2006/main">
              <a:ext uri="{FF2B5EF4-FFF2-40B4-BE49-F238E27FC236}">
                <a16:creationId xmlns:a16="http://schemas.microsoft.com/office/drawing/2014/main" id="{42A726E6-D29A-4CC4-B150-CAF7AC42A1D2}"/>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対象情報をそろえ、保存してからBobへ渡す</a:t>
            </a:r>
          </a:p>
        </p:txBody>
      </p:sp>
      <p:sp>
        <p:nvSpPr>
          <p:cNvPr id="4" name="rule-243">
            <a:extLst xmlns:a="http://schemas.openxmlformats.org/drawingml/2006/main">
              <a:ext uri="{FF2B5EF4-FFF2-40B4-BE49-F238E27FC236}">
                <a16:creationId xmlns:a16="http://schemas.microsoft.com/office/drawing/2014/main" id="{31649554-7860-4855-A9C2-6891ECE6035E}"/>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244">
            <a:extLst xmlns:a="http://schemas.openxmlformats.org/drawingml/2006/main">
              <a:ext uri="{FF2B5EF4-FFF2-40B4-BE49-F238E27FC236}">
                <a16:creationId xmlns:a16="http://schemas.microsoft.com/office/drawing/2014/main" id="{63692F1C-EFBC-4E43-9960-C269DEC5A705}"/>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D581D"/>
                </a:solidFill>
                <a:latin typeface="Meiryo"/>
                <a:ea typeface="Meiryo"/>
                <a:cs typeface="Meiryo"/>
              </a:defRPr>
            </a:pPr>
            <a:r>
              <a:rPr sz="1800" b="1">
                <a:solidFill>
                  <a:srgbClr val="AD581D"/>
                </a:solidFill>
                <a:latin typeface="Meiryo"/>
                <a:ea typeface="Meiryo"/>
                <a:cs typeface="Meiryo"/>
              </a:rPr>
              <a:t>どの変更を、どの規約で確認するかをレビュー資料に残す</a:t>
            </a:r>
          </a:p>
        </p:txBody>
      </p:sp>
      <p:sp>
        <p:nvSpPr>
          <p:cNvPr id="6" name="text-245">
            <a:extLst xmlns:a="http://schemas.openxmlformats.org/drawingml/2006/main">
              <a:ext uri="{FF2B5EF4-FFF2-40B4-BE49-F238E27FC236}">
                <a16:creationId xmlns:a16="http://schemas.microsoft.com/office/drawing/2014/main" id="{96274543-5945-4ACB-B125-BDC554BFE8F0}"/>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19</a:t>
            </a:r>
          </a:p>
        </p:txBody>
      </p:sp>
      <p:sp>
        <p:nvSpPr>
          <p:cNvPr id="7" name="text-246">
            <a:extLst xmlns:a="http://schemas.openxmlformats.org/drawingml/2006/main">
              <a:ext uri="{FF2B5EF4-FFF2-40B4-BE49-F238E27FC236}">
                <a16:creationId xmlns:a16="http://schemas.microsoft.com/office/drawing/2014/main" id="{7DE83F4E-D4DE-4574-8CAD-E81438B04013}"/>
              </a:ext>
            </a:extLst>
          </p:cNvPr>
          <p:cNvSpPr>
            <a:spLocks xmlns:a="http://schemas.openxmlformats.org/drawingml/2006/main" noGrp="1"/>
          </p:cNvSpPr>
          <p:nvPr/>
        </p:nvSpPr>
        <p:spPr>
          <a:xfrm xmlns:a="http://schemas.openxmlformats.org/drawingml/2006/main">
            <a:off x="685800"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D581D"/>
                </a:solidFill>
                <a:latin typeface="Meiryo"/>
                <a:ea typeface="Meiryo"/>
                <a:cs typeface="Meiryo"/>
              </a:defRPr>
            </a:pPr>
            <a:r>
              <a:rPr sz="1650" b="1">
                <a:solidFill>
                  <a:srgbClr val="AD581D"/>
                </a:solidFill>
                <a:latin typeface="Meiryo"/>
                <a:ea typeface="Meiryo"/>
                <a:cs typeface="Meiryo"/>
              </a:rPr>
              <a:t>01</a:t>
            </a:r>
          </a:p>
        </p:txBody>
      </p:sp>
      <p:sp>
        <p:nvSpPr>
          <p:cNvPr id="8" name="node-247">
            <a:extLst xmlns:a="http://schemas.openxmlformats.org/drawingml/2006/main">
              <a:ext uri="{FF2B5EF4-FFF2-40B4-BE49-F238E27FC236}">
                <a16:creationId xmlns:a16="http://schemas.microsoft.com/office/drawing/2014/main" id="{D24B109D-45E8-4CBF-9894-65506803D588}"/>
              </a:ext>
            </a:extLst>
          </p:cNvPr>
          <p:cNvSpPr>
            <a:spLocks xmlns:a="http://schemas.openxmlformats.org/drawingml/2006/main" noGrp="1"/>
          </p:cNvSpPr>
          <p:nvPr/>
        </p:nvSpPr>
        <p:spPr>
          <a:xfrm xmlns:a="http://schemas.openxmlformats.org/drawingml/2006/main">
            <a:off x="685800"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対象を確定</a:t>
            </a:r>
          </a:p>
        </p:txBody>
      </p:sp>
      <p:sp>
        <p:nvSpPr>
          <p:cNvPr id="9" name="text-248">
            <a:extLst xmlns:a="http://schemas.openxmlformats.org/drawingml/2006/main">
              <a:ext uri="{FF2B5EF4-FFF2-40B4-BE49-F238E27FC236}">
                <a16:creationId xmlns:a16="http://schemas.microsoft.com/office/drawing/2014/main" id="{EAF976B5-57C7-4C46-B716-43C6541E8B68}"/>
              </a:ext>
            </a:extLst>
          </p:cNvPr>
          <p:cNvSpPr>
            <a:spLocks xmlns:a="http://schemas.openxmlformats.org/drawingml/2006/main" noGrp="1"/>
          </p:cNvSpPr>
          <p:nvPr/>
        </p:nvSpPr>
        <p:spPr>
          <a:xfrm xmlns:a="http://schemas.openxmlformats.org/drawingml/2006/main">
            <a:off x="685800"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例：revision</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120〜125を指定</a:t>
            </a:r>
          </a:p>
        </p:txBody>
      </p:sp>
      <p:sp>
        <p:nvSpPr>
          <p:cNvPr id="10" name="text-249">
            <a:extLst xmlns:a="http://schemas.openxmlformats.org/drawingml/2006/main">
              <a:ext uri="{FF2B5EF4-FFF2-40B4-BE49-F238E27FC236}">
                <a16:creationId xmlns:a16="http://schemas.microsoft.com/office/drawing/2014/main" id="{068DE1FE-1593-45AD-81A3-5349C4747914}"/>
              </a:ext>
            </a:extLst>
          </p:cNvPr>
          <p:cNvSpPr>
            <a:spLocks xmlns:a="http://schemas.openxmlformats.org/drawingml/2006/main" noGrp="1"/>
          </p:cNvSpPr>
          <p:nvPr/>
        </p:nvSpPr>
        <p:spPr>
          <a:xfrm xmlns:a="http://schemas.openxmlformats.org/drawingml/2006/main">
            <a:off x="3471863"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D581D"/>
                </a:solidFill>
                <a:latin typeface="Meiryo"/>
                <a:ea typeface="Meiryo"/>
                <a:cs typeface="Meiryo"/>
              </a:defRPr>
            </a:pPr>
            <a:r>
              <a:rPr sz="1650" b="1">
                <a:solidFill>
                  <a:srgbClr val="AD581D"/>
                </a:solidFill>
                <a:latin typeface="Meiryo"/>
                <a:ea typeface="Meiryo"/>
                <a:cs typeface="Meiryo"/>
              </a:rPr>
              <a:t>02</a:t>
            </a:r>
          </a:p>
        </p:txBody>
      </p:sp>
      <p:sp>
        <p:nvSpPr>
          <p:cNvPr id="11" name="node-250">
            <a:extLst xmlns:a="http://schemas.openxmlformats.org/drawingml/2006/main">
              <a:ext uri="{FF2B5EF4-FFF2-40B4-BE49-F238E27FC236}">
                <a16:creationId xmlns:a16="http://schemas.microsoft.com/office/drawing/2014/main" id="{D5664E57-AA51-4D94-A896-814F02795583}"/>
              </a:ext>
            </a:extLst>
          </p:cNvPr>
          <p:cNvSpPr>
            <a:spLocks xmlns:a="http://schemas.openxmlformats.org/drawingml/2006/main" noGrp="1"/>
          </p:cNvSpPr>
          <p:nvPr/>
        </p:nvSpPr>
        <p:spPr>
          <a:xfrm xmlns:a="http://schemas.openxmlformats.org/drawingml/2006/main">
            <a:off x="3471863"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情報を収集</a:t>
            </a:r>
          </a:p>
        </p:txBody>
      </p:sp>
      <p:sp>
        <p:nvSpPr>
          <p:cNvPr id="12" name="text-251">
            <a:extLst xmlns:a="http://schemas.openxmlformats.org/drawingml/2006/main">
              <a:ext uri="{FF2B5EF4-FFF2-40B4-BE49-F238E27FC236}">
                <a16:creationId xmlns:a16="http://schemas.microsoft.com/office/drawing/2014/main" id="{95943102-A903-4A5F-A129-0BAA2F9B9486}"/>
              </a:ext>
            </a:extLst>
          </p:cNvPr>
          <p:cNvSpPr>
            <a:spLocks xmlns:a="http://schemas.openxmlformats.org/drawingml/2006/main" noGrp="1"/>
          </p:cNvSpPr>
          <p:nvPr/>
        </p:nvSpPr>
        <p:spPr>
          <a:xfrm xmlns:a="http://schemas.openxmlformats.org/drawingml/2006/main">
            <a:off x="3471863"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CLIで差分を収集</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履歴・変更一覧も取得</a:t>
            </a:r>
          </a:p>
        </p:txBody>
      </p:sp>
      <p:sp>
        <p:nvSpPr>
          <p:cNvPr id="13" name="text-252">
            <a:extLst xmlns:a="http://schemas.openxmlformats.org/drawingml/2006/main">
              <a:ext uri="{FF2B5EF4-FFF2-40B4-BE49-F238E27FC236}">
                <a16:creationId xmlns:a16="http://schemas.microsoft.com/office/drawing/2014/main" id="{B9885FFF-6CD8-4773-B11F-88DE11B46E45}"/>
              </a:ext>
            </a:extLst>
          </p:cNvPr>
          <p:cNvSpPr>
            <a:spLocks xmlns:a="http://schemas.openxmlformats.org/drawingml/2006/main" noGrp="1"/>
          </p:cNvSpPr>
          <p:nvPr/>
        </p:nvSpPr>
        <p:spPr>
          <a:xfrm xmlns:a="http://schemas.openxmlformats.org/drawingml/2006/main">
            <a:off x="6257925"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D581D"/>
                </a:solidFill>
                <a:latin typeface="Meiryo"/>
                <a:ea typeface="Meiryo"/>
                <a:cs typeface="Meiryo"/>
              </a:defRPr>
            </a:pPr>
            <a:r>
              <a:rPr sz="1650" b="1">
                <a:solidFill>
                  <a:srgbClr val="AD581D"/>
                </a:solidFill>
                <a:latin typeface="Meiryo"/>
                <a:ea typeface="Meiryo"/>
                <a:cs typeface="Meiryo"/>
              </a:rPr>
              <a:t>03</a:t>
            </a:r>
          </a:p>
        </p:txBody>
      </p:sp>
      <p:sp>
        <p:nvSpPr>
          <p:cNvPr id="14" name="node-253">
            <a:extLst xmlns:a="http://schemas.openxmlformats.org/drawingml/2006/main">
              <a:ext uri="{FF2B5EF4-FFF2-40B4-BE49-F238E27FC236}">
                <a16:creationId xmlns:a16="http://schemas.microsoft.com/office/drawing/2014/main" id="{F4613AEF-C947-44BD-A9FD-6290D68B499A}"/>
              </a:ext>
            </a:extLst>
          </p:cNvPr>
          <p:cNvSpPr>
            <a:spLocks xmlns:a="http://schemas.openxmlformats.org/drawingml/2006/main" noGrp="1"/>
          </p:cNvSpPr>
          <p:nvPr/>
        </p:nvSpPr>
        <p:spPr>
          <a:xfrm xmlns:a="http://schemas.openxmlformats.org/drawingml/2006/main">
            <a:off x="6257925"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資料を生成</a:t>
            </a:r>
          </a:p>
        </p:txBody>
      </p:sp>
      <p:sp>
        <p:nvSpPr>
          <p:cNvPr id="15" name="text-254">
            <a:extLst xmlns:a="http://schemas.openxmlformats.org/drawingml/2006/main">
              <a:ext uri="{FF2B5EF4-FFF2-40B4-BE49-F238E27FC236}">
                <a16:creationId xmlns:a16="http://schemas.microsoft.com/office/drawing/2014/main" id="{0138B2BD-D008-42E1-B1E6-1EE534D6004C}"/>
              </a:ext>
            </a:extLst>
          </p:cNvPr>
          <p:cNvSpPr>
            <a:spLocks xmlns:a="http://schemas.openxmlformats.org/drawingml/2006/main" noGrp="1"/>
          </p:cNvSpPr>
          <p:nvPr/>
        </p:nvSpPr>
        <p:spPr>
          <a:xfrm xmlns:a="http://schemas.openxmlformats.org/drawingml/2006/main">
            <a:off x="6257925"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対象情報・追加資料</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規約をMarkdown</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形式で集約</a:t>
            </a:r>
          </a:p>
        </p:txBody>
      </p:sp>
      <p:sp>
        <p:nvSpPr>
          <p:cNvPr id="16" name="text-255">
            <a:extLst xmlns:a="http://schemas.openxmlformats.org/drawingml/2006/main">
              <a:ext uri="{FF2B5EF4-FFF2-40B4-BE49-F238E27FC236}">
                <a16:creationId xmlns:a16="http://schemas.microsoft.com/office/drawing/2014/main" id="{8EE70703-5BDB-46E2-8F55-2F4B96BBB1C8}"/>
              </a:ext>
            </a:extLst>
          </p:cNvPr>
          <p:cNvSpPr>
            <a:spLocks xmlns:a="http://schemas.openxmlformats.org/drawingml/2006/main" noGrp="1"/>
          </p:cNvSpPr>
          <p:nvPr/>
        </p:nvSpPr>
        <p:spPr>
          <a:xfrm xmlns:a="http://schemas.openxmlformats.org/drawingml/2006/main">
            <a:off x="9043988"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D581D"/>
                </a:solidFill>
                <a:latin typeface="Meiryo"/>
                <a:ea typeface="Meiryo"/>
                <a:cs typeface="Meiryo"/>
              </a:defRPr>
            </a:pPr>
            <a:r>
              <a:rPr sz="1650" b="1">
                <a:solidFill>
                  <a:srgbClr val="AD581D"/>
                </a:solidFill>
                <a:latin typeface="Meiryo"/>
                <a:ea typeface="Meiryo"/>
                <a:cs typeface="Meiryo"/>
              </a:rPr>
              <a:t>04</a:t>
            </a:r>
          </a:p>
        </p:txBody>
      </p:sp>
      <p:sp>
        <p:nvSpPr>
          <p:cNvPr id="17" name="node-256">
            <a:extLst xmlns:a="http://schemas.openxmlformats.org/drawingml/2006/main">
              <a:ext uri="{FF2B5EF4-FFF2-40B4-BE49-F238E27FC236}">
                <a16:creationId xmlns:a16="http://schemas.microsoft.com/office/drawing/2014/main" id="{0CED3A1D-06D2-45EA-924A-632D8BF8D4E2}"/>
              </a:ext>
            </a:extLst>
          </p:cNvPr>
          <p:cNvSpPr>
            <a:spLocks xmlns:a="http://schemas.openxmlformats.org/drawingml/2006/main" noGrp="1"/>
          </p:cNvSpPr>
          <p:nvPr/>
        </p:nvSpPr>
        <p:spPr>
          <a:xfrm xmlns:a="http://schemas.openxmlformats.org/drawingml/2006/main">
            <a:off x="9043988"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保存して渡す</a:t>
            </a:r>
          </a:p>
        </p:txBody>
      </p:sp>
      <p:sp>
        <p:nvSpPr>
          <p:cNvPr id="18" name="text-257">
            <a:extLst xmlns:a="http://schemas.openxmlformats.org/drawingml/2006/main">
              <a:ext uri="{FF2B5EF4-FFF2-40B4-BE49-F238E27FC236}">
                <a16:creationId xmlns:a16="http://schemas.microsoft.com/office/drawing/2014/main" id="{4A507F31-3D3E-4F36-9DC7-D8BE390497E4}"/>
              </a:ext>
            </a:extLst>
          </p:cNvPr>
          <p:cNvSpPr>
            <a:spLocks xmlns:a="http://schemas.openxmlformats.org/drawingml/2006/main" noGrp="1"/>
          </p:cNvSpPr>
          <p:nvPr/>
        </p:nvSpPr>
        <p:spPr>
          <a:xfrm xmlns:a="http://schemas.openxmlformats.org/drawingml/2006/main">
            <a:off x="9043988"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レビュー資料を保存</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Bob contextへ追加</a:t>
            </a:r>
          </a:p>
        </p:txBody>
      </p:sp>
      <p:cxnSp>
        <p:nvCxnSpPr>
          <p:cNvPr id="40" name=""/>
          <p:cNvCxnSpPr>
            <a:stCxn xmlns:a="http://schemas.openxmlformats.org/drawingml/2006/main" id="8" idx="3"/>
            <a:endCxn xmlns:a="http://schemas.openxmlformats.org/drawingml/2006/main" id="11" idx="1"/>
          </p:cNvCxnSpPr>
          <p:nvPr/>
        </p:nvCxnSpPr>
        <p:spPr>
          <a:xfrm xmlns:a="http://schemas.openxmlformats.org/drawingml/2006/main">
            <a:off x="3148013"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1" name=""/>
          <p:cNvCxnSpPr>
            <a:stCxn xmlns:a="http://schemas.openxmlformats.org/drawingml/2006/main" id="11" idx="3"/>
            <a:endCxn xmlns:a="http://schemas.openxmlformats.org/drawingml/2006/main" id="14" idx="1"/>
          </p:cNvCxnSpPr>
          <p:nvPr/>
        </p:nvCxnSpPr>
        <p:spPr>
          <a:xfrm xmlns:a="http://schemas.openxmlformats.org/drawingml/2006/main">
            <a:off x="5934076" y="3338513"/>
            <a:ext cx="323849"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2" name=""/>
          <p:cNvCxnSpPr>
            <a:stCxn xmlns:a="http://schemas.openxmlformats.org/drawingml/2006/main" id="14" idx="3"/>
            <a:endCxn xmlns:a="http://schemas.openxmlformats.org/drawingml/2006/main" id="17" idx="1"/>
          </p:cNvCxnSpPr>
          <p:nvPr/>
        </p:nvCxnSpPr>
        <p:spPr>
          <a:xfrm xmlns:a="http://schemas.openxmlformats.org/drawingml/2006/main">
            <a:off x="8720138"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129780646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258">
            <a:extLst xmlns:a="http://schemas.openxmlformats.org/drawingml/2006/main">
              <a:ext uri="{FF2B5EF4-FFF2-40B4-BE49-F238E27FC236}">
                <a16:creationId xmlns:a16="http://schemas.microsoft.com/office/drawing/2014/main" id="{31A26459-BD16-46D7-B117-80C29C76F131}"/>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AD581D"/>
                </a:solidFill>
                <a:latin typeface="Meiryo"/>
                <a:ea typeface="Meiryo"/>
                <a:cs typeface="Meiryo"/>
              </a:defRPr>
            </a:pPr>
            <a:r>
              <a:rPr sz="1425" b="1">
                <a:solidFill>
                  <a:srgbClr val="AD581D"/>
                </a:solidFill>
                <a:latin typeface="Meiryo"/>
                <a:ea typeface="Meiryo"/>
                <a:cs typeface="Meiryo"/>
              </a:rPr>
              <a:t>Bazaarレビュー</a:t>
            </a:r>
          </a:p>
        </p:txBody>
      </p:sp>
      <p:sp>
        <p:nvSpPr>
          <p:cNvPr id="2" name="text-259">
            <a:extLst xmlns:a="http://schemas.openxmlformats.org/drawingml/2006/main">
              <a:ext uri="{FF2B5EF4-FFF2-40B4-BE49-F238E27FC236}">
                <a16:creationId xmlns:a16="http://schemas.microsoft.com/office/drawing/2014/main" id="{20BCF59E-03FA-4D09-A987-7BB0C05972E9}"/>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プロジェクト規約による確認観点</a:t>
            </a:r>
          </a:p>
        </p:txBody>
      </p:sp>
      <p:sp>
        <p:nvSpPr>
          <p:cNvPr id="3" name="text-260">
            <a:extLst xmlns:a="http://schemas.openxmlformats.org/drawingml/2006/main">
              <a:ext uri="{FF2B5EF4-FFF2-40B4-BE49-F238E27FC236}">
                <a16:creationId xmlns:a16="http://schemas.microsoft.com/office/drawing/2014/main" id="{49FE86B4-8B3A-4B81-83E5-085BCC340A57}"/>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確認項目・根拠・判定形式をレビュー資料に添える</a:t>
            </a:r>
          </a:p>
        </p:txBody>
      </p:sp>
      <p:sp>
        <p:nvSpPr>
          <p:cNvPr id="4" name="rule-261">
            <a:extLst xmlns:a="http://schemas.openxmlformats.org/drawingml/2006/main">
              <a:ext uri="{FF2B5EF4-FFF2-40B4-BE49-F238E27FC236}">
                <a16:creationId xmlns:a16="http://schemas.microsoft.com/office/drawing/2014/main" id="{F6FAC8EF-FC57-4CF6-A22B-BF371EF4D91B}"/>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262">
            <a:extLst xmlns:a="http://schemas.openxmlformats.org/drawingml/2006/main">
              <a:ext uri="{FF2B5EF4-FFF2-40B4-BE49-F238E27FC236}">
                <a16:creationId xmlns:a16="http://schemas.microsoft.com/office/drawing/2014/main" id="{40B6EC61-97E4-4632-A51D-2D1E8FFFAEA8}"/>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D581D"/>
                </a:solidFill>
                <a:latin typeface="Meiryo"/>
                <a:ea typeface="Meiryo"/>
                <a:cs typeface="Meiryo"/>
              </a:defRPr>
            </a:pPr>
            <a:r>
              <a:rPr sz="1800" b="1">
                <a:solidFill>
                  <a:srgbClr val="AD581D"/>
                </a:solidFill>
                <a:latin typeface="Meiryo"/>
                <a:ea typeface="Meiryo"/>
                <a:cs typeface="Meiryo"/>
              </a:rPr>
              <a:t>規約を文章で添えるだけでなく、IDと根拠を持つ結果へつなぐ</a:t>
            </a:r>
          </a:p>
        </p:txBody>
      </p:sp>
      <p:sp>
        <p:nvSpPr>
          <p:cNvPr id="6" name="text-263">
            <a:extLst xmlns:a="http://schemas.openxmlformats.org/drawingml/2006/main">
              <a:ext uri="{FF2B5EF4-FFF2-40B4-BE49-F238E27FC236}">
                <a16:creationId xmlns:a16="http://schemas.microsoft.com/office/drawing/2014/main" id="{65E0DFCD-9944-4077-8B5F-517F5CA057C9}"/>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20</a:t>
            </a:r>
          </a:p>
        </p:txBody>
      </p:sp>
      <p:sp>
        <p:nvSpPr>
          <p:cNvPr id="7" name="text-264">
            <a:extLst xmlns:a="http://schemas.openxmlformats.org/drawingml/2006/main">
              <a:ext uri="{FF2B5EF4-FFF2-40B4-BE49-F238E27FC236}">
                <a16:creationId xmlns:a16="http://schemas.microsoft.com/office/drawing/2014/main" id="{65138259-BA85-43CB-B897-6E320F8B29ED}"/>
              </a:ext>
            </a:extLst>
          </p:cNvPr>
          <p:cNvSpPr>
            <a:spLocks xmlns:a="http://schemas.openxmlformats.org/drawingml/2006/main" noGrp="1"/>
          </p:cNvSpPr>
          <p:nvPr/>
        </p:nvSpPr>
        <p:spPr>
          <a:xfrm xmlns:a="http://schemas.openxmlformats.org/drawingml/2006/main">
            <a:off x="68580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D581D"/>
                </a:solidFill>
                <a:latin typeface="Meiryo"/>
                <a:ea typeface="Meiryo"/>
                <a:cs typeface="Meiryo"/>
              </a:defRPr>
            </a:pPr>
            <a:r>
              <a:rPr sz="2250" b="1">
                <a:solidFill>
                  <a:srgbClr val="AD581D"/>
                </a:solidFill>
                <a:latin typeface="Meiryo"/>
                <a:ea typeface="Meiryo"/>
                <a:cs typeface="Meiryo"/>
              </a:rPr>
              <a:t>確認項目を定義</a:t>
            </a:r>
          </a:p>
        </p:txBody>
      </p:sp>
      <p:sp>
        <p:nvSpPr>
          <p:cNvPr id="8" name="rule-265">
            <a:extLst xmlns:a="http://schemas.openxmlformats.org/drawingml/2006/main">
              <a:ext uri="{FF2B5EF4-FFF2-40B4-BE49-F238E27FC236}">
                <a16:creationId xmlns:a16="http://schemas.microsoft.com/office/drawing/2014/main" id="{ED640DBD-83E9-428D-A78F-1FFAE77865E8}"/>
              </a:ext>
            </a:extLst>
          </p:cNvPr>
          <p:cNvSpPr>
            <a:spLocks xmlns:a="http://schemas.openxmlformats.org/drawingml/2006/main" noGrp="1"/>
          </p:cNvSpPr>
          <p:nvPr/>
        </p:nvSpPr>
        <p:spPr>
          <a:xfrm xmlns:a="http://schemas.openxmlformats.org/drawingml/2006/main">
            <a:off x="685800" y="3438525"/>
            <a:ext cx="3314700" cy="0"/>
          </a:xfrm>
          <a:prstGeom xmlns:a="http://schemas.openxmlformats.org/drawingml/2006/main" prst="line">
            <a:avLst/>
          </a:prstGeom>
          <a:noFill xmlns:a="http://schemas.openxmlformats.org/drawingml/2006/main"/>
          <a:ln xmlns:a="http://schemas.openxmlformats.org/drawingml/2006/main" w="9525">
            <a:solidFill>
              <a:srgbClr val="AD581D"/>
            </a:solidFill>
          </a:ln>
        </p:spPr>
      </p:sp>
      <p:sp>
        <p:nvSpPr>
          <p:cNvPr id="9" name="text-266">
            <a:extLst xmlns:a="http://schemas.openxmlformats.org/drawingml/2006/main">
              <a:ext uri="{FF2B5EF4-FFF2-40B4-BE49-F238E27FC236}">
                <a16:creationId xmlns:a16="http://schemas.microsoft.com/office/drawing/2014/main" id="{926FB2F3-A0CD-4C49-9A2F-E01A71A505ED}"/>
              </a:ext>
            </a:extLst>
          </p:cNvPr>
          <p:cNvSpPr>
            <a:spLocks xmlns:a="http://schemas.openxmlformats.org/drawingml/2006/main" noGrp="1"/>
          </p:cNvSpPr>
          <p:nvPr/>
        </p:nvSpPr>
        <p:spPr>
          <a:xfrm xmlns:a="http://schemas.openxmlformats.org/drawingml/2006/main">
            <a:off x="68580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checklistで規約を指定</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例：RTスレッドのI/O禁止</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外部I/F構造体の互換性</a:t>
            </a:r>
          </a:p>
        </p:txBody>
      </p:sp>
      <p:sp>
        <p:nvSpPr>
          <p:cNvPr id="10" name="text-267">
            <a:extLst xmlns:a="http://schemas.openxmlformats.org/drawingml/2006/main">
              <a:ext uri="{FF2B5EF4-FFF2-40B4-BE49-F238E27FC236}">
                <a16:creationId xmlns:a16="http://schemas.microsoft.com/office/drawing/2014/main" id="{38C07CF6-A47F-4BA4-8658-E025E9272CA0}"/>
              </a:ext>
            </a:extLst>
          </p:cNvPr>
          <p:cNvSpPr>
            <a:spLocks xmlns:a="http://schemas.openxmlformats.org/drawingml/2006/main" noGrp="1"/>
          </p:cNvSpPr>
          <p:nvPr/>
        </p:nvSpPr>
        <p:spPr>
          <a:xfrm xmlns:a="http://schemas.openxmlformats.org/drawingml/2006/main">
            <a:off x="443865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D581D"/>
                </a:solidFill>
                <a:latin typeface="Meiryo"/>
                <a:ea typeface="Meiryo"/>
                <a:cs typeface="Meiryo"/>
              </a:defRPr>
            </a:pPr>
            <a:r>
              <a:rPr sz="2250" b="1">
                <a:solidFill>
                  <a:srgbClr val="AD581D"/>
                </a:solidFill>
                <a:latin typeface="Meiryo"/>
                <a:ea typeface="Meiryo"/>
                <a:cs typeface="Meiryo"/>
              </a:rPr>
              <a:t>根拠と結び付ける</a:t>
            </a:r>
          </a:p>
        </p:txBody>
      </p:sp>
      <p:sp>
        <p:nvSpPr>
          <p:cNvPr id="11" name="rule-268">
            <a:extLst xmlns:a="http://schemas.openxmlformats.org/drawingml/2006/main">
              <a:ext uri="{FF2B5EF4-FFF2-40B4-BE49-F238E27FC236}">
                <a16:creationId xmlns:a16="http://schemas.microsoft.com/office/drawing/2014/main" id="{724C5328-C563-465C-BA1E-44F1254776F1}"/>
              </a:ext>
            </a:extLst>
          </p:cNvPr>
          <p:cNvSpPr>
            <a:spLocks xmlns:a="http://schemas.openxmlformats.org/drawingml/2006/main" noGrp="1"/>
          </p:cNvSpPr>
          <p:nvPr/>
        </p:nvSpPr>
        <p:spPr>
          <a:xfrm xmlns:a="http://schemas.openxmlformats.org/drawingml/2006/main">
            <a:off x="4438650" y="3438525"/>
            <a:ext cx="3314700" cy="0"/>
          </a:xfrm>
          <a:prstGeom xmlns:a="http://schemas.openxmlformats.org/drawingml/2006/main" prst="line">
            <a:avLst/>
          </a:prstGeom>
          <a:noFill xmlns:a="http://schemas.openxmlformats.org/drawingml/2006/main"/>
          <a:ln xmlns:a="http://schemas.openxmlformats.org/drawingml/2006/main" w="9525">
            <a:solidFill>
              <a:srgbClr val="AD581D"/>
            </a:solidFill>
          </a:ln>
        </p:spPr>
      </p:sp>
      <p:sp>
        <p:nvSpPr>
          <p:cNvPr id="12" name="text-269">
            <a:extLst xmlns:a="http://schemas.openxmlformats.org/drawingml/2006/main">
              <a:ext uri="{FF2B5EF4-FFF2-40B4-BE49-F238E27FC236}">
                <a16:creationId xmlns:a16="http://schemas.microsoft.com/office/drawing/2014/main" id="{2EC1A652-E785-48F7-8F59-E2F7765DD961}"/>
              </a:ext>
            </a:extLst>
          </p:cNvPr>
          <p:cNvSpPr>
            <a:spLocks xmlns:a="http://schemas.openxmlformats.org/drawingml/2006/main" noGrp="1"/>
          </p:cNvSpPr>
          <p:nvPr/>
        </p:nvSpPr>
        <p:spPr>
          <a:xfrm xmlns:a="http://schemas.openxmlformats.org/drawingml/2006/main">
            <a:off x="443865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pass/failには根拠が必要</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証拠不足はunknown</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failには規約ID付きの指摘</a:t>
            </a:r>
          </a:p>
        </p:txBody>
      </p:sp>
      <p:sp>
        <p:nvSpPr>
          <p:cNvPr id="13" name="text-270">
            <a:extLst xmlns:a="http://schemas.openxmlformats.org/drawingml/2006/main">
              <a:ext uri="{FF2B5EF4-FFF2-40B4-BE49-F238E27FC236}">
                <a16:creationId xmlns:a16="http://schemas.microsoft.com/office/drawing/2014/main" id="{FB173176-A970-4467-9405-B38B7DC33824}"/>
              </a:ext>
            </a:extLst>
          </p:cNvPr>
          <p:cNvSpPr>
            <a:spLocks xmlns:a="http://schemas.openxmlformats.org/drawingml/2006/main" noGrp="1"/>
          </p:cNvSpPr>
          <p:nvPr/>
        </p:nvSpPr>
        <p:spPr>
          <a:xfrm xmlns:a="http://schemas.openxmlformats.org/drawingml/2006/main">
            <a:off x="819150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AD581D"/>
                </a:solidFill>
                <a:latin typeface="Meiryo"/>
                <a:ea typeface="Meiryo"/>
                <a:cs typeface="Meiryo"/>
              </a:defRPr>
            </a:pPr>
            <a:r>
              <a:rPr sz="2250" b="1">
                <a:solidFill>
                  <a:srgbClr val="AD581D"/>
                </a:solidFill>
                <a:latin typeface="Meiryo"/>
                <a:ea typeface="Meiryo"/>
                <a:cs typeface="Meiryo"/>
              </a:rPr>
              <a:t>結果をそろえる</a:t>
            </a:r>
          </a:p>
        </p:txBody>
      </p:sp>
      <p:sp>
        <p:nvSpPr>
          <p:cNvPr id="14" name="rule-271">
            <a:extLst xmlns:a="http://schemas.openxmlformats.org/drawingml/2006/main">
              <a:ext uri="{FF2B5EF4-FFF2-40B4-BE49-F238E27FC236}">
                <a16:creationId xmlns:a16="http://schemas.microsoft.com/office/drawing/2014/main" id="{60125B38-AD1F-4483-BAEB-DD5D08E8DE21}"/>
              </a:ext>
            </a:extLst>
          </p:cNvPr>
          <p:cNvSpPr>
            <a:spLocks xmlns:a="http://schemas.openxmlformats.org/drawingml/2006/main" noGrp="1"/>
          </p:cNvSpPr>
          <p:nvPr/>
        </p:nvSpPr>
        <p:spPr>
          <a:xfrm xmlns:a="http://schemas.openxmlformats.org/drawingml/2006/main">
            <a:off x="8191500" y="3438525"/>
            <a:ext cx="3314700" cy="0"/>
          </a:xfrm>
          <a:prstGeom xmlns:a="http://schemas.openxmlformats.org/drawingml/2006/main" prst="line">
            <a:avLst/>
          </a:prstGeom>
          <a:noFill xmlns:a="http://schemas.openxmlformats.org/drawingml/2006/main"/>
          <a:ln xmlns:a="http://schemas.openxmlformats.org/drawingml/2006/main" w="9525">
            <a:solidFill>
              <a:srgbClr val="AD581D"/>
            </a:solidFill>
          </a:ln>
        </p:spPr>
      </p:sp>
      <p:sp>
        <p:nvSpPr>
          <p:cNvPr id="15" name="text-272">
            <a:extLst xmlns:a="http://schemas.openxmlformats.org/drawingml/2006/main">
              <a:ext uri="{FF2B5EF4-FFF2-40B4-BE49-F238E27FC236}">
                <a16:creationId xmlns:a16="http://schemas.microsoft.com/office/drawing/2014/main" id="{7BFF5C76-4D5A-4ECA-8595-1F1B96700F47}"/>
              </a:ext>
            </a:extLst>
          </p:cNvPr>
          <p:cNvSpPr>
            <a:spLocks xmlns:a="http://schemas.openxmlformats.org/drawingml/2006/main" noGrp="1"/>
          </p:cNvSpPr>
          <p:nvPr/>
        </p:nvSpPr>
        <p:spPr>
          <a:xfrm xmlns:a="http://schemas.openxmlformats.org/drawingml/2006/main">
            <a:off x="819150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schemaに沿うJSONと要約</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承認済みのプロジェクト情報</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追加のレビュー指示も利用</a:t>
            </a:r>
          </a:p>
        </p:txBody>
      </p:sp>
    </p:spTree>
    <p:extLst>
      <p:ext uri="{BB962C8B-B14F-4D97-AF65-F5344CB8AC3E}">
        <p14:creationId xmlns:p14="http://schemas.microsoft.com/office/powerpoint/2010/main" val="169279665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273">
            <a:extLst xmlns:a="http://schemas.openxmlformats.org/drawingml/2006/main">
              <a:ext uri="{FF2B5EF4-FFF2-40B4-BE49-F238E27FC236}">
                <a16:creationId xmlns:a16="http://schemas.microsoft.com/office/drawing/2014/main" id="{3F2E8D05-A226-473F-B6C8-30520EB41E56}"/>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AD581D"/>
                </a:solidFill>
                <a:latin typeface="Meiryo"/>
                <a:ea typeface="Meiryo"/>
                <a:cs typeface="Meiryo"/>
              </a:defRPr>
            </a:pPr>
            <a:r>
              <a:rPr sz="1425" b="1">
                <a:solidFill>
                  <a:srgbClr val="AD581D"/>
                </a:solidFill>
                <a:latin typeface="Meiryo"/>
                <a:ea typeface="Meiryo"/>
                <a:cs typeface="Meiryo"/>
              </a:rPr>
              <a:t>Bazaarレビュー</a:t>
            </a:r>
          </a:p>
        </p:txBody>
      </p:sp>
      <p:sp>
        <p:nvSpPr>
          <p:cNvPr id="2" name="text-274">
            <a:extLst xmlns:a="http://schemas.openxmlformats.org/drawingml/2006/main">
              <a:ext uri="{FF2B5EF4-FFF2-40B4-BE49-F238E27FC236}">
                <a16:creationId xmlns:a16="http://schemas.microsoft.com/office/drawing/2014/main" id="{1F9ED140-1465-4BF3-99E8-174E85F3FB4F}"/>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資料からのプロジェクト規約作成</a:t>
            </a:r>
          </a:p>
        </p:txBody>
      </p:sp>
      <p:sp>
        <p:nvSpPr>
          <p:cNvPr id="3" name="text-275">
            <a:extLst xmlns:a="http://schemas.openxmlformats.org/drawingml/2006/main">
              <a:ext uri="{FF2B5EF4-FFF2-40B4-BE49-F238E27FC236}">
                <a16:creationId xmlns:a16="http://schemas.microsoft.com/office/drawing/2014/main" id="{DAC0BB9E-2DEF-4D0E-A670-F87F0C167E2A}"/>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抽出した根拠を使い、人が確認して正式規約へ反映</a:t>
            </a:r>
          </a:p>
        </p:txBody>
      </p:sp>
      <p:sp>
        <p:nvSpPr>
          <p:cNvPr id="4" name="rule-276">
            <a:extLst xmlns:a="http://schemas.openxmlformats.org/drawingml/2006/main">
              <a:ext uri="{FF2B5EF4-FFF2-40B4-BE49-F238E27FC236}">
                <a16:creationId xmlns:a16="http://schemas.microsoft.com/office/drawing/2014/main" id="{AED8D8AE-7438-42E3-858D-3342992648EE}"/>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277">
            <a:extLst xmlns:a="http://schemas.openxmlformats.org/drawingml/2006/main">
              <a:ext uri="{FF2B5EF4-FFF2-40B4-BE49-F238E27FC236}">
                <a16:creationId xmlns:a16="http://schemas.microsoft.com/office/drawing/2014/main" id="{C29463A8-65CD-4376-BD17-900A61C85AE6}"/>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D581D"/>
                </a:solidFill>
                <a:latin typeface="Meiryo"/>
                <a:ea typeface="Meiryo"/>
                <a:cs typeface="Meiryo"/>
              </a:defRPr>
            </a:pPr>
            <a:r>
              <a:rPr sz="1800" b="1">
                <a:solidFill>
                  <a:srgbClr val="AD581D"/>
                </a:solidFill>
                <a:latin typeface="Meiryo"/>
                <a:ea typeface="Meiryo"/>
                <a:cs typeface="Meiryo"/>
              </a:rPr>
              <a:t>資料の本文、AIの候補、人の判断、正式規約を段階で分ける</a:t>
            </a:r>
          </a:p>
        </p:txBody>
      </p:sp>
      <p:sp>
        <p:nvSpPr>
          <p:cNvPr id="6" name="text-278">
            <a:extLst xmlns:a="http://schemas.openxmlformats.org/drawingml/2006/main">
              <a:ext uri="{FF2B5EF4-FFF2-40B4-BE49-F238E27FC236}">
                <a16:creationId xmlns:a16="http://schemas.microsoft.com/office/drawing/2014/main" id="{A6DD4217-282E-461A-BE6D-BD1B41BC3E71}"/>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21</a:t>
            </a:r>
          </a:p>
        </p:txBody>
      </p:sp>
      <p:sp>
        <p:nvSpPr>
          <p:cNvPr id="7" name="text-279">
            <a:extLst xmlns:a="http://schemas.openxmlformats.org/drawingml/2006/main">
              <a:ext uri="{FF2B5EF4-FFF2-40B4-BE49-F238E27FC236}">
                <a16:creationId xmlns:a16="http://schemas.microsoft.com/office/drawing/2014/main" id="{61833638-B7D4-4B64-90AC-43E04F23E6E8}"/>
              </a:ext>
            </a:extLst>
          </p:cNvPr>
          <p:cNvSpPr>
            <a:spLocks xmlns:a="http://schemas.openxmlformats.org/drawingml/2006/main" noGrp="1"/>
          </p:cNvSpPr>
          <p:nvPr/>
        </p:nvSpPr>
        <p:spPr>
          <a:xfrm xmlns:a="http://schemas.openxmlformats.org/drawingml/2006/main">
            <a:off x="6858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D581D"/>
                </a:solidFill>
                <a:latin typeface="Meiryo"/>
                <a:ea typeface="Meiryo"/>
                <a:cs typeface="Meiryo"/>
              </a:defRPr>
            </a:pPr>
            <a:r>
              <a:rPr sz="1650" b="1">
                <a:solidFill>
                  <a:srgbClr val="AD581D"/>
                </a:solidFill>
                <a:latin typeface="Meiryo"/>
                <a:ea typeface="Meiryo"/>
                <a:cs typeface="Meiryo"/>
              </a:rPr>
              <a:t>01</a:t>
            </a:r>
          </a:p>
        </p:txBody>
      </p:sp>
      <p:sp>
        <p:nvSpPr>
          <p:cNvPr id="8" name="node-280">
            <a:extLst xmlns:a="http://schemas.openxmlformats.org/drawingml/2006/main">
              <a:ext uri="{FF2B5EF4-FFF2-40B4-BE49-F238E27FC236}">
                <a16:creationId xmlns:a16="http://schemas.microsoft.com/office/drawing/2014/main" id="{2113B6F5-4AC2-48C1-8587-7AAEF600FE25}"/>
              </a:ext>
            </a:extLst>
          </p:cNvPr>
          <p:cNvSpPr>
            <a:spLocks xmlns:a="http://schemas.openxmlformats.org/drawingml/2006/main" noGrp="1"/>
          </p:cNvSpPr>
          <p:nvPr/>
        </p:nvSpPr>
        <p:spPr>
          <a:xfrm xmlns:a="http://schemas.openxmlformats.org/drawingml/2006/main">
            <a:off x="6858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資料を選択</a:t>
            </a:r>
          </a:p>
        </p:txBody>
      </p:sp>
      <p:sp>
        <p:nvSpPr>
          <p:cNvPr id="9" name="text-281">
            <a:extLst xmlns:a="http://schemas.openxmlformats.org/drawingml/2006/main">
              <a:ext uri="{FF2B5EF4-FFF2-40B4-BE49-F238E27FC236}">
                <a16:creationId xmlns:a16="http://schemas.microsoft.com/office/drawing/2014/main" id="{2E2C8EE7-EA94-40FA-A287-C020A4E14922}"/>
              </a:ext>
            </a:extLst>
          </p:cNvPr>
          <p:cNvSpPr>
            <a:spLocks xmlns:a="http://schemas.openxmlformats.org/drawingml/2006/main" noGrp="1"/>
          </p:cNvSpPr>
          <p:nvPr/>
        </p:nvSpPr>
        <p:spPr>
          <a:xfrm xmlns:a="http://schemas.openxmlformats.org/drawingml/2006/main">
            <a:off x="6858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Word・Excel</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PDFを選択</a:t>
            </a:r>
          </a:p>
        </p:txBody>
      </p:sp>
      <p:sp>
        <p:nvSpPr>
          <p:cNvPr id="10" name="text-282">
            <a:extLst xmlns:a="http://schemas.openxmlformats.org/drawingml/2006/main">
              <a:ext uri="{FF2B5EF4-FFF2-40B4-BE49-F238E27FC236}">
                <a16:creationId xmlns:a16="http://schemas.microsoft.com/office/drawing/2014/main" id="{DEB559A8-99EE-4493-8BA0-D49B5EBFC7A1}"/>
              </a:ext>
            </a:extLst>
          </p:cNvPr>
          <p:cNvSpPr>
            <a:spLocks xmlns:a="http://schemas.openxmlformats.org/drawingml/2006/main" noGrp="1"/>
          </p:cNvSpPr>
          <p:nvPr/>
        </p:nvSpPr>
        <p:spPr>
          <a:xfrm xmlns:a="http://schemas.openxmlformats.org/drawingml/2006/main">
            <a:off x="291465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D581D"/>
                </a:solidFill>
                <a:latin typeface="Meiryo"/>
                <a:ea typeface="Meiryo"/>
                <a:cs typeface="Meiryo"/>
              </a:defRPr>
            </a:pPr>
            <a:r>
              <a:rPr sz="1650" b="1">
                <a:solidFill>
                  <a:srgbClr val="AD581D"/>
                </a:solidFill>
                <a:latin typeface="Meiryo"/>
                <a:ea typeface="Meiryo"/>
                <a:cs typeface="Meiryo"/>
              </a:rPr>
              <a:t>02</a:t>
            </a:r>
          </a:p>
        </p:txBody>
      </p:sp>
      <p:sp>
        <p:nvSpPr>
          <p:cNvPr id="11" name="node-283">
            <a:extLst xmlns:a="http://schemas.openxmlformats.org/drawingml/2006/main">
              <a:ext uri="{FF2B5EF4-FFF2-40B4-BE49-F238E27FC236}">
                <a16:creationId xmlns:a16="http://schemas.microsoft.com/office/drawing/2014/main" id="{0310E295-4AAF-4940-8569-00F0E411E631}"/>
              </a:ext>
            </a:extLst>
          </p:cNvPr>
          <p:cNvSpPr>
            <a:spLocks xmlns:a="http://schemas.openxmlformats.org/drawingml/2006/main" noGrp="1"/>
          </p:cNvSpPr>
          <p:nvPr/>
        </p:nvSpPr>
        <p:spPr>
          <a:xfrm xmlns:a="http://schemas.openxmlformats.org/drawingml/2006/main">
            <a:off x="291465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抽出を確認</a:t>
            </a:r>
          </a:p>
        </p:txBody>
      </p:sp>
      <p:sp>
        <p:nvSpPr>
          <p:cNvPr id="12" name="text-284">
            <a:extLst xmlns:a="http://schemas.openxmlformats.org/drawingml/2006/main">
              <a:ext uri="{FF2B5EF4-FFF2-40B4-BE49-F238E27FC236}">
                <a16:creationId xmlns:a16="http://schemas.microsoft.com/office/drawing/2014/main" id="{3541F865-7B59-4F7A-AF10-07FCEA27800C}"/>
              </a:ext>
            </a:extLst>
          </p:cNvPr>
          <p:cNvSpPr>
            <a:spLocks xmlns:a="http://schemas.openxmlformats.org/drawingml/2006/main" noGrp="1"/>
          </p:cNvSpPr>
          <p:nvPr/>
        </p:nvSpPr>
        <p:spPr>
          <a:xfrm xmlns:a="http://schemas.openxmlformats.org/drawingml/2006/main">
            <a:off x="291465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抽出内容と</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AIへ渡す根拠</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の範囲を確認</a:t>
            </a:r>
          </a:p>
        </p:txBody>
      </p:sp>
      <p:sp>
        <p:nvSpPr>
          <p:cNvPr id="13" name="text-285">
            <a:extLst xmlns:a="http://schemas.openxmlformats.org/drawingml/2006/main">
              <a:ext uri="{FF2B5EF4-FFF2-40B4-BE49-F238E27FC236}">
                <a16:creationId xmlns:a16="http://schemas.microsoft.com/office/drawing/2014/main" id="{E5E1E607-EFD1-4B7D-9635-68FCFBD98AF0}"/>
              </a:ext>
            </a:extLst>
          </p:cNvPr>
          <p:cNvSpPr>
            <a:spLocks xmlns:a="http://schemas.openxmlformats.org/drawingml/2006/main" noGrp="1"/>
          </p:cNvSpPr>
          <p:nvPr/>
        </p:nvSpPr>
        <p:spPr>
          <a:xfrm xmlns:a="http://schemas.openxmlformats.org/drawingml/2006/main">
            <a:off x="51435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D581D"/>
                </a:solidFill>
                <a:latin typeface="Meiryo"/>
                <a:ea typeface="Meiryo"/>
                <a:cs typeface="Meiryo"/>
              </a:defRPr>
            </a:pPr>
            <a:r>
              <a:rPr sz="1650" b="1">
                <a:solidFill>
                  <a:srgbClr val="AD581D"/>
                </a:solidFill>
                <a:latin typeface="Meiryo"/>
                <a:ea typeface="Meiryo"/>
                <a:cs typeface="Meiryo"/>
              </a:rPr>
              <a:t>03</a:t>
            </a:r>
          </a:p>
        </p:txBody>
      </p:sp>
      <p:sp>
        <p:nvSpPr>
          <p:cNvPr id="14" name="node-286">
            <a:extLst xmlns:a="http://schemas.openxmlformats.org/drawingml/2006/main">
              <a:ext uri="{FF2B5EF4-FFF2-40B4-BE49-F238E27FC236}">
                <a16:creationId xmlns:a16="http://schemas.microsoft.com/office/drawing/2014/main" id="{439F8745-FC39-47B7-9CC1-E54F16E4D897}"/>
              </a:ext>
            </a:extLst>
          </p:cNvPr>
          <p:cNvSpPr>
            <a:spLocks xmlns:a="http://schemas.openxmlformats.org/drawingml/2006/main" noGrp="1"/>
          </p:cNvSpPr>
          <p:nvPr/>
        </p:nvSpPr>
        <p:spPr>
          <a:xfrm xmlns:a="http://schemas.openxmlformats.org/drawingml/2006/main">
            <a:off x="51435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候補を作成</a:t>
            </a:r>
          </a:p>
        </p:txBody>
      </p:sp>
      <p:sp>
        <p:nvSpPr>
          <p:cNvPr id="15" name="text-287">
            <a:extLst xmlns:a="http://schemas.openxmlformats.org/drawingml/2006/main">
              <a:ext uri="{FF2B5EF4-FFF2-40B4-BE49-F238E27FC236}">
                <a16:creationId xmlns:a16="http://schemas.microsoft.com/office/drawing/2014/main" id="{2AB13A05-534B-439B-AA5B-2FFCFC258BC0}"/>
              </a:ext>
            </a:extLst>
          </p:cNvPr>
          <p:cNvSpPr>
            <a:spLocks xmlns:a="http://schemas.openxmlformats.org/drawingml/2006/main" noGrp="1"/>
          </p:cNvSpPr>
          <p:nvPr/>
        </p:nvSpPr>
        <p:spPr>
          <a:xfrm xmlns:a="http://schemas.openxmlformats.org/drawingml/2006/main">
            <a:off x="51435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Bobの手順で</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候補を生成</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形式を検証</a:t>
            </a:r>
          </a:p>
        </p:txBody>
      </p:sp>
      <p:sp>
        <p:nvSpPr>
          <p:cNvPr id="16" name="text-288">
            <a:extLst xmlns:a="http://schemas.openxmlformats.org/drawingml/2006/main">
              <a:ext uri="{FF2B5EF4-FFF2-40B4-BE49-F238E27FC236}">
                <a16:creationId xmlns:a16="http://schemas.microsoft.com/office/drawing/2014/main" id="{ED3057AF-3562-46EA-945B-33D5D1056517}"/>
              </a:ext>
            </a:extLst>
          </p:cNvPr>
          <p:cNvSpPr>
            <a:spLocks xmlns:a="http://schemas.openxmlformats.org/drawingml/2006/main" noGrp="1"/>
          </p:cNvSpPr>
          <p:nvPr/>
        </p:nvSpPr>
        <p:spPr>
          <a:xfrm xmlns:a="http://schemas.openxmlformats.org/drawingml/2006/main">
            <a:off x="737235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D581D"/>
                </a:solidFill>
                <a:latin typeface="Meiryo"/>
                <a:ea typeface="Meiryo"/>
                <a:cs typeface="Meiryo"/>
              </a:defRPr>
            </a:pPr>
            <a:r>
              <a:rPr sz="1650" b="1">
                <a:solidFill>
                  <a:srgbClr val="AD581D"/>
                </a:solidFill>
                <a:latin typeface="Meiryo"/>
                <a:ea typeface="Meiryo"/>
                <a:cs typeface="Meiryo"/>
              </a:rPr>
              <a:t>04</a:t>
            </a:r>
          </a:p>
        </p:txBody>
      </p:sp>
      <p:sp>
        <p:nvSpPr>
          <p:cNvPr id="17" name="node-289">
            <a:extLst xmlns:a="http://schemas.openxmlformats.org/drawingml/2006/main">
              <a:ext uri="{FF2B5EF4-FFF2-40B4-BE49-F238E27FC236}">
                <a16:creationId xmlns:a16="http://schemas.microsoft.com/office/drawing/2014/main" id="{27DF071E-A901-4567-89D9-23DFB3A164E4}"/>
              </a:ext>
            </a:extLst>
          </p:cNvPr>
          <p:cNvSpPr>
            <a:spLocks xmlns:a="http://schemas.openxmlformats.org/drawingml/2006/main" noGrp="1"/>
          </p:cNvSpPr>
          <p:nvPr/>
        </p:nvSpPr>
        <p:spPr>
          <a:xfrm xmlns:a="http://schemas.openxmlformats.org/drawingml/2006/main">
            <a:off x="737235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人が判断</a:t>
            </a:r>
          </a:p>
        </p:txBody>
      </p:sp>
      <p:sp>
        <p:nvSpPr>
          <p:cNvPr id="18" name="text-290">
            <a:extLst xmlns:a="http://schemas.openxmlformats.org/drawingml/2006/main">
              <a:ext uri="{FF2B5EF4-FFF2-40B4-BE49-F238E27FC236}">
                <a16:creationId xmlns:a16="http://schemas.microsoft.com/office/drawing/2014/main" id="{A898E8C4-B558-468F-B6CD-B54725AA4473}"/>
              </a:ext>
            </a:extLst>
          </p:cNvPr>
          <p:cNvSpPr>
            <a:spLocks xmlns:a="http://schemas.openxmlformats.org/drawingml/2006/main" noGrp="1"/>
          </p:cNvSpPr>
          <p:nvPr/>
        </p:nvSpPr>
        <p:spPr>
          <a:xfrm xmlns:a="http://schemas.openxmlformats.org/drawingml/2006/main">
            <a:off x="737235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根拠と差分</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矛盾を確認し</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採用・却下</a:t>
            </a:r>
          </a:p>
        </p:txBody>
      </p:sp>
      <p:sp>
        <p:nvSpPr>
          <p:cNvPr id="19" name="text-291">
            <a:extLst xmlns:a="http://schemas.openxmlformats.org/drawingml/2006/main">
              <a:ext uri="{FF2B5EF4-FFF2-40B4-BE49-F238E27FC236}">
                <a16:creationId xmlns:a16="http://schemas.microsoft.com/office/drawing/2014/main" id="{456B91D1-D703-4786-9083-4C732264A0B3}"/>
              </a:ext>
            </a:extLst>
          </p:cNvPr>
          <p:cNvSpPr>
            <a:spLocks xmlns:a="http://schemas.openxmlformats.org/drawingml/2006/main" noGrp="1"/>
          </p:cNvSpPr>
          <p:nvPr/>
        </p:nvSpPr>
        <p:spPr>
          <a:xfrm xmlns:a="http://schemas.openxmlformats.org/drawingml/2006/main">
            <a:off x="96012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D581D"/>
                </a:solidFill>
                <a:latin typeface="Meiryo"/>
                <a:ea typeface="Meiryo"/>
                <a:cs typeface="Meiryo"/>
              </a:defRPr>
            </a:pPr>
            <a:r>
              <a:rPr sz="1650" b="1">
                <a:solidFill>
                  <a:srgbClr val="AD581D"/>
                </a:solidFill>
                <a:latin typeface="Meiryo"/>
                <a:ea typeface="Meiryo"/>
                <a:cs typeface="Meiryo"/>
              </a:rPr>
              <a:t>05</a:t>
            </a:r>
          </a:p>
        </p:txBody>
      </p:sp>
      <p:sp>
        <p:nvSpPr>
          <p:cNvPr id="20" name="node-292">
            <a:extLst xmlns:a="http://schemas.openxmlformats.org/drawingml/2006/main">
              <a:ext uri="{FF2B5EF4-FFF2-40B4-BE49-F238E27FC236}">
                <a16:creationId xmlns:a16="http://schemas.microsoft.com/office/drawing/2014/main" id="{3BC9731D-7D94-4E95-BB90-3BBCD16E628A}"/>
              </a:ext>
            </a:extLst>
          </p:cNvPr>
          <p:cNvSpPr>
            <a:spLocks xmlns:a="http://schemas.openxmlformats.org/drawingml/2006/main" noGrp="1"/>
          </p:cNvSpPr>
          <p:nvPr/>
        </p:nvSpPr>
        <p:spPr>
          <a:xfrm xmlns:a="http://schemas.openxmlformats.org/drawingml/2006/main">
            <a:off x="96012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規約へ反映</a:t>
            </a:r>
          </a:p>
        </p:txBody>
      </p:sp>
      <p:sp>
        <p:nvSpPr>
          <p:cNvPr id="21" name="text-293">
            <a:extLst xmlns:a="http://schemas.openxmlformats.org/drawingml/2006/main">
              <a:ext uri="{FF2B5EF4-FFF2-40B4-BE49-F238E27FC236}">
                <a16:creationId xmlns:a16="http://schemas.microsoft.com/office/drawing/2014/main" id="{5ABCE990-FA47-40FE-9933-0C3CC2EA9A89}"/>
              </a:ext>
            </a:extLst>
          </p:cNvPr>
          <p:cNvSpPr>
            <a:spLocks xmlns:a="http://schemas.openxmlformats.org/drawingml/2006/main" noGrp="1"/>
          </p:cNvSpPr>
          <p:nvPr/>
        </p:nvSpPr>
        <p:spPr>
          <a:xfrm xmlns:a="http://schemas.openxmlformats.org/drawingml/2006/main">
            <a:off x="96012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適用を確認</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バックアップ</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付きで反映</a:t>
            </a:r>
          </a:p>
        </p:txBody>
      </p:sp>
      <p:cxnSp>
        <p:nvCxnSpPr>
          <p:cNvPr id="47" name=""/>
          <p:cNvCxnSpPr>
            <a:stCxn xmlns:a="http://schemas.openxmlformats.org/drawingml/2006/main" id="8" idx="3"/>
            <a:endCxn xmlns:a="http://schemas.openxmlformats.org/drawingml/2006/main" id="11" idx="1"/>
          </p:cNvCxnSpPr>
          <p:nvPr/>
        </p:nvCxnSpPr>
        <p:spPr>
          <a:xfrm xmlns:a="http://schemas.openxmlformats.org/drawingml/2006/main">
            <a:off x="259080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8" name=""/>
          <p:cNvCxnSpPr>
            <a:stCxn xmlns:a="http://schemas.openxmlformats.org/drawingml/2006/main" id="11" idx="3"/>
            <a:endCxn xmlns:a="http://schemas.openxmlformats.org/drawingml/2006/main" id="14" idx="1"/>
          </p:cNvCxnSpPr>
          <p:nvPr/>
        </p:nvCxnSpPr>
        <p:spPr>
          <a:xfrm xmlns:a="http://schemas.openxmlformats.org/drawingml/2006/main">
            <a:off x="481965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9" name=""/>
          <p:cNvCxnSpPr>
            <a:stCxn xmlns:a="http://schemas.openxmlformats.org/drawingml/2006/main" id="14" idx="3"/>
            <a:endCxn xmlns:a="http://schemas.openxmlformats.org/drawingml/2006/main" id="17" idx="1"/>
          </p:cNvCxnSpPr>
          <p:nvPr/>
        </p:nvCxnSpPr>
        <p:spPr>
          <a:xfrm xmlns:a="http://schemas.openxmlformats.org/drawingml/2006/main">
            <a:off x="704850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50" name=""/>
          <p:cNvCxnSpPr>
            <a:stCxn xmlns:a="http://schemas.openxmlformats.org/drawingml/2006/main" id="17" idx="3"/>
            <a:endCxn xmlns:a="http://schemas.openxmlformats.org/drawingml/2006/main" id="20" idx="1"/>
          </p:cNvCxnSpPr>
          <p:nvPr/>
        </p:nvCxnSpPr>
        <p:spPr>
          <a:xfrm xmlns:a="http://schemas.openxmlformats.org/drawingml/2006/main">
            <a:off x="927735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17554106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294">
            <a:extLst xmlns:a="http://schemas.openxmlformats.org/drawingml/2006/main">
              <a:ext uri="{FF2B5EF4-FFF2-40B4-BE49-F238E27FC236}">
                <a16:creationId xmlns:a16="http://schemas.microsoft.com/office/drawing/2014/main" id="{496AB192-D55A-4596-A043-6FF11513B0D8}"/>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AD581D"/>
                </a:solidFill>
                <a:latin typeface="Meiryo"/>
                <a:ea typeface="Meiryo"/>
                <a:cs typeface="Meiryo"/>
              </a:defRPr>
            </a:pPr>
            <a:r>
              <a:rPr sz="1425" b="1">
                <a:solidFill>
                  <a:srgbClr val="AD581D"/>
                </a:solidFill>
                <a:latin typeface="Meiryo"/>
                <a:ea typeface="Meiryo"/>
                <a:cs typeface="Meiryo"/>
              </a:rPr>
              <a:t>Bazaarレビュー</a:t>
            </a:r>
          </a:p>
        </p:txBody>
      </p:sp>
      <p:sp>
        <p:nvSpPr>
          <p:cNvPr id="2" name="text-295">
            <a:extLst xmlns:a="http://schemas.openxmlformats.org/drawingml/2006/main">
              <a:ext uri="{FF2B5EF4-FFF2-40B4-BE49-F238E27FC236}">
                <a16:creationId xmlns:a16="http://schemas.microsoft.com/office/drawing/2014/main" id="{8F20ED39-99A1-4B1F-836D-8B9DDFA1AEF0}"/>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結果を検証し、人が採否を決める</a:t>
            </a:r>
          </a:p>
        </p:txBody>
      </p:sp>
      <p:sp>
        <p:nvSpPr>
          <p:cNvPr id="3" name="text-296">
            <a:extLst xmlns:a="http://schemas.openxmlformats.org/drawingml/2006/main">
              <a:ext uri="{FF2B5EF4-FFF2-40B4-BE49-F238E27FC236}">
                <a16:creationId xmlns:a16="http://schemas.microsoft.com/office/drawing/2014/main" id="{AA876677-CFE2-4B25-97A3-D41FC9A756E5}"/>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AI出力を保存前に検証し、判断を別の記録に残す</a:t>
            </a:r>
          </a:p>
        </p:txBody>
      </p:sp>
      <p:sp>
        <p:nvSpPr>
          <p:cNvPr id="4" name="rule-297">
            <a:extLst xmlns:a="http://schemas.openxmlformats.org/drawingml/2006/main">
              <a:ext uri="{FF2B5EF4-FFF2-40B4-BE49-F238E27FC236}">
                <a16:creationId xmlns:a16="http://schemas.microsoft.com/office/drawing/2014/main" id="{E1C5043E-96E9-48EF-BB3C-23CFB97AFD33}"/>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298">
            <a:extLst xmlns:a="http://schemas.openxmlformats.org/drawingml/2006/main">
              <a:ext uri="{FF2B5EF4-FFF2-40B4-BE49-F238E27FC236}">
                <a16:creationId xmlns:a16="http://schemas.microsoft.com/office/drawing/2014/main" id="{82382445-E994-4D18-8B95-FC14836AABBA}"/>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D581D"/>
                </a:solidFill>
                <a:latin typeface="Meiryo"/>
                <a:ea typeface="Meiryo"/>
                <a:cs typeface="Meiryo"/>
              </a:defRPr>
            </a:pPr>
            <a:r>
              <a:rPr sz="1800" b="1">
                <a:solidFill>
                  <a:srgbClr val="AD581D"/>
                </a:solidFill>
                <a:latin typeface="Meiryo"/>
                <a:ea typeface="Meiryo"/>
                <a:cs typeface="Meiryo"/>
              </a:rPr>
              <a:t>AIの指摘は提案として受け取り、採否の正本は人が保存する</a:t>
            </a:r>
          </a:p>
        </p:txBody>
      </p:sp>
      <p:sp>
        <p:nvSpPr>
          <p:cNvPr id="6" name="text-299">
            <a:extLst xmlns:a="http://schemas.openxmlformats.org/drawingml/2006/main">
              <a:ext uri="{FF2B5EF4-FFF2-40B4-BE49-F238E27FC236}">
                <a16:creationId xmlns:a16="http://schemas.microsoft.com/office/drawing/2014/main" id="{4F79A8E2-F527-4B5D-A86C-B336F60BECC6}"/>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22</a:t>
            </a:r>
          </a:p>
        </p:txBody>
      </p:sp>
      <p:graphicFrame>
        <p:nvGraphicFramePr>
          <p:cNvPr id="14" name=""/>
          <p:cNvGraphicFramePr/>
          <p:nvPr/>
        </p:nvGraphicFramePr>
        <p:xfrm>
          <a:off xmlns:a="http://schemas.openxmlformats.org/drawingml/2006/main" x="685800" y="2057400"/>
          <a:ext xmlns:a="http://schemas.openxmlformats.org/drawingml/2006/main" cx="10820400" cy="3619500"/>
        </p:xfrm>
        <a:graphic xmlns:a="http://schemas.openxmlformats.org/drawingml/2006/main">
          <a:graphicData uri="http://schemas.openxmlformats.org/drawingml/2006/table">
            <a:tbl>
              <a:tblPr/>
              <a:tblGrid>
                <a:gridCol w="2762250"/>
                <a:gridCol w="4000500"/>
                <a:gridCol w="4057650"/>
              </a:tblGrid>
              <a:tr h="495300">
                <a:tc>
                  <a:txBody>
                    <a:bodyPr wrap="square" lIns="133350" tIns="76200" rIns="114300" bIns="76200">
                      <a:noAutofit/>
                    </a:bodyPr>
                    <a:lstStyle/>
                    <a:p>
                      <a:r>
                        <a:rPr sz="1800" b="1">
                          <a:solidFill>
                            <a:srgbClr val="FFFFFF"/>
                          </a:solidFill>
                          <a:latin typeface="Meiryo"/>
                          <a:ea typeface="Meiryo"/>
                          <a:cs typeface="Meiryo"/>
                        </a:rPr>
                        <a:t>人の判断</a:t>
                      </a:r>
                    </a:p>
                  </a:txBody>
                  <a:tcPr marL="91440" marR="91440" marT="45720" marB="45720" anchor="ctr">
                    <a:solidFill>
                      <a:srgbClr val="AD581D"/>
                    </a:solidFill>
                  </a:tcPr>
                </a:tc>
                <a:tc>
                  <a:txBody>
                    <a:bodyPr wrap="square" lIns="133350" tIns="76200" rIns="114300" bIns="76200">
                      <a:noAutofit/>
                    </a:bodyPr>
                    <a:lstStyle/>
                    <a:p>
                      <a:r>
                        <a:rPr sz="1800" b="1">
                          <a:solidFill>
                            <a:srgbClr val="FFFFFF"/>
                          </a:solidFill>
                          <a:latin typeface="Meiryo"/>
                          <a:ea typeface="Meiryo"/>
                          <a:cs typeface="Meiryo"/>
                        </a:rPr>
                        <a:t>必要な入力</a:t>
                      </a:r>
                    </a:p>
                  </a:txBody>
                  <a:tcPr marL="91440" marR="91440" marT="45720" marB="45720" anchor="ctr">
                    <a:solidFill>
                      <a:srgbClr val="AD581D"/>
                    </a:solidFill>
                  </a:tcPr>
                </a:tc>
                <a:tc>
                  <a:txBody>
                    <a:bodyPr wrap="square" lIns="133350" tIns="76200" rIns="114300" bIns="76200">
                      <a:noAutofit/>
                    </a:bodyPr>
                    <a:lstStyle/>
                    <a:p>
                      <a:r>
                        <a:rPr sz="1800" b="1">
                          <a:solidFill>
                            <a:srgbClr val="FFFFFF"/>
                          </a:solidFill>
                          <a:latin typeface="Meiryo"/>
                          <a:ea typeface="Meiryo"/>
                          <a:cs typeface="Meiryo"/>
                        </a:rPr>
                        <a:t>記録の意味</a:t>
                      </a:r>
                    </a:p>
                  </a:txBody>
                  <a:tcPr marL="91440" marR="91440" marT="45720" marB="45720" anchor="ctr">
                    <a:solidFill>
                      <a:srgbClr val="AD581D"/>
                    </a:solidFill>
                  </a:tcPr>
                </a:tc>
              </a:tr>
              <a:tr h="781050">
                <a:tc>
                  <a:txBody>
                    <a:bodyPr wrap="square" lIns="133350" tIns="76200" rIns="114300" bIns="76200">
                      <a:noAutofit/>
                    </a:bodyPr>
                    <a:lstStyle/>
                    <a:p>
                      <a:r>
                        <a:rPr sz="1800" b="0">
                          <a:solidFill>
                            <a:srgbClr val="172A3A"/>
                          </a:solidFill>
                          <a:latin typeface="Meiryo"/>
                          <a:ea typeface="Meiryo"/>
                          <a:cs typeface="Meiryo"/>
                        </a:rPr>
                        <a:t>採用</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担当者または対応</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対応すべき指摘として扱う</a:t>
                      </a:r>
                    </a:p>
                  </a:txBody>
                  <a:tcPr marL="91440" marR="91440" marT="45720" marB="45720" anchor="ctr">
                    <a:solidFill>
                      <a:srgbClr val="F5F8FA"/>
                    </a:solidFill>
                  </a:tcPr>
                </a:tc>
              </a:tr>
              <a:tr h="781050">
                <a:tc>
                  <a:txBody>
                    <a:bodyPr wrap="square" lIns="133350" tIns="76200" rIns="114300" bIns="76200">
                      <a:noAutofit/>
                    </a:bodyPr>
                    <a:lstStyle/>
                    <a:p>
                      <a:r>
                        <a:rPr sz="1800" b="0">
                          <a:solidFill>
                            <a:srgbClr val="172A3A"/>
                          </a:solidFill>
                          <a:latin typeface="Meiryo"/>
                          <a:ea typeface="Meiryo"/>
                          <a:cs typeface="Meiryo"/>
                        </a:rPr>
                        <a:t>却下</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理由</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採用しない理由を残す</a:t>
                      </a:r>
                    </a:p>
                  </a:txBody>
                  <a:tcPr marL="91440" marR="91440" marT="45720" marB="45720" anchor="ctr">
                    <a:solidFill>
                      <a:srgbClr val="FFFFFF"/>
                    </a:solidFill>
                  </a:tcPr>
                </a:tc>
              </a:tr>
              <a:tr h="781050">
                <a:tc>
                  <a:txBody>
                    <a:bodyPr wrap="square" lIns="133350" tIns="76200" rIns="114300" bIns="76200">
                      <a:noAutofit/>
                    </a:bodyPr>
                    <a:lstStyle/>
                    <a:p>
                      <a:r>
                        <a:rPr sz="1800" b="0">
                          <a:solidFill>
                            <a:srgbClr val="172A3A"/>
                          </a:solidFill>
                          <a:latin typeface="Meiryo"/>
                          <a:ea typeface="Meiryo"/>
                          <a:cs typeface="Meiryo"/>
                        </a:rPr>
                        <a:t>要調査</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担当者と対応</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追加確認の担当と作業を決める</a:t>
                      </a:r>
                    </a:p>
                  </a:txBody>
                  <a:tcPr marL="91440" marR="91440" marT="45720" marB="45720" anchor="ctr">
                    <a:solidFill>
                      <a:srgbClr val="F5F8FA"/>
                    </a:solidFill>
                  </a:tcPr>
                </a:tc>
              </a:tr>
              <a:tr h="781050">
                <a:tc>
                  <a:txBody>
                    <a:bodyPr wrap="square" lIns="133350" tIns="76200" rIns="114300" bIns="76200">
                      <a:noAutofit/>
                    </a:bodyPr>
                    <a:lstStyle/>
                    <a:p>
                      <a:r>
                        <a:rPr sz="1800" b="0">
                          <a:solidFill>
                            <a:srgbClr val="172A3A"/>
                          </a:solidFill>
                          <a:latin typeface="Meiryo"/>
                          <a:ea typeface="Meiryo"/>
                          <a:cs typeface="Meiryo"/>
                        </a:rPr>
                        <a:t>保留</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理由</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今すぐ判断・対応しない理由を残す</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01197240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300">
            <a:extLst xmlns:a="http://schemas.openxmlformats.org/drawingml/2006/main">
              <a:ext uri="{FF2B5EF4-FFF2-40B4-BE49-F238E27FC236}">
                <a16:creationId xmlns:a16="http://schemas.microsoft.com/office/drawing/2014/main" id="{7616AD29-B54B-4BBE-AE29-0FC21B2FD803}"/>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AD581D"/>
                </a:solidFill>
                <a:latin typeface="Meiryo"/>
                <a:ea typeface="Meiryo"/>
                <a:cs typeface="Meiryo"/>
              </a:defRPr>
            </a:pPr>
            <a:r>
              <a:rPr sz="1425" b="1">
                <a:solidFill>
                  <a:srgbClr val="AD581D"/>
                </a:solidFill>
                <a:latin typeface="Meiryo"/>
                <a:ea typeface="Meiryo"/>
                <a:cs typeface="Meiryo"/>
              </a:rPr>
              <a:t>Bazaarレビュー</a:t>
            </a:r>
          </a:p>
        </p:txBody>
      </p:sp>
      <p:sp>
        <p:nvSpPr>
          <p:cNvPr id="2" name="text-301">
            <a:extLst xmlns:a="http://schemas.openxmlformats.org/drawingml/2006/main">
              <a:ext uri="{FF2B5EF4-FFF2-40B4-BE49-F238E27FC236}">
                <a16:creationId xmlns:a16="http://schemas.microsoft.com/office/drawing/2014/main" id="{0A3646D1-0B5C-4B59-A751-A01F312184F7}"/>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Review Runとレビュー実績</a:t>
            </a:r>
          </a:p>
        </p:txBody>
      </p:sp>
      <p:sp>
        <p:nvSpPr>
          <p:cNvPr id="3" name="text-302">
            <a:extLst xmlns:a="http://schemas.openxmlformats.org/drawingml/2006/main">
              <a:ext uri="{FF2B5EF4-FFF2-40B4-BE49-F238E27FC236}">
                <a16:creationId xmlns:a16="http://schemas.microsoft.com/office/drawing/2014/main" id="{9AA10FF9-90C2-4C42-B33D-955ECFD8565E}"/>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途中再開の情報と、確定した成果物を分けて保存</a:t>
            </a:r>
          </a:p>
        </p:txBody>
      </p:sp>
      <p:sp>
        <p:nvSpPr>
          <p:cNvPr id="4" name="rule-303">
            <a:extLst xmlns:a="http://schemas.openxmlformats.org/drawingml/2006/main">
              <a:ext uri="{FF2B5EF4-FFF2-40B4-BE49-F238E27FC236}">
                <a16:creationId xmlns:a16="http://schemas.microsoft.com/office/drawing/2014/main" id="{C496D04C-CF58-4184-9420-FB594EB7C00C}"/>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304">
            <a:extLst xmlns:a="http://schemas.openxmlformats.org/drawingml/2006/main">
              <a:ext uri="{FF2B5EF4-FFF2-40B4-BE49-F238E27FC236}">
                <a16:creationId xmlns:a16="http://schemas.microsoft.com/office/drawing/2014/main" id="{C474222A-4E99-4AB3-9F6E-50F5D99EDD46}"/>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D581D"/>
                </a:solidFill>
                <a:latin typeface="Meiryo"/>
                <a:ea typeface="Meiryo"/>
                <a:cs typeface="Meiryo"/>
              </a:defRPr>
            </a:pPr>
            <a:r>
              <a:rPr sz="1800" b="1">
                <a:solidFill>
                  <a:srgbClr val="AD581D"/>
                </a:solidFill>
                <a:latin typeface="Meiryo"/>
                <a:ea typeface="Meiryo"/>
                <a:cs typeface="Meiryo"/>
              </a:rPr>
              <a:t>再開できる進捗と確定記録を残し、効果は推計値として比較する</a:t>
            </a:r>
          </a:p>
        </p:txBody>
      </p:sp>
      <p:sp>
        <p:nvSpPr>
          <p:cNvPr id="6" name="text-305">
            <a:extLst xmlns:a="http://schemas.openxmlformats.org/drawingml/2006/main">
              <a:ext uri="{FF2B5EF4-FFF2-40B4-BE49-F238E27FC236}">
                <a16:creationId xmlns:a16="http://schemas.microsoft.com/office/drawing/2014/main" id="{33D6D7A4-1812-43D7-A820-0B1FB0B51086}"/>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23</a:t>
            </a:r>
          </a:p>
        </p:txBody>
      </p:sp>
      <p:sp>
        <p:nvSpPr>
          <p:cNvPr id="7" name="node-306">
            <a:extLst xmlns:a="http://schemas.openxmlformats.org/drawingml/2006/main">
              <a:ext uri="{FF2B5EF4-FFF2-40B4-BE49-F238E27FC236}">
                <a16:creationId xmlns:a16="http://schemas.microsoft.com/office/drawing/2014/main" id="{F9C75762-091F-4A45-8D48-DC198DB07B10}"/>
              </a:ext>
            </a:extLst>
          </p:cNvPr>
          <p:cNvSpPr>
            <a:spLocks xmlns:a="http://schemas.openxmlformats.org/drawingml/2006/main" noGrp="1"/>
          </p:cNvSpPr>
          <p:nvPr/>
        </p:nvSpPr>
        <p:spPr>
          <a:xfrm xmlns:a="http://schemas.openxmlformats.org/drawingml/2006/main">
            <a:off x="685800" y="2190750"/>
            <a:ext cx="3238500" cy="952500"/>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進捗の記録</a:t>
            </a:r>
          </a:p>
        </p:txBody>
      </p:sp>
      <p:sp>
        <p:nvSpPr>
          <p:cNvPr id="8" name="text-307">
            <a:extLst xmlns:a="http://schemas.openxmlformats.org/drawingml/2006/main">
              <a:ext uri="{FF2B5EF4-FFF2-40B4-BE49-F238E27FC236}">
                <a16:creationId xmlns:a16="http://schemas.microsoft.com/office/drawing/2014/main" id="{41644D3F-E953-4B00-B1CF-4D1C692435CD}"/>
              </a:ext>
            </a:extLst>
          </p:cNvPr>
          <p:cNvSpPr>
            <a:spLocks xmlns:a="http://schemas.openxmlformats.org/drawingml/2006/main" noGrp="1"/>
          </p:cNvSpPr>
          <p:nvPr/>
        </p:nvSpPr>
        <p:spPr>
          <a:xfrm xmlns:a="http://schemas.openxmlformats.org/drawingml/2006/main">
            <a:off x="4314825" y="2238375"/>
            <a:ext cx="7191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review-run.json</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対象・レビューID・段階・成果物の位置</a:t>
            </a:r>
          </a:p>
        </p:txBody>
      </p:sp>
      <p:sp>
        <p:nvSpPr>
          <p:cNvPr id="9" name="node-308">
            <a:extLst xmlns:a="http://schemas.openxmlformats.org/drawingml/2006/main">
              <a:ext uri="{FF2B5EF4-FFF2-40B4-BE49-F238E27FC236}">
                <a16:creationId xmlns:a16="http://schemas.microsoft.com/office/drawing/2014/main" id="{BBF017A5-2BAB-4F85-89EF-8C6497D24976}"/>
              </a:ext>
            </a:extLst>
          </p:cNvPr>
          <p:cNvSpPr>
            <a:spLocks xmlns:a="http://schemas.openxmlformats.org/drawingml/2006/main" noGrp="1"/>
          </p:cNvSpPr>
          <p:nvPr/>
        </p:nvSpPr>
        <p:spPr>
          <a:xfrm xmlns:a="http://schemas.openxmlformats.org/drawingml/2006/main">
            <a:off x="685800" y="3295650"/>
            <a:ext cx="3238500" cy="952500"/>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判断と結果の記録</a:t>
            </a:r>
          </a:p>
        </p:txBody>
      </p:sp>
      <p:sp>
        <p:nvSpPr>
          <p:cNvPr id="10" name="text-309">
            <a:extLst xmlns:a="http://schemas.openxmlformats.org/drawingml/2006/main">
              <a:ext uri="{FF2B5EF4-FFF2-40B4-BE49-F238E27FC236}">
                <a16:creationId xmlns:a16="http://schemas.microsoft.com/office/drawing/2014/main" id="{B4FBA7BD-020B-4FCE-9E1B-2847655C6D7B}"/>
              </a:ext>
            </a:extLst>
          </p:cNvPr>
          <p:cNvSpPr>
            <a:spLocks xmlns:a="http://schemas.openxmlformats.org/drawingml/2006/main" noGrp="1"/>
          </p:cNvSpPr>
          <p:nvPr/>
        </p:nvSpPr>
        <p:spPr>
          <a:xfrm xmlns:a="http://schemas.openxmlformats.org/drawingml/2006/main">
            <a:off x="4314825" y="3343275"/>
            <a:ext cx="7191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結果JSON／triage.yaml／record.yaml</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AI出力、人の判断、確定した実績</a:t>
            </a:r>
          </a:p>
        </p:txBody>
      </p:sp>
      <p:cxnSp>
        <p:nvCxnSpPr>
          <p:cNvPr id="25" name=""/>
          <p:cNvCxnSpPr>
            <a:stCxn xmlns:a="http://schemas.openxmlformats.org/drawingml/2006/main" id="7" idx="2"/>
            <a:endCxn xmlns:a="http://schemas.openxmlformats.org/drawingml/2006/main" id="9" idx="0"/>
          </p:cNvCxnSpPr>
          <p:nvPr/>
        </p:nvCxnSpPr>
        <p:spPr>
          <a:xfrm xmlns:a="http://schemas.openxmlformats.org/drawingml/2006/main">
            <a:off x="2305050" y="3143250"/>
            <a:ext cx="0" cy="15240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
        <p:nvSpPr>
          <p:cNvPr id="12" name="node-310">
            <a:extLst xmlns:a="http://schemas.openxmlformats.org/drawingml/2006/main">
              <a:ext uri="{FF2B5EF4-FFF2-40B4-BE49-F238E27FC236}">
                <a16:creationId xmlns:a16="http://schemas.microsoft.com/office/drawing/2014/main" id="{34422436-8286-4E93-B94C-E4A8F8D18813}"/>
              </a:ext>
            </a:extLst>
          </p:cNvPr>
          <p:cNvSpPr>
            <a:spLocks xmlns:a="http://schemas.openxmlformats.org/drawingml/2006/main" noGrp="1"/>
          </p:cNvSpPr>
          <p:nvPr/>
        </p:nvSpPr>
        <p:spPr>
          <a:xfrm xmlns:a="http://schemas.openxmlformats.org/drawingml/2006/main">
            <a:off x="685800" y="4400550"/>
            <a:ext cx="3238500" cy="952500"/>
          </a:xfrm>
          <a:prstGeom xmlns:a="http://schemas.openxmlformats.org/drawingml/2006/main" prst="rect">
            <a:avLst/>
          </a:prstGeom>
          <a:solidFill xmlns:a="http://schemas.openxmlformats.org/drawingml/2006/main">
            <a:srgbClr val="FFFFFF"/>
          </a:solidFill>
          <a:ln xmlns:a="http://schemas.openxmlformats.org/drawingml/2006/main" w="16193">
            <a:solidFill>
              <a:srgbClr val="AD581D"/>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AD581D"/>
                </a:solidFill>
                <a:latin typeface="Meiryo"/>
                <a:ea typeface="Meiryo"/>
                <a:cs typeface="Meiryo"/>
              </a:defRPr>
            </a:pPr>
            <a:r>
              <a:rPr sz="1950" b="1">
                <a:solidFill>
                  <a:srgbClr val="AD581D"/>
                </a:solidFill>
                <a:latin typeface="Meiryo"/>
                <a:ea typeface="Meiryo"/>
                <a:cs typeface="Meiryo"/>
              </a:rPr>
              <a:t>キャンペーン集計</a:t>
            </a:r>
          </a:p>
        </p:txBody>
      </p:sp>
      <p:sp>
        <p:nvSpPr>
          <p:cNvPr id="13" name="text-311">
            <a:extLst xmlns:a="http://schemas.openxmlformats.org/drawingml/2006/main">
              <a:ext uri="{FF2B5EF4-FFF2-40B4-BE49-F238E27FC236}">
                <a16:creationId xmlns:a16="http://schemas.microsoft.com/office/drawing/2014/main" id="{7EFF2849-DFFF-4ED3-AF3A-635FF7C8815D}"/>
              </a:ext>
            </a:extLst>
          </p:cNvPr>
          <p:cNvSpPr>
            <a:spLocks xmlns:a="http://schemas.openxmlformats.org/drawingml/2006/main" noGrp="1"/>
          </p:cNvSpPr>
          <p:nvPr/>
        </p:nvSpPr>
        <p:spPr>
          <a:xfrm xmlns:a="http://schemas.openxmlformats.org/drawingml/2006/main">
            <a:off x="4314825" y="4448175"/>
            <a:ext cx="7191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採否・規約別傾向・所要時間を集計</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推計削減時間＝基準−Bob−人の判断</a:t>
            </a:r>
          </a:p>
        </p:txBody>
      </p:sp>
      <p:cxnSp>
        <p:nvCxnSpPr>
          <p:cNvPr id="28" name=""/>
          <p:cNvCxnSpPr>
            <a:stCxn xmlns:a="http://schemas.openxmlformats.org/drawingml/2006/main" id="9" idx="2"/>
            <a:endCxn xmlns:a="http://schemas.openxmlformats.org/drawingml/2006/main" id="12" idx="0"/>
          </p:cNvCxnSpPr>
          <p:nvPr/>
        </p:nvCxnSpPr>
        <p:spPr>
          <a:xfrm xmlns:a="http://schemas.openxmlformats.org/drawingml/2006/main">
            <a:off x="2305050" y="4248150"/>
            <a:ext cx="0" cy="15240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105685901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312">
            <a:extLst xmlns:a="http://schemas.openxmlformats.org/drawingml/2006/main">
              <a:ext uri="{FF2B5EF4-FFF2-40B4-BE49-F238E27FC236}">
                <a16:creationId xmlns:a16="http://schemas.microsoft.com/office/drawing/2014/main" id="{DAA31B6A-337C-481A-BF0E-B7E173B3C40D}"/>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AD581D"/>
                </a:solidFill>
                <a:latin typeface="Meiryo"/>
                <a:ea typeface="Meiryo"/>
                <a:cs typeface="Meiryo"/>
              </a:defRPr>
            </a:pPr>
            <a:r>
              <a:rPr sz="1425" b="1">
                <a:solidFill>
                  <a:srgbClr val="AD581D"/>
                </a:solidFill>
                <a:latin typeface="Meiryo"/>
                <a:ea typeface="Meiryo"/>
                <a:cs typeface="Meiryo"/>
              </a:rPr>
              <a:t>Bazaarレビュー</a:t>
            </a:r>
          </a:p>
        </p:txBody>
      </p:sp>
      <p:sp>
        <p:nvSpPr>
          <p:cNvPr id="2" name="text-313">
            <a:extLst xmlns:a="http://schemas.openxmlformats.org/drawingml/2006/main">
              <a:ext uri="{FF2B5EF4-FFF2-40B4-BE49-F238E27FC236}">
                <a16:creationId xmlns:a16="http://schemas.microsoft.com/office/drawing/2014/main" id="{53B31195-33A0-475F-BDA5-DCAF0EFD026C}"/>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MCP連携と利用条件</a:t>
            </a:r>
          </a:p>
        </p:txBody>
      </p:sp>
      <p:sp>
        <p:nvSpPr>
          <p:cNvPr id="3" name="text-314">
            <a:extLst xmlns:a="http://schemas.openxmlformats.org/drawingml/2006/main">
              <a:ext uri="{FF2B5EF4-FFF2-40B4-BE49-F238E27FC236}">
                <a16:creationId xmlns:a16="http://schemas.microsoft.com/office/drawing/2014/main" id="{3361FF01-1830-4F73-B452-74EBC9BA48A6}"/>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読み取りを基本に、必要な外部機能と許可範囲を設定</a:t>
            </a:r>
          </a:p>
        </p:txBody>
      </p:sp>
      <p:sp>
        <p:nvSpPr>
          <p:cNvPr id="4" name="rule-315">
            <a:extLst xmlns:a="http://schemas.openxmlformats.org/drawingml/2006/main">
              <a:ext uri="{FF2B5EF4-FFF2-40B4-BE49-F238E27FC236}">
                <a16:creationId xmlns:a16="http://schemas.microsoft.com/office/drawing/2014/main" id="{4DDA91BF-1423-49ED-BB38-8191F4EACDB7}"/>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316">
            <a:extLst xmlns:a="http://schemas.openxmlformats.org/drawingml/2006/main">
              <a:ext uri="{FF2B5EF4-FFF2-40B4-BE49-F238E27FC236}">
                <a16:creationId xmlns:a16="http://schemas.microsoft.com/office/drawing/2014/main" id="{E2750C49-09C9-4E0C-B69D-79EA67A6274F}"/>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AD581D"/>
                </a:solidFill>
                <a:latin typeface="Meiryo"/>
                <a:ea typeface="Meiryo"/>
                <a:cs typeface="Meiryo"/>
              </a:defRPr>
            </a:pPr>
            <a:r>
              <a:rPr sz="1800" b="1">
                <a:solidFill>
                  <a:srgbClr val="AD581D"/>
                </a:solidFill>
                <a:latin typeface="Meiryo"/>
                <a:ea typeface="Meiryo"/>
                <a:cs typeface="Meiryo"/>
              </a:rPr>
              <a:t>MCPは既定で読み取り専用。Bazaarへのcommitなどは公開しない</a:t>
            </a:r>
          </a:p>
        </p:txBody>
      </p:sp>
      <p:sp>
        <p:nvSpPr>
          <p:cNvPr id="6" name="text-317">
            <a:extLst xmlns:a="http://schemas.openxmlformats.org/drawingml/2006/main">
              <a:ext uri="{FF2B5EF4-FFF2-40B4-BE49-F238E27FC236}">
                <a16:creationId xmlns:a16="http://schemas.microsoft.com/office/drawing/2014/main" id="{A557C566-2920-4E4E-B80E-9E17D4393486}"/>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24</a:t>
            </a:r>
          </a:p>
        </p:txBody>
      </p:sp>
      <p:graphicFrame>
        <p:nvGraphicFramePr>
          <p:cNvPr id="14" name=""/>
          <p:cNvGraphicFramePr/>
          <p:nvPr/>
        </p:nvGraphicFramePr>
        <p:xfrm>
          <a:off xmlns:a="http://schemas.openxmlformats.org/drawingml/2006/main" x="685800" y="2057400"/>
          <a:ext xmlns:a="http://schemas.openxmlformats.org/drawingml/2006/main" cx="10820400" cy="3619500"/>
        </p:xfrm>
        <a:graphic xmlns:a="http://schemas.openxmlformats.org/drawingml/2006/main">
          <a:graphicData uri="http://schemas.openxmlformats.org/drawingml/2006/table">
            <a:tbl>
              <a:tblPr/>
              <a:tblGrid>
                <a:gridCol w="2762250"/>
                <a:gridCol w="4000500"/>
                <a:gridCol w="4057650"/>
              </a:tblGrid>
              <a:tr h="495300">
                <a:tc>
                  <a:txBody>
                    <a:bodyPr wrap="square" lIns="133350" tIns="76200" rIns="114300" bIns="76200">
                      <a:noAutofit/>
                    </a:bodyPr>
                    <a:lstStyle/>
                    <a:p>
                      <a:r>
                        <a:rPr sz="1800" b="1">
                          <a:solidFill>
                            <a:srgbClr val="FFFFFF"/>
                          </a:solidFill>
                          <a:latin typeface="Meiryo"/>
                          <a:ea typeface="Meiryo"/>
                          <a:cs typeface="Meiryo"/>
                        </a:rPr>
                        <a:t>機能</a:t>
                      </a:r>
                    </a:p>
                  </a:txBody>
                  <a:tcPr marL="91440" marR="91440" marT="45720" marB="45720" anchor="ctr">
                    <a:solidFill>
                      <a:srgbClr val="AD581D"/>
                    </a:solidFill>
                  </a:tcPr>
                </a:tc>
                <a:tc>
                  <a:txBody>
                    <a:bodyPr wrap="square" lIns="133350" tIns="76200" rIns="114300" bIns="76200">
                      <a:noAutofit/>
                    </a:bodyPr>
                    <a:lstStyle/>
                    <a:p>
                      <a:r>
                        <a:rPr sz="1800" b="1">
                          <a:solidFill>
                            <a:srgbClr val="FFFFFF"/>
                          </a:solidFill>
                          <a:latin typeface="Meiryo"/>
                          <a:ea typeface="Meiryo"/>
                          <a:cs typeface="Meiryo"/>
                        </a:rPr>
                        <a:t>利用条件</a:t>
                      </a:r>
                    </a:p>
                  </a:txBody>
                  <a:tcPr marL="91440" marR="91440" marT="45720" marB="45720" anchor="ctr">
                    <a:solidFill>
                      <a:srgbClr val="AD581D"/>
                    </a:solidFill>
                  </a:tcPr>
                </a:tc>
                <a:tc>
                  <a:txBody>
                    <a:bodyPr wrap="square" lIns="133350" tIns="76200" rIns="114300" bIns="76200">
                      <a:noAutofit/>
                    </a:bodyPr>
                    <a:lstStyle/>
                    <a:p>
                      <a:r>
                        <a:rPr sz="1800" b="1">
                          <a:solidFill>
                            <a:srgbClr val="FFFFFF"/>
                          </a:solidFill>
                          <a:latin typeface="Meiryo"/>
                          <a:ea typeface="Meiryo"/>
                          <a:cs typeface="Meiryo"/>
                        </a:rPr>
                        <a:t>処理の範囲</a:t>
                      </a:r>
                    </a:p>
                  </a:txBody>
                  <a:tcPr marL="91440" marR="91440" marT="45720" marB="45720" anchor="ctr">
                    <a:solidFill>
                      <a:srgbClr val="AD581D"/>
                    </a:solidFill>
                  </a:tcPr>
                </a:tc>
              </a:tr>
              <a:tr h="624840">
                <a:tc>
                  <a:txBody>
                    <a:bodyPr wrap="square" lIns="133350" tIns="76200" rIns="114300" bIns="76200">
                      <a:noAutofit/>
                    </a:bodyPr>
                    <a:lstStyle/>
                    <a:p>
                      <a:r>
                        <a:rPr sz="1800" b="0">
                          <a:solidFill>
                            <a:srgbClr val="172A3A"/>
                          </a:solidFill>
                          <a:latin typeface="Meiryo"/>
                          <a:ea typeface="Meiryo"/>
                          <a:cs typeface="Meiryo"/>
                        </a:rPr>
                        <a:t>Bazaar取得</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Bazaar CLIが必要</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差分・履歴・状態・ファイル参照</a:t>
                      </a:r>
                    </a:p>
                  </a:txBody>
                  <a:tcPr marL="91440" marR="91440" marT="45720" marB="45720" anchor="ctr">
                    <a:solidFill>
                      <a:srgbClr val="F5F8FA"/>
                    </a:solidFill>
                  </a:tcPr>
                </a:tc>
              </a:tr>
              <a:tr h="624840">
                <a:tc>
                  <a:txBody>
                    <a:bodyPr wrap="square" lIns="133350" tIns="76200" rIns="114300" bIns="76200">
                      <a:noAutofit/>
                    </a:bodyPr>
                    <a:lstStyle/>
                    <a:p>
                      <a:r>
                        <a:rPr sz="1800" b="0">
                          <a:solidFill>
                            <a:srgbClr val="172A3A"/>
                          </a:solidFill>
                          <a:latin typeface="Meiryo"/>
                          <a:ea typeface="Meiryo"/>
                          <a:cs typeface="Meiryo"/>
                        </a:rPr>
                        <a:t>Bob連携</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Bob拡張と利用するモデル設定</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資料をcontextへ渡しレビュー</a:t>
                      </a:r>
                    </a:p>
                  </a:txBody>
                  <a:tcPr marL="91440" marR="91440" marT="45720" marB="45720" anchor="ctr">
                    <a:solidFill>
                      <a:srgbClr val="FFFFFF"/>
                    </a:solidFill>
                  </a:tcPr>
                </a:tc>
              </a:tr>
              <a:tr h="624840">
                <a:tc>
                  <a:txBody>
                    <a:bodyPr wrap="square" lIns="133350" tIns="76200" rIns="114300" bIns="76200">
                      <a:noAutofit/>
                    </a:bodyPr>
                    <a:lstStyle/>
                    <a:p>
                      <a:r>
                        <a:rPr sz="1800" b="0">
                          <a:solidFill>
                            <a:srgbClr val="172A3A"/>
                          </a:solidFill>
                          <a:latin typeface="Meiryo"/>
                          <a:ea typeface="Meiryo"/>
                          <a:cs typeface="Meiryo"/>
                        </a:rPr>
                        <a:t>規約作成</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対応資料とワークフロー連携</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PDFはpdftotextが必要</a:t>
                      </a:r>
                    </a:p>
                  </a:txBody>
                  <a:tcPr marL="91440" marR="91440" marT="45720" marB="45720" anchor="ctr">
                    <a:solidFill>
                      <a:srgbClr val="F5F8FA"/>
                    </a:solidFill>
                  </a:tcPr>
                </a:tc>
              </a:tr>
              <a:tr h="624840">
                <a:tc>
                  <a:txBody>
                    <a:bodyPr wrap="square" lIns="133350" tIns="76200" rIns="114300" bIns="76200">
                      <a:noAutofit/>
                    </a:bodyPr>
                    <a:lstStyle/>
                    <a:p>
                      <a:r>
                        <a:rPr sz="1800" b="0">
                          <a:solidFill>
                            <a:srgbClr val="172A3A"/>
                          </a:solidFill>
                          <a:latin typeface="Meiryo"/>
                          <a:ea typeface="Meiryo"/>
                          <a:cs typeface="Meiryo"/>
                        </a:rPr>
                        <a:t>MCP参照</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許可rootの設定が必要</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Bazaar・規約・保存済み結果</a:t>
                      </a:r>
                    </a:p>
                  </a:txBody>
                  <a:tcPr marL="91440" marR="91440" marT="45720" marB="45720" anchor="ctr">
                    <a:solidFill>
                      <a:srgbClr val="FFFFFF"/>
                    </a:solidFill>
                  </a:tcPr>
                </a:tc>
              </a:tr>
              <a:tr h="624840">
                <a:tc>
                  <a:txBody>
                    <a:bodyPr wrap="square" lIns="133350" tIns="76200" rIns="114300" bIns="76200">
                      <a:noAutofit/>
                    </a:bodyPr>
                    <a:lstStyle/>
                    <a:p>
                      <a:r>
                        <a:rPr sz="1800" b="0">
                          <a:solidFill>
                            <a:srgbClr val="172A3A"/>
                          </a:solidFill>
                          <a:latin typeface="Meiryo"/>
                          <a:ea typeface="Meiryo"/>
                          <a:cs typeface="Meiryo"/>
                        </a:rPr>
                        <a:t>MCP初期化</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書き込みの明示有効化が必要</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project_rules_initのみ</a:t>
                      </a:r>
                    </a:p>
                  </a:txBody>
                  <a:tcPr marL="91440" marR="91440" marT="45720" marB="45720" anchor="ctr">
                    <a:solidFill>
                      <a:srgbClr val="F5F8FA"/>
                    </a:solidFill>
                  </a:tcPr>
                </a:tc>
              </a:tr>
            </a:tbl>
          </a:graphicData>
        </a:graphic>
      </p:graphicFrame>
    </p:spTree>
    <p:extLst>
      <p:ext uri="{BB962C8B-B14F-4D97-AF65-F5344CB8AC3E}">
        <p14:creationId xmlns:p14="http://schemas.microsoft.com/office/powerpoint/2010/main" val="133974631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318">
            <a:extLst xmlns:a="http://schemas.openxmlformats.org/drawingml/2006/main">
              <a:ext uri="{FF2B5EF4-FFF2-40B4-BE49-F238E27FC236}">
                <a16:creationId xmlns:a16="http://schemas.microsoft.com/office/drawing/2014/main" id="{5B505544-62DB-43BB-B1BA-132E936CBD28}"/>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67A6B"/>
                </a:solidFill>
                <a:latin typeface="Meiryo"/>
                <a:ea typeface="Meiryo"/>
                <a:cs typeface="Meiryo"/>
              </a:defRPr>
            </a:pPr>
            <a:r>
              <a:rPr sz="1425" b="1">
                <a:solidFill>
                  <a:srgbClr val="167A6B"/>
                </a:solidFill>
                <a:latin typeface="Meiryo"/>
                <a:ea typeface="Meiryo"/>
                <a:cs typeface="Meiryo"/>
              </a:rPr>
              <a:t>コード・文書整合</a:t>
            </a:r>
          </a:p>
        </p:txBody>
      </p:sp>
      <p:sp>
        <p:nvSpPr>
          <p:cNvPr id="2" name="text-319">
            <a:extLst xmlns:a="http://schemas.openxmlformats.org/drawingml/2006/main">
              <a:ext uri="{FF2B5EF4-FFF2-40B4-BE49-F238E27FC236}">
                <a16:creationId xmlns:a16="http://schemas.microsoft.com/office/drawing/2014/main" id="{2A337C1B-0F17-46C5-A104-3098840B1D94}"/>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整合プレレビューの流れ</a:t>
            </a:r>
          </a:p>
        </p:txBody>
      </p:sp>
      <p:sp>
        <p:nvSpPr>
          <p:cNvPr id="3" name="text-320">
            <a:extLst xmlns:a="http://schemas.openxmlformats.org/drawingml/2006/main">
              <a:ext uri="{FF2B5EF4-FFF2-40B4-BE49-F238E27FC236}">
                <a16:creationId xmlns:a16="http://schemas.microsoft.com/office/drawing/2014/main" id="{AF0E95CE-C756-4793-9E56-F27F5D1B8439}"/>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要求・設計・テストとコード変更のずれを探す</a:t>
            </a:r>
          </a:p>
        </p:txBody>
      </p:sp>
      <p:sp>
        <p:nvSpPr>
          <p:cNvPr id="4" name="rule-321">
            <a:extLst xmlns:a="http://schemas.openxmlformats.org/drawingml/2006/main">
              <a:ext uri="{FF2B5EF4-FFF2-40B4-BE49-F238E27FC236}">
                <a16:creationId xmlns:a16="http://schemas.microsoft.com/office/drawing/2014/main" id="{7954ED50-4F51-48D2-9E03-D2934D039E05}"/>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322">
            <a:extLst xmlns:a="http://schemas.openxmlformats.org/drawingml/2006/main">
              <a:ext uri="{FF2B5EF4-FFF2-40B4-BE49-F238E27FC236}">
                <a16:creationId xmlns:a16="http://schemas.microsoft.com/office/drawing/2014/main" id="{532EA30D-F7C9-4A69-B58D-AC116C4F9BBC}"/>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A6B"/>
                </a:solidFill>
                <a:latin typeface="Meiryo"/>
                <a:ea typeface="Meiryo"/>
                <a:cs typeface="Meiryo"/>
              </a:defRPr>
            </a:pPr>
            <a:r>
              <a:rPr sz="1800" b="1">
                <a:solidFill>
                  <a:srgbClr val="167A6B"/>
                </a:solidFill>
                <a:latin typeface="Meiryo"/>
                <a:ea typeface="Meiryo"/>
                <a:cs typeface="Meiryo"/>
              </a:rPr>
              <a:t>根拠の準備から指摘の振り分けまで、同じ画面で進める</a:t>
            </a:r>
          </a:p>
        </p:txBody>
      </p:sp>
      <p:sp>
        <p:nvSpPr>
          <p:cNvPr id="6" name="text-323">
            <a:extLst xmlns:a="http://schemas.openxmlformats.org/drawingml/2006/main">
              <a:ext uri="{FF2B5EF4-FFF2-40B4-BE49-F238E27FC236}">
                <a16:creationId xmlns:a16="http://schemas.microsoft.com/office/drawing/2014/main" id="{3C6AABC2-C409-439B-B120-3630658BDE5C}"/>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25</a:t>
            </a:r>
          </a:p>
        </p:txBody>
      </p:sp>
      <p:sp>
        <p:nvSpPr>
          <p:cNvPr id="7" name="text-324">
            <a:extLst xmlns:a="http://schemas.openxmlformats.org/drawingml/2006/main">
              <a:ext uri="{FF2B5EF4-FFF2-40B4-BE49-F238E27FC236}">
                <a16:creationId xmlns:a16="http://schemas.microsoft.com/office/drawing/2014/main" id="{4C230032-397E-4D81-A66A-7E37D27B6C5B}"/>
              </a:ext>
            </a:extLst>
          </p:cNvPr>
          <p:cNvSpPr>
            <a:spLocks xmlns:a="http://schemas.openxmlformats.org/drawingml/2006/main" noGrp="1"/>
          </p:cNvSpPr>
          <p:nvPr/>
        </p:nvSpPr>
        <p:spPr>
          <a:xfrm xmlns:a="http://schemas.openxmlformats.org/drawingml/2006/main">
            <a:off x="6858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67A6B"/>
                </a:solidFill>
                <a:latin typeface="Meiryo"/>
                <a:ea typeface="Meiryo"/>
                <a:cs typeface="Meiryo"/>
              </a:defRPr>
            </a:pPr>
            <a:r>
              <a:rPr sz="1650" b="1">
                <a:solidFill>
                  <a:srgbClr val="167A6B"/>
                </a:solidFill>
                <a:latin typeface="Meiryo"/>
                <a:ea typeface="Meiryo"/>
                <a:cs typeface="Meiryo"/>
              </a:rPr>
              <a:t>01</a:t>
            </a:r>
          </a:p>
        </p:txBody>
      </p:sp>
      <p:sp>
        <p:nvSpPr>
          <p:cNvPr id="8" name="node-325">
            <a:extLst xmlns:a="http://schemas.openxmlformats.org/drawingml/2006/main">
              <a:ext uri="{FF2B5EF4-FFF2-40B4-BE49-F238E27FC236}">
                <a16:creationId xmlns:a16="http://schemas.microsoft.com/office/drawing/2014/main" id="{EAC3170C-6EEA-42F1-ACA4-DF10485C5566}"/>
              </a:ext>
            </a:extLst>
          </p:cNvPr>
          <p:cNvSpPr>
            <a:spLocks xmlns:a="http://schemas.openxmlformats.org/drawingml/2006/main" noGrp="1"/>
          </p:cNvSpPr>
          <p:nvPr/>
        </p:nvSpPr>
        <p:spPr>
          <a:xfrm xmlns:a="http://schemas.openxmlformats.org/drawingml/2006/main">
            <a:off x="6858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対象を決定</a:t>
            </a:r>
          </a:p>
        </p:txBody>
      </p:sp>
      <p:sp>
        <p:nvSpPr>
          <p:cNvPr id="9" name="text-326">
            <a:extLst xmlns:a="http://schemas.openxmlformats.org/drawingml/2006/main">
              <a:ext uri="{FF2B5EF4-FFF2-40B4-BE49-F238E27FC236}">
                <a16:creationId xmlns:a16="http://schemas.microsoft.com/office/drawing/2014/main" id="{51BC6EB1-5AC0-4872-882E-BFE15298C885}"/>
              </a:ext>
            </a:extLst>
          </p:cNvPr>
          <p:cNvSpPr>
            <a:spLocks xmlns:a="http://schemas.openxmlformats.org/drawingml/2006/main" noGrp="1"/>
          </p:cNvSpPr>
          <p:nvPr/>
        </p:nvSpPr>
        <p:spPr>
          <a:xfrm xmlns:a="http://schemas.openxmlformats.org/drawingml/2006/main">
            <a:off x="6858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比較する版</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文書・確認観点</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を選択</a:t>
            </a:r>
          </a:p>
        </p:txBody>
      </p:sp>
      <p:sp>
        <p:nvSpPr>
          <p:cNvPr id="10" name="text-327">
            <a:extLst xmlns:a="http://schemas.openxmlformats.org/drawingml/2006/main">
              <a:ext uri="{FF2B5EF4-FFF2-40B4-BE49-F238E27FC236}">
                <a16:creationId xmlns:a16="http://schemas.microsoft.com/office/drawing/2014/main" id="{3247DB6D-A442-4949-9001-24F07D0FD04B}"/>
              </a:ext>
            </a:extLst>
          </p:cNvPr>
          <p:cNvSpPr>
            <a:spLocks xmlns:a="http://schemas.openxmlformats.org/drawingml/2006/main" noGrp="1"/>
          </p:cNvSpPr>
          <p:nvPr/>
        </p:nvSpPr>
        <p:spPr>
          <a:xfrm xmlns:a="http://schemas.openxmlformats.org/drawingml/2006/main">
            <a:off x="291465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67A6B"/>
                </a:solidFill>
                <a:latin typeface="Meiryo"/>
                <a:ea typeface="Meiryo"/>
                <a:cs typeface="Meiryo"/>
              </a:defRPr>
            </a:pPr>
            <a:r>
              <a:rPr sz="1650" b="1">
                <a:solidFill>
                  <a:srgbClr val="167A6B"/>
                </a:solidFill>
                <a:latin typeface="Meiryo"/>
                <a:ea typeface="Meiryo"/>
                <a:cs typeface="Meiryo"/>
              </a:rPr>
              <a:t>02</a:t>
            </a:r>
          </a:p>
        </p:txBody>
      </p:sp>
      <p:sp>
        <p:nvSpPr>
          <p:cNvPr id="11" name="node-328">
            <a:extLst xmlns:a="http://schemas.openxmlformats.org/drawingml/2006/main">
              <a:ext uri="{FF2B5EF4-FFF2-40B4-BE49-F238E27FC236}">
                <a16:creationId xmlns:a16="http://schemas.microsoft.com/office/drawing/2014/main" id="{921B58E5-78C7-4366-974D-B927C1687329}"/>
              </a:ext>
            </a:extLst>
          </p:cNvPr>
          <p:cNvSpPr>
            <a:spLocks xmlns:a="http://schemas.openxmlformats.org/drawingml/2006/main" noGrp="1"/>
          </p:cNvSpPr>
          <p:nvPr/>
        </p:nvSpPr>
        <p:spPr>
          <a:xfrm xmlns:a="http://schemas.openxmlformats.org/drawingml/2006/main">
            <a:off x="291465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対応を整理</a:t>
            </a:r>
          </a:p>
        </p:txBody>
      </p:sp>
      <p:sp>
        <p:nvSpPr>
          <p:cNvPr id="12" name="text-329">
            <a:extLst xmlns:a="http://schemas.openxmlformats.org/drawingml/2006/main">
              <a:ext uri="{FF2B5EF4-FFF2-40B4-BE49-F238E27FC236}">
                <a16:creationId xmlns:a16="http://schemas.microsoft.com/office/drawing/2014/main" id="{93976A55-A150-40E2-B3AB-EA9C076044AA}"/>
              </a:ext>
            </a:extLst>
          </p:cNvPr>
          <p:cNvSpPr>
            <a:spLocks xmlns:a="http://schemas.openxmlformats.org/drawingml/2006/main" noGrp="1"/>
          </p:cNvSpPr>
          <p:nvPr/>
        </p:nvSpPr>
        <p:spPr>
          <a:xfrm xmlns:a="http://schemas.openxmlformats.org/drawingml/2006/main">
            <a:off x="291465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文書間の</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関連候補を</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人間が確認</a:t>
            </a:r>
          </a:p>
        </p:txBody>
      </p:sp>
      <p:sp>
        <p:nvSpPr>
          <p:cNvPr id="13" name="text-330">
            <a:extLst xmlns:a="http://schemas.openxmlformats.org/drawingml/2006/main">
              <a:ext uri="{FF2B5EF4-FFF2-40B4-BE49-F238E27FC236}">
                <a16:creationId xmlns:a16="http://schemas.microsoft.com/office/drawing/2014/main" id="{742207E2-31CC-439C-AAF3-5ADAC017D780}"/>
              </a:ext>
            </a:extLst>
          </p:cNvPr>
          <p:cNvSpPr>
            <a:spLocks xmlns:a="http://schemas.openxmlformats.org/drawingml/2006/main" noGrp="1"/>
          </p:cNvSpPr>
          <p:nvPr/>
        </p:nvSpPr>
        <p:spPr>
          <a:xfrm xmlns:a="http://schemas.openxmlformats.org/drawingml/2006/main">
            <a:off x="51435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67A6B"/>
                </a:solidFill>
                <a:latin typeface="Meiryo"/>
                <a:ea typeface="Meiryo"/>
                <a:cs typeface="Meiryo"/>
              </a:defRPr>
            </a:pPr>
            <a:r>
              <a:rPr sz="1650" b="1">
                <a:solidFill>
                  <a:srgbClr val="167A6B"/>
                </a:solidFill>
                <a:latin typeface="Meiryo"/>
                <a:ea typeface="Meiryo"/>
                <a:cs typeface="Meiryo"/>
              </a:rPr>
              <a:t>03</a:t>
            </a:r>
          </a:p>
        </p:txBody>
      </p:sp>
      <p:sp>
        <p:nvSpPr>
          <p:cNvPr id="14" name="node-331">
            <a:extLst xmlns:a="http://schemas.openxmlformats.org/drawingml/2006/main">
              <a:ext uri="{FF2B5EF4-FFF2-40B4-BE49-F238E27FC236}">
                <a16:creationId xmlns:a16="http://schemas.microsoft.com/office/drawing/2014/main" id="{4CCB9CB9-8E29-4BD2-8D7A-41D4626315C7}"/>
              </a:ext>
            </a:extLst>
          </p:cNvPr>
          <p:cNvSpPr>
            <a:spLocks xmlns:a="http://schemas.openxmlformats.org/drawingml/2006/main" noGrp="1"/>
          </p:cNvSpPr>
          <p:nvPr/>
        </p:nvSpPr>
        <p:spPr>
          <a:xfrm xmlns:a="http://schemas.openxmlformats.org/drawingml/2006/main">
            <a:off x="51435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資料を生成</a:t>
            </a:r>
          </a:p>
        </p:txBody>
      </p:sp>
      <p:sp>
        <p:nvSpPr>
          <p:cNvPr id="15" name="text-332">
            <a:extLst xmlns:a="http://schemas.openxmlformats.org/drawingml/2006/main">
              <a:ext uri="{FF2B5EF4-FFF2-40B4-BE49-F238E27FC236}">
                <a16:creationId xmlns:a16="http://schemas.microsoft.com/office/drawing/2014/main" id="{4F1B0E0C-12DD-4243-8261-537E356BEED7}"/>
              </a:ext>
            </a:extLst>
          </p:cNvPr>
          <p:cNvSpPr>
            <a:spLocks xmlns:a="http://schemas.openxmlformats.org/drawingml/2006/main" noGrp="1"/>
          </p:cNvSpPr>
          <p:nvPr/>
        </p:nvSpPr>
        <p:spPr>
          <a:xfrm xmlns:a="http://schemas.openxmlformats.org/drawingml/2006/main">
            <a:off x="51435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差分と文書を</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レビュー用の</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根拠へ変換</a:t>
            </a:r>
          </a:p>
        </p:txBody>
      </p:sp>
      <p:sp>
        <p:nvSpPr>
          <p:cNvPr id="16" name="text-333">
            <a:extLst xmlns:a="http://schemas.openxmlformats.org/drawingml/2006/main">
              <a:ext uri="{FF2B5EF4-FFF2-40B4-BE49-F238E27FC236}">
                <a16:creationId xmlns:a16="http://schemas.microsoft.com/office/drawing/2014/main" id="{B1AA274B-43F1-4C2F-9711-A3B6A50892D3}"/>
              </a:ext>
            </a:extLst>
          </p:cNvPr>
          <p:cNvSpPr>
            <a:spLocks xmlns:a="http://schemas.openxmlformats.org/drawingml/2006/main" noGrp="1"/>
          </p:cNvSpPr>
          <p:nvPr/>
        </p:nvSpPr>
        <p:spPr>
          <a:xfrm xmlns:a="http://schemas.openxmlformats.org/drawingml/2006/main">
            <a:off x="737235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67A6B"/>
                </a:solidFill>
                <a:latin typeface="Meiryo"/>
                <a:ea typeface="Meiryo"/>
                <a:cs typeface="Meiryo"/>
              </a:defRPr>
            </a:pPr>
            <a:r>
              <a:rPr sz="1650" b="1">
                <a:solidFill>
                  <a:srgbClr val="167A6B"/>
                </a:solidFill>
                <a:latin typeface="Meiryo"/>
                <a:ea typeface="Meiryo"/>
                <a:cs typeface="Meiryo"/>
              </a:rPr>
              <a:t>04</a:t>
            </a:r>
          </a:p>
        </p:txBody>
      </p:sp>
      <p:sp>
        <p:nvSpPr>
          <p:cNvPr id="17" name="node-334">
            <a:extLst xmlns:a="http://schemas.openxmlformats.org/drawingml/2006/main">
              <a:ext uri="{FF2B5EF4-FFF2-40B4-BE49-F238E27FC236}">
                <a16:creationId xmlns:a16="http://schemas.microsoft.com/office/drawing/2014/main" id="{DFB4BFAB-9047-4B7C-AE9E-27C6E5FF9A83}"/>
              </a:ext>
            </a:extLst>
          </p:cNvPr>
          <p:cNvSpPr>
            <a:spLocks xmlns:a="http://schemas.openxmlformats.org/drawingml/2006/main" noGrp="1"/>
          </p:cNvSpPr>
          <p:nvPr/>
        </p:nvSpPr>
        <p:spPr>
          <a:xfrm xmlns:a="http://schemas.openxmlformats.org/drawingml/2006/main">
            <a:off x="737235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Bobで確認</a:t>
            </a:r>
          </a:p>
        </p:txBody>
      </p:sp>
      <p:sp>
        <p:nvSpPr>
          <p:cNvPr id="18" name="text-335">
            <a:extLst xmlns:a="http://schemas.openxmlformats.org/drawingml/2006/main">
              <a:ext uri="{FF2B5EF4-FFF2-40B4-BE49-F238E27FC236}">
                <a16:creationId xmlns:a16="http://schemas.microsoft.com/office/drawing/2014/main" id="{0074092C-877D-48AD-9731-3DA1FFFFC25B}"/>
              </a:ext>
            </a:extLst>
          </p:cNvPr>
          <p:cNvSpPr>
            <a:spLocks xmlns:a="http://schemas.openxmlformats.org/drawingml/2006/main" noGrp="1"/>
          </p:cNvSpPr>
          <p:nvPr/>
        </p:nvSpPr>
        <p:spPr>
          <a:xfrm xmlns:a="http://schemas.openxmlformats.org/drawingml/2006/main">
            <a:off x="737235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整合性の</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指摘候補と</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質問を取得</a:t>
            </a:r>
          </a:p>
        </p:txBody>
      </p:sp>
      <p:sp>
        <p:nvSpPr>
          <p:cNvPr id="19" name="text-336">
            <a:extLst xmlns:a="http://schemas.openxmlformats.org/drawingml/2006/main">
              <a:ext uri="{FF2B5EF4-FFF2-40B4-BE49-F238E27FC236}">
                <a16:creationId xmlns:a16="http://schemas.microsoft.com/office/drawing/2014/main" id="{D209A439-7947-48C0-BE5D-4699C6A99A9B}"/>
              </a:ext>
            </a:extLst>
          </p:cNvPr>
          <p:cNvSpPr>
            <a:spLocks xmlns:a="http://schemas.openxmlformats.org/drawingml/2006/main" noGrp="1"/>
          </p:cNvSpPr>
          <p:nvPr/>
        </p:nvSpPr>
        <p:spPr>
          <a:xfrm xmlns:a="http://schemas.openxmlformats.org/drawingml/2006/main">
            <a:off x="96012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67A6B"/>
                </a:solidFill>
                <a:latin typeface="Meiryo"/>
                <a:ea typeface="Meiryo"/>
                <a:cs typeface="Meiryo"/>
              </a:defRPr>
            </a:pPr>
            <a:r>
              <a:rPr sz="1650" b="1">
                <a:solidFill>
                  <a:srgbClr val="167A6B"/>
                </a:solidFill>
                <a:latin typeface="Meiryo"/>
                <a:ea typeface="Meiryo"/>
                <a:cs typeface="Meiryo"/>
              </a:rPr>
              <a:t>05</a:t>
            </a:r>
          </a:p>
        </p:txBody>
      </p:sp>
      <p:sp>
        <p:nvSpPr>
          <p:cNvPr id="20" name="node-337">
            <a:extLst xmlns:a="http://schemas.openxmlformats.org/drawingml/2006/main">
              <a:ext uri="{FF2B5EF4-FFF2-40B4-BE49-F238E27FC236}">
                <a16:creationId xmlns:a16="http://schemas.microsoft.com/office/drawing/2014/main" id="{5CFE324F-35F0-4B55-BBA0-C5F316BF28F1}"/>
              </a:ext>
            </a:extLst>
          </p:cNvPr>
          <p:cNvSpPr>
            <a:spLocks xmlns:a="http://schemas.openxmlformats.org/drawingml/2006/main" noGrp="1"/>
          </p:cNvSpPr>
          <p:nvPr/>
        </p:nvSpPr>
        <p:spPr>
          <a:xfrm xmlns:a="http://schemas.openxmlformats.org/drawingml/2006/main">
            <a:off x="96012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人間が判断</a:t>
            </a:r>
          </a:p>
        </p:txBody>
      </p:sp>
      <p:sp>
        <p:nvSpPr>
          <p:cNvPr id="21" name="text-338">
            <a:extLst xmlns:a="http://schemas.openxmlformats.org/drawingml/2006/main">
              <a:ext uri="{FF2B5EF4-FFF2-40B4-BE49-F238E27FC236}">
                <a16:creationId xmlns:a16="http://schemas.microsoft.com/office/drawing/2014/main" id="{4136D31F-080C-4A95-972E-1A3594B1B55D}"/>
              </a:ext>
            </a:extLst>
          </p:cNvPr>
          <p:cNvSpPr>
            <a:spLocks xmlns:a="http://schemas.openxmlformats.org/drawingml/2006/main" noGrp="1"/>
          </p:cNvSpPr>
          <p:nvPr/>
        </p:nvSpPr>
        <p:spPr>
          <a:xfrm xmlns:a="http://schemas.openxmlformats.org/drawingml/2006/main">
            <a:off x="96012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採用・棄却</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追加調査など</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の判断を記録</a:t>
            </a:r>
          </a:p>
        </p:txBody>
      </p:sp>
      <p:cxnSp>
        <p:nvCxnSpPr>
          <p:cNvPr id="47" name=""/>
          <p:cNvCxnSpPr>
            <a:stCxn xmlns:a="http://schemas.openxmlformats.org/drawingml/2006/main" id="8" idx="3"/>
            <a:endCxn xmlns:a="http://schemas.openxmlformats.org/drawingml/2006/main" id="11" idx="1"/>
          </p:cNvCxnSpPr>
          <p:nvPr/>
        </p:nvCxnSpPr>
        <p:spPr>
          <a:xfrm xmlns:a="http://schemas.openxmlformats.org/drawingml/2006/main">
            <a:off x="259080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8" name=""/>
          <p:cNvCxnSpPr>
            <a:stCxn xmlns:a="http://schemas.openxmlformats.org/drawingml/2006/main" id="11" idx="3"/>
            <a:endCxn xmlns:a="http://schemas.openxmlformats.org/drawingml/2006/main" id="14" idx="1"/>
          </p:cNvCxnSpPr>
          <p:nvPr/>
        </p:nvCxnSpPr>
        <p:spPr>
          <a:xfrm xmlns:a="http://schemas.openxmlformats.org/drawingml/2006/main">
            <a:off x="481965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9" name=""/>
          <p:cNvCxnSpPr>
            <a:stCxn xmlns:a="http://schemas.openxmlformats.org/drawingml/2006/main" id="14" idx="3"/>
            <a:endCxn xmlns:a="http://schemas.openxmlformats.org/drawingml/2006/main" id="17" idx="1"/>
          </p:cNvCxnSpPr>
          <p:nvPr/>
        </p:nvCxnSpPr>
        <p:spPr>
          <a:xfrm xmlns:a="http://schemas.openxmlformats.org/drawingml/2006/main">
            <a:off x="704850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50" name=""/>
          <p:cNvCxnSpPr>
            <a:stCxn xmlns:a="http://schemas.openxmlformats.org/drawingml/2006/main" id="17" idx="3"/>
            <a:endCxn xmlns:a="http://schemas.openxmlformats.org/drawingml/2006/main" id="20" idx="1"/>
          </p:cNvCxnSpPr>
          <p:nvPr/>
        </p:nvCxnSpPr>
        <p:spPr>
          <a:xfrm xmlns:a="http://schemas.openxmlformats.org/drawingml/2006/main">
            <a:off x="927735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61050615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339">
            <a:extLst xmlns:a="http://schemas.openxmlformats.org/drawingml/2006/main">
              <a:ext uri="{FF2B5EF4-FFF2-40B4-BE49-F238E27FC236}">
                <a16:creationId xmlns:a16="http://schemas.microsoft.com/office/drawing/2014/main" id="{19EA037E-66A9-41F8-B571-4D459D5DD46D}"/>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67A6B"/>
                </a:solidFill>
                <a:latin typeface="Meiryo"/>
                <a:ea typeface="Meiryo"/>
                <a:cs typeface="Meiryo"/>
              </a:defRPr>
            </a:pPr>
            <a:r>
              <a:rPr sz="1425" b="1">
                <a:solidFill>
                  <a:srgbClr val="167A6B"/>
                </a:solidFill>
                <a:latin typeface="Meiryo"/>
                <a:ea typeface="Meiryo"/>
                <a:cs typeface="Meiryo"/>
              </a:rPr>
              <a:t>コード・文書整合</a:t>
            </a:r>
          </a:p>
        </p:txBody>
      </p:sp>
      <p:sp>
        <p:nvSpPr>
          <p:cNvPr id="2" name="text-340">
            <a:extLst xmlns:a="http://schemas.openxmlformats.org/drawingml/2006/main">
              <a:ext uri="{FF2B5EF4-FFF2-40B4-BE49-F238E27FC236}">
                <a16:creationId xmlns:a16="http://schemas.microsoft.com/office/drawing/2014/main" id="{EF3AA0AC-6C07-4C9D-A40E-E76F3D5757F4}"/>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整合プレレビューの内部構成</a:t>
            </a:r>
          </a:p>
        </p:txBody>
      </p:sp>
      <p:sp>
        <p:nvSpPr>
          <p:cNvPr id="3" name="text-341">
            <a:extLst xmlns:a="http://schemas.openxmlformats.org/drawingml/2006/main">
              <a:ext uri="{FF2B5EF4-FFF2-40B4-BE49-F238E27FC236}">
                <a16:creationId xmlns:a16="http://schemas.microsoft.com/office/drawing/2014/main" id="{3A8D7546-52ED-4A3F-8162-AF46EC7AED32}"/>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画面とworkflowが同じ処理を呼び出す</a:t>
            </a:r>
          </a:p>
        </p:txBody>
      </p:sp>
      <p:sp>
        <p:nvSpPr>
          <p:cNvPr id="4" name="rule-342">
            <a:extLst xmlns:a="http://schemas.openxmlformats.org/drawingml/2006/main">
              <a:ext uri="{FF2B5EF4-FFF2-40B4-BE49-F238E27FC236}">
                <a16:creationId xmlns:a16="http://schemas.microsoft.com/office/drawing/2014/main" id="{8BD4578D-B6EA-426D-A14F-95B968A579D6}"/>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343">
            <a:extLst xmlns:a="http://schemas.openxmlformats.org/drawingml/2006/main">
              <a:ext uri="{FF2B5EF4-FFF2-40B4-BE49-F238E27FC236}">
                <a16:creationId xmlns:a16="http://schemas.microsoft.com/office/drawing/2014/main" id="{1D5B4DC1-9B74-4EE5-AF02-FABCE771F0B2}"/>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A6B"/>
                </a:solidFill>
                <a:latin typeface="Meiryo"/>
                <a:ea typeface="Meiryo"/>
                <a:cs typeface="Meiryo"/>
              </a:defRPr>
            </a:pPr>
            <a:r>
              <a:rPr sz="1800" b="1">
                <a:solidFill>
                  <a:srgbClr val="167A6B"/>
                </a:solidFill>
                <a:latin typeface="Meiryo"/>
                <a:ea typeface="Meiryo"/>
                <a:cs typeface="Meiryo"/>
              </a:rPr>
              <a:t>画面処理とレビュー処理を分け、入口が変わっても同じサービスを使う</a:t>
            </a:r>
          </a:p>
        </p:txBody>
      </p:sp>
      <p:sp>
        <p:nvSpPr>
          <p:cNvPr id="6" name="text-344">
            <a:extLst xmlns:a="http://schemas.openxmlformats.org/drawingml/2006/main">
              <a:ext uri="{FF2B5EF4-FFF2-40B4-BE49-F238E27FC236}">
                <a16:creationId xmlns:a16="http://schemas.microsoft.com/office/drawing/2014/main" id="{EF281502-3EA4-4513-A5EC-2B7D5F4CE5C3}"/>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26</a:t>
            </a:r>
          </a:p>
        </p:txBody>
      </p:sp>
      <p:sp>
        <p:nvSpPr>
          <p:cNvPr id="7" name="node-345">
            <a:extLst xmlns:a="http://schemas.openxmlformats.org/drawingml/2006/main">
              <a:ext uri="{FF2B5EF4-FFF2-40B4-BE49-F238E27FC236}">
                <a16:creationId xmlns:a16="http://schemas.microsoft.com/office/drawing/2014/main" id="{D2FF811F-630B-490A-B69F-0715548D106D}"/>
              </a:ext>
            </a:extLst>
          </p:cNvPr>
          <p:cNvSpPr>
            <a:spLocks xmlns:a="http://schemas.openxmlformats.org/drawingml/2006/main" noGrp="1"/>
          </p:cNvSpPr>
          <p:nvPr/>
        </p:nvSpPr>
        <p:spPr>
          <a:xfrm xmlns:a="http://schemas.openxmlformats.org/drawingml/2006/main">
            <a:off x="685800" y="2162175"/>
            <a:ext cx="3238500" cy="723900"/>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操作の入口</a:t>
            </a:r>
          </a:p>
        </p:txBody>
      </p:sp>
      <p:sp>
        <p:nvSpPr>
          <p:cNvPr id="8" name="text-346">
            <a:extLst xmlns:a="http://schemas.openxmlformats.org/drawingml/2006/main">
              <a:ext uri="{FF2B5EF4-FFF2-40B4-BE49-F238E27FC236}">
                <a16:creationId xmlns:a16="http://schemas.microsoft.com/office/drawing/2014/main" id="{09BFE3B7-FA46-4480-BBC3-1B9DAD1AD9B9}"/>
              </a:ext>
            </a:extLst>
          </p:cNvPr>
          <p:cNvSpPr>
            <a:spLocks xmlns:a="http://schemas.openxmlformats.org/drawingml/2006/main" noGrp="1"/>
          </p:cNvSpPr>
          <p:nvPr/>
        </p:nvSpPr>
        <p:spPr>
          <a:xfrm xmlns:a="http://schemas.openxmlformats.org/drawingml/2006/main">
            <a:off x="4314825" y="2209800"/>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主画面と内部コマンド</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workflowからも操作を呼び出せる</a:t>
            </a:r>
          </a:p>
        </p:txBody>
      </p:sp>
      <p:sp>
        <p:nvSpPr>
          <p:cNvPr id="9" name="node-347">
            <a:extLst xmlns:a="http://schemas.openxmlformats.org/drawingml/2006/main">
              <a:ext uri="{FF2B5EF4-FFF2-40B4-BE49-F238E27FC236}">
                <a16:creationId xmlns:a16="http://schemas.microsoft.com/office/drawing/2014/main" id="{3AF1E3EC-E00E-4524-AE9D-AAC3BBBC39FB}"/>
              </a:ext>
            </a:extLst>
          </p:cNvPr>
          <p:cNvSpPr>
            <a:spLocks xmlns:a="http://schemas.openxmlformats.org/drawingml/2006/main" noGrp="1"/>
          </p:cNvSpPr>
          <p:nvPr/>
        </p:nvSpPr>
        <p:spPr>
          <a:xfrm xmlns:a="http://schemas.openxmlformats.org/drawingml/2006/main">
            <a:off x="685800" y="3038475"/>
            <a:ext cx="3238500" cy="723900"/>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処理の接続</a:t>
            </a:r>
          </a:p>
        </p:txBody>
      </p:sp>
      <p:sp>
        <p:nvSpPr>
          <p:cNvPr id="10" name="text-348">
            <a:extLst xmlns:a="http://schemas.openxmlformats.org/drawingml/2006/main">
              <a:ext uri="{FF2B5EF4-FFF2-40B4-BE49-F238E27FC236}">
                <a16:creationId xmlns:a16="http://schemas.microsoft.com/office/drawing/2014/main" id="{5EAC7BE3-B59B-4F3F-8D87-881F456F10D8}"/>
              </a:ext>
            </a:extLst>
          </p:cNvPr>
          <p:cNvSpPr>
            <a:spLocks xmlns:a="http://schemas.openxmlformats.org/drawingml/2006/main" noGrp="1"/>
          </p:cNvSpPr>
          <p:nvPr/>
        </p:nvSpPr>
        <p:spPr>
          <a:xfrm xmlns:a="http://schemas.openxmlformats.org/drawingml/2006/main">
            <a:off x="4314825" y="3086100"/>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入力検証、差分収集、文書・コード解析を接続</a:t>
            </a:r>
          </a:p>
        </p:txBody>
      </p:sp>
      <p:cxnSp>
        <p:nvCxnSpPr>
          <p:cNvPr id="28" name=""/>
          <p:cNvCxnSpPr>
            <a:stCxn xmlns:a="http://schemas.openxmlformats.org/drawingml/2006/main" id="7" idx="2"/>
            <a:endCxn xmlns:a="http://schemas.openxmlformats.org/drawingml/2006/main" id="9" idx="0"/>
          </p:cNvCxnSpPr>
          <p:nvPr/>
        </p:nvCxnSpPr>
        <p:spPr>
          <a:xfrm xmlns:a="http://schemas.openxmlformats.org/drawingml/2006/main">
            <a:off x="2305050" y="2886075"/>
            <a:ext cx="0" cy="15240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
        <p:nvSpPr>
          <p:cNvPr id="12" name="node-349">
            <a:extLst xmlns:a="http://schemas.openxmlformats.org/drawingml/2006/main">
              <a:ext uri="{FF2B5EF4-FFF2-40B4-BE49-F238E27FC236}">
                <a16:creationId xmlns:a16="http://schemas.microsoft.com/office/drawing/2014/main" id="{11363191-67AA-4EFE-A8C1-16F80713C9CD}"/>
              </a:ext>
            </a:extLst>
          </p:cNvPr>
          <p:cNvSpPr>
            <a:spLocks xmlns:a="http://schemas.openxmlformats.org/drawingml/2006/main" noGrp="1"/>
          </p:cNvSpPr>
          <p:nvPr/>
        </p:nvSpPr>
        <p:spPr>
          <a:xfrm xmlns:a="http://schemas.openxmlformats.org/drawingml/2006/main">
            <a:off x="685800" y="3914775"/>
            <a:ext cx="3238500" cy="723900"/>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根拠の整理</a:t>
            </a:r>
          </a:p>
        </p:txBody>
      </p:sp>
      <p:sp>
        <p:nvSpPr>
          <p:cNvPr id="13" name="text-350">
            <a:extLst xmlns:a="http://schemas.openxmlformats.org/drawingml/2006/main">
              <a:ext uri="{FF2B5EF4-FFF2-40B4-BE49-F238E27FC236}">
                <a16:creationId xmlns:a16="http://schemas.microsoft.com/office/drawing/2014/main" id="{B4970E36-21A0-4840-80E9-1ACEE6DF2457}"/>
              </a:ext>
            </a:extLst>
          </p:cNvPr>
          <p:cNvSpPr>
            <a:spLocks xmlns:a="http://schemas.openxmlformats.org/drawingml/2006/main" noGrp="1"/>
          </p:cNvSpPr>
          <p:nvPr/>
        </p:nvSpPr>
        <p:spPr>
          <a:xfrm xmlns:a="http://schemas.openxmlformats.org/drawingml/2006/main">
            <a:off x="4314825" y="3962400"/>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範囲・量の計画、対応候補、生成物台帳を管理</a:t>
            </a:r>
          </a:p>
        </p:txBody>
      </p:sp>
      <p:cxnSp>
        <p:nvCxnSpPr>
          <p:cNvPr id="31" name=""/>
          <p:cNvCxnSpPr>
            <a:stCxn xmlns:a="http://schemas.openxmlformats.org/drawingml/2006/main" id="9" idx="2"/>
            <a:endCxn xmlns:a="http://schemas.openxmlformats.org/drawingml/2006/main" id="12" idx="0"/>
          </p:cNvCxnSpPr>
          <p:nvPr/>
        </p:nvCxnSpPr>
        <p:spPr>
          <a:xfrm xmlns:a="http://schemas.openxmlformats.org/drawingml/2006/main">
            <a:off x="2305050" y="3762375"/>
            <a:ext cx="0" cy="15240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
        <p:nvSpPr>
          <p:cNvPr id="15" name="node-351">
            <a:extLst xmlns:a="http://schemas.openxmlformats.org/drawingml/2006/main">
              <a:ext uri="{FF2B5EF4-FFF2-40B4-BE49-F238E27FC236}">
                <a16:creationId xmlns:a16="http://schemas.microsoft.com/office/drawing/2014/main" id="{64FE2F95-4BAD-427F-81A3-2AEBC143EB6F}"/>
              </a:ext>
            </a:extLst>
          </p:cNvPr>
          <p:cNvSpPr>
            <a:spLocks xmlns:a="http://schemas.openxmlformats.org/drawingml/2006/main" noGrp="1"/>
          </p:cNvSpPr>
          <p:nvPr/>
        </p:nvSpPr>
        <p:spPr>
          <a:xfrm xmlns:a="http://schemas.openxmlformats.org/drawingml/2006/main">
            <a:off x="685800" y="4791075"/>
            <a:ext cx="3238500" cy="723900"/>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資料の生成</a:t>
            </a:r>
          </a:p>
        </p:txBody>
      </p:sp>
      <p:sp>
        <p:nvSpPr>
          <p:cNvPr id="16" name="text-352">
            <a:extLst xmlns:a="http://schemas.openxmlformats.org/drawingml/2006/main">
              <a:ext uri="{FF2B5EF4-FFF2-40B4-BE49-F238E27FC236}">
                <a16:creationId xmlns:a16="http://schemas.microsoft.com/office/drawing/2014/main" id="{7ECDEA6F-D7AC-4367-81DF-29AE43D56550}"/>
              </a:ext>
            </a:extLst>
          </p:cNvPr>
          <p:cNvSpPr>
            <a:spLocks xmlns:a="http://schemas.openxmlformats.org/drawingml/2006/main" noGrp="1"/>
          </p:cNvSpPr>
          <p:nvPr/>
        </p:nvSpPr>
        <p:spPr>
          <a:xfrm xmlns:a="http://schemas.openxmlformats.org/drawingml/2006/main">
            <a:off x="4314825" y="4838700"/>
            <a:ext cx="7191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review-packageとBob投入用テキストを生成</a:t>
            </a:r>
          </a:p>
        </p:txBody>
      </p:sp>
      <p:cxnSp>
        <p:nvCxnSpPr>
          <p:cNvPr id="34" name=""/>
          <p:cNvCxnSpPr>
            <a:stCxn xmlns:a="http://schemas.openxmlformats.org/drawingml/2006/main" id="12" idx="2"/>
            <a:endCxn xmlns:a="http://schemas.openxmlformats.org/drawingml/2006/main" id="15" idx="0"/>
          </p:cNvCxnSpPr>
          <p:nvPr/>
        </p:nvCxnSpPr>
        <p:spPr>
          <a:xfrm xmlns:a="http://schemas.openxmlformats.org/drawingml/2006/main">
            <a:off x="2305050" y="4638675"/>
            <a:ext cx="0" cy="15240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32896945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353">
            <a:extLst xmlns:a="http://schemas.openxmlformats.org/drawingml/2006/main">
              <a:ext uri="{FF2B5EF4-FFF2-40B4-BE49-F238E27FC236}">
                <a16:creationId xmlns:a16="http://schemas.microsoft.com/office/drawing/2014/main" id="{1A5CE2C4-E5B8-41F2-8A63-42B3FC871E8E}"/>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67A6B"/>
                </a:solidFill>
                <a:latin typeface="Meiryo"/>
                <a:ea typeface="Meiryo"/>
                <a:cs typeface="Meiryo"/>
              </a:defRPr>
            </a:pPr>
            <a:r>
              <a:rPr sz="1425" b="1">
                <a:solidFill>
                  <a:srgbClr val="167A6B"/>
                </a:solidFill>
                <a:latin typeface="Meiryo"/>
                <a:ea typeface="Meiryo"/>
                <a:cs typeface="Meiryo"/>
              </a:rPr>
              <a:t>コード・文書整合</a:t>
            </a:r>
          </a:p>
        </p:txBody>
      </p:sp>
      <p:sp>
        <p:nvSpPr>
          <p:cNvPr id="2" name="text-354">
            <a:extLst xmlns:a="http://schemas.openxmlformats.org/drawingml/2006/main">
              <a:ext uri="{FF2B5EF4-FFF2-40B4-BE49-F238E27FC236}">
                <a16:creationId xmlns:a16="http://schemas.microsoft.com/office/drawing/2014/main" id="{56AF1CAA-FD8F-4BFA-9047-96CC5A31D2F7}"/>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条件・差分・文書を入力する</a:t>
            </a:r>
          </a:p>
        </p:txBody>
      </p:sp>
      <p:sp>
        <p:nvSpPr>
          <p:cNvPr id="3" name="text-355">
            <a:extLst xmlns:a="http://schemas.openxmlformats.org/drawingml/2006/main">
              <a:ext uri="{FF2B5EF4-FFF2-40B4-BE49-F238E27FC236}">
                <a16:creationId xmlns:a16="http://schemas.microsoft.com/office/drawing/2014/main" id="{66651899-54DA-4982-95DB-17868B02A13A}"/>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比較範囲と使う資料を明示してレビューを始める</a:t>
            </a:r>
          </a:p>
        </p:txBody>
      </p:sp>
      <p:sp>
        <p:nvSpPr>
          <p:cNvPr id="4" name="rule-356">
            <a:extLst xmlns:a="http://schemas.openxmlformats.org/drawingml/2006/main">
              <a:ext uri="{FF2B5EF4-FFF2-40B4-BE49-F238E27FC236}">
                <a16:creationId xmlns:a16="http://schemas.microsoft.com/office/drawing/2014/main" id="{B7A7E228-2A74-4589-9C63-B9FCD0F807FE}"/>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357">
            <a:extLst xmlns:a="http://schemas.openxmlformats.org/drawingml/2006/main">
              <a:ext uri="{FF2B5EF4-FFF2-40B4-BE49-F238E27FC236}">
                <a16:creationId xmlns:a16="http://schemas.microsoft.com/office/drawing/2014/main" id="{B7B9ACCE-7D63-4905-A92E-E5B36FDFC8B2}"/>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A6B"/>
                </a:solidFill>
                <a:latin typeface="Meiryo"/>
                <a:ea typeface="Meiryo"/>
                <a:cs typeface="Meiryo"/>
              </a:defRPr>
            </a:pPr>
            <a:r>
              <a:rPr sz="1800" b="1">
                <a:solidFill>
                  <a:srgbClr val="167A6B"/>
                </a:solidFill>
                <a:latin typeface="Meiryo"/>
                <a:ea typeface="Meiryo"/>
                <a:cs typeface="Meiryo"/>
              </a:rPr>
              <a:t>選んだ比較範囲と文書が、レビュー根拠の出発点になる</a:t>
            </a:r>
          </a:p>
        </p:txBody>
      </p:sp>
      <p:sp>
        <p:nvSpPr>
          <p:cNvPr id="6" name="text-358">
            <a:extLst xmlns:a="http://schemas.openxmlformats.org/drawingml/2006/main">
              <a:ext uri="{FF2B5EF4-FFF2-40B4-BE49-F238E27FC236}">
                <a16:creationId xmlns:a16="http://schemas.microsoft.com/office/drawing/2014/main" id="{6F629BA0-843C-4403-80FA-B1ACA5F8045B}"/>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27</a:t>
            </a:r>
          </a:p>
        </p:txBody>
      </p:sp>
      <p:graphicFrame>
        <p:nvGraphicFramePr>
          <p:cNvPr id="14" name=""/>
          <p:cNvGraphicFramePr/>
          <p:nvPr/>
        </p:nvGraphicFramePr>
        <p:xfrm>
          <a:off xmlns:a="http://schemas.openxmlformats.org/drawingml/2006/main" x="685800" y="2057400"/>
          <a:ext xmlns:a="http://schemas.openxmlformats.org/drawingml/2006/main" cx="10820400" cy="3619500"/>
        </p:xfrm>
        <a:graphic xmlns:a="http://schemas.openxmlformats.org/drawingml/2006/main">
          <a:graphicData uri="http://schemas.openxmlformats.org/drawingml/2006/table">
            <a:tbl>
              <a:tblPr/>
              <a:tblGrid>
                <a:gridCol w="2762250"/>
                <a:gridCol w="4000500"/>
                <a:gridCol w="4057650"/>
              </a:tblGrid>
              <a:tr h="495300">
                <a:tc>
                  <a:txBody>
                    <a:bodyPr wrap="square" lIns="133350" tIns="76200" rIns="114300" bIns="76200">
                      <a:noAutofit/>
                    </a:bodyPr>
                    <a:lstStyle/>
                    <a:p>
                      <a:r>
                        <a:rPr sz="1800" b="1">
                          <a:solidFill>
                            <a:srgbClr val="FFFFFF"/>
                          </a:solidFill>
                          <a:latin typeface="Meiryo"/>
                          <a:ea typeface="Meiryo"/>
                          <a:cs typeface="Meiryo"/>
                        </a:rPr>
                        <a:t>入力</a:t>
                      </a:r>
                    </a:p>
                  </a:txBody>
                  <a:tcPr marL="91440" marR="91440" marT="45720" marB="45720" anchor="ctr">
                    <a:solidFill>
                      <a:srgbClr val="167A6B"/>
                    </a:solidFill>
                  </a:tcPr>
                </a:tc>
                <a:tc>
                  <a:txBody>
                    <a:bodyPr wrap="square" lIns="133350" tIns="76200" rIns="114300" bIns="76200">
                      <a:noAutofit/>
                    </a:bodyPr>
                    <a:lstStyle/>
                    <a:p>
                      <a:r>
                        <a:rPr sz="1800" b="1">
                          <a:solidFill>
                            <a:srgbClr val="FFFFFF"/>
                          </a:solidFill>
                          <a:latin typeface="Meiryo"/>
                          <a:ea typeface="Meiryo"/>
                          <a:cs typeface="Meiryo"/>
                        </a:rPr>
                        <a:t>指定する内容</a:t>
                      </a:r>
                    </a:p>
                  </a:txBody>
                  <a:tcPr marL="91440" marR="91440" marT="45720" marB="45720" anchor="ctr">
                    <a:solidFill>
                      <a:srgbClr val="167A6B"/>
                    </a:solidFill>
                  </a:tcPr>
                </a:tc>
                <a:tc>
                  <a:txBody>
                    <a:bodyPr wrap="square" lIns="133350" tIns="76200" rIns="114300" bIns="76200">
                      <a:noAutofit/>
                    </a:bodyPr>
                    <a:lstStyle/>
                    <a:p>
                      <a:r>
                        <a:rPr sz="1800" b="1">
                          <a:solidFill>
                            <a:srgbClr val="FFFFFF"/>
                          </a:solidFill>
                          <a:latin typeface="Meiryo"/>
                          <a:ea typeface="Meiryo"/>
                          <a:cs typeface="Meiryo"/>
                        </a:rPr>
                        <a:t>扱い</a:t>
                      </a:r>
                    </a:p>
                  </a:txBody>
                  <a:tcPr marL="91440" marR="91440" marT="45720" marB="45720" anchor="ctr">
                    <a:solidFill>
                      <a:srgbClr val="167A6B"/>
                    </a:solidFill>
                  </a:tcPr>
                </a:tc>
              </a:tr>
              <a:tr h="624840">
                <a:tc>
                  <a:txBody>
                    <a:bodyPr wrap="square" lIns="133350" tIns="76200" rIns="114300" bIns="76200">
                      <a:noAutofit/>
                    </a:bodyPr>
                    <a:lstStyle/>
                    <a:p>
                      <a:r>
                        <a:rPr sz="1800" b="0">
                          <a:solidFill>
                            <a:srgbClr val="172A3A"/>
                          </a:solidFill>
                          <a:latin typeface="Meiryo"/>
                          <a:ea typeface="Meiryo"/>
                          <a:cs typeface="Meiryo"/>
                        </a:rPr>
                        <a:t>レビュー条件</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ID・変更種別・確認観点</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review-input.yamlに保存</a:t>
                      </a:r>
                    </a:p>
                  </a:txBody>
                  <a:tcPr marL="91440" marR="91440" marT="45720" marB="45720" anchor="ctr">
                    <a:solidFill>
                      <a:srgbClr val="F5F8FA"/>
                    </a:solidFill>
                  </a:tcPr>
                </a:tc>
              </a:tr>
              <a:tr h="624840">
                <a:tc>
                  <a:txBody>
                    <a:bodyPr wrap="square" lIns="133350" tIns="76200" rIns="114300" bIns="76200">
                      <a:noAutofit/>
                    </a:bodyPr>
                    <a:lstStyle/>
                    <a:p>
                      <a:r>
                        <a:rPr sz="1800" b="0">
                          <a:solidFill>
                            <a:srgbClr val="172A3A"/>
                          </a:solidFill>
                          <a:latin typeface="Meiryo"/>
                          <a:ea typeface="Meiryo"/>
                          <a:cs typeface="Meiryo"/>
                        </a:rPr>
                        <a:t>コード差分</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Git / Bazaar、base / head</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比較する版を明示</a:t>
                      </a:r>
                    </a:p>
                  </a:txBody>
                  <a:tcPr marL="91440" marR="91440" marT="45720" marB="45720" anchor="ctr">
                    <a:solidFill>
                      <a:srgbClr val="FFFFFF"/>
                    </a:solidFill>
                  </a:tcPr>
                </a:tc>
              </a:tr>
              <a:tr h="624840">
                <a:tc>
                  <a:txBody>
                    <a:bodyPr wrap="square" lIns="133350" tIns="76200" rIns="114300" bIns="76200">
                      <a:noAutofit/>
                    </a:bodyPr>
                    <a:lstStyle/>
                    <a:p>
                      <a:r>
                        <a:rPr sz="1800" b="0">
                          <a:solidFill>
                            <a:srgbClr val="172A3A"/>
                          </a:solidFill>
                          <a:latin typeface="Meiryo"/>
                          <a:ea typeface="Meiryo"/>
                          <a:cs typeface="Meiryo"/>
                        </a:rPr>
                        <a:t>対象文書</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Markdown / DOCX / XLSX</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節・ケース・行・シートを選ぶ</a:t>
                      </a:r>
                    </a:p>
                  </a:txBody>
                  <a:tcPr marL="91440" marR="91440" marT="45720" marB="45720" anchor="ctr">
                    <a:solidFill>
                      <a:srgbClr val="F5F8FA"/>
                    </a:solidFill>
                  </a:tcPr>
                </a:tc>
              </a:tr>
              <a:tr h="624840">
                <a:tc>
                  <a:txBody>
                    <a:bodyPr wrap="square" lIns="133350" tIns="76200" rIns="114300" bIns="76200">
                      <a:noAutofit/>
                    </a:bodyPr>
                    <a:lstStyle/>
                    <a:p>
                      <a:r>
                        <a:rPr sz="1800" b="0">
                          <a:solidFill>
                            <a:srgbClr val="172A3A"/>
                          </a:solidFill>
                          <a:latin typeface="Meiryo"/>
                          <a:ea typeface="Meiryo"/>
                          <a:cs typeface="Meiryo"/>
                        </a:rPr>
                        <a:t>文字コード</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UTF-8 / Shift-JIS系</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設定と自動判定で読み込む</a:t>
                      </a:r>
                    </a:p>
                  </a:txBody>
                  <a:tcPr marL="91440" marR="91440" marT="45720" marB="45720" anchor="ctr">
                    <a:solidFill>
                      <a:srgbClr val="FFFFFF"/>
                    </a:solidFill>
                  </a:tcPr>
                </a:tc>
              </a:tr>
              <a:tr h="624840">
                <a:tc>
                  <a:txBody>
                    <a:bodyPr wrap="square" lIns="133350" tIns="76200" rIns="114300" bIns="76200">
                      <a:noAutofit/>
                    </a:bodyPr>
                    <a:lstStyle/>
                    <a:p>
                      <a:r>
                        <a:rPr sz="1800" b="0">
                          <a:solidFill>
                            <a:srgbClr val="172A3A"/>
                          </a:solidFill>
                          <a:latin typeface="Meiryo"/>
                          <a:ea typeface="Meiryo"/>
                          <a:cs typeface="Meiryo"/>
                        </a:rPr>
                        <a:t>読み取り上限</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文書1件5MiB、Bob入力2MiB</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既定値。設定で調整可能</a:t>
                      </a:r>
                    </a:p>
                  </a:txBody>
                  <a:tcPr marL="91440" marR="91440" marT="45720" marB="45720" anchor="ctr">
                    <a:solidFill>
                      <a:srgbClr val="F5F8FA"/>
                    </a:solidFill>
                  </a:tcPr>
                </a:tc>
              </a:tr>
            </a:tbl>
          </a:graphicData>
        </a:graphic>
      </p:graphicFrame>
    </p:spTree>
    <p:extLst>
      <p:ext uri="{BB962C8B-B14F-4D97-AF65-F5344CB8AC3E}">
        <p14:creationId xmlns:p14="http://schemas.microsoft.com/office/powerpoint/2010/main" val="213347470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359">
            <a:extLst xmlns:a="http://schemas.openxmlformats.org/drawingml/2006/main">
              <a:ext uri="{FF2B5EF4-FFF2-40B4-BE49-F238E27FC236}">
                <a16:creationId xmlns:a16="http://schemas.microsoft.com/office/drawing/2014/main" id="{58F33365-AB4E-4A1C-88FD-9125182C1680}"/>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67A6B"/>
                </a:solidFill>
                <a:latin typeface="Meiryo"/>
                <a:ea typeface="Meiryo"/>
                <a:cs typeface="Meiryo"/>
              </a:defRPr>
            </a:pPr>
            <a:r>
              <a:rPr sz="1425" b="1">
                <a:solidFill>
                  <a:srgbClr val="167A6B"/>
                </a:solidFill>
                <a:latin typeface="Meiryo"/>
                <a:ea typeface="Meiryo"/>
                <a:cs typeface="Meiryo"/>
              </a:rPr>
              <a:t>コード・文書整合</a:t>
            </a:r>
          </a:p>
        </p:txBody>
      </p:sp>
      <p:sp>
        <p:nvSpPr>
          <p:cNvPr id="2" name="text-360">
            <a:extLst xmlns:a="http://schemas.openxmlformats.org/drawingml/2006/main">
              <a:ext uri="{FF2B5EF4-FFF2-40B4-BE49-F238E27FC236}">
                <a16:creationId xmlns:a16="http://schemas.microsoft.com/office/drawing/2014/main" id="{8EF16785-AD29-4AF1-BC54-ECA6E8E49179}"/>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コード根拠と資料量の管理</a:t>
            </a:r>
          </a:p>
        </p:txBody>
      </p:sp>
      <p:sp>
        <p:nvSpPr>
          <p:cNvPr id="3" name="text-361">
            <a:extLst xmlns:a="http://schemas.openxmlformats.org/drawingml/2006/main">
              <a:ext uri="{FF2B5EF4-FFF2-40B4-BE49-F238E27FC236}">
                <a16:creationId xmlns:a16="http://schemas.microsoft.com/office/drawing/2014/main" id="{5558A357-2073-4F62-99C9-E80335CACB0D}"/>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コード解析、リポジトリ索引、生成物台帳を組み合わせる</a:t>
            </a:r>
          </a:p>
        </p:txBody>
      </p:sp>
      <p:sp>
        <p:nvSpPr>
          <p:cNvPr id="4" name="rule-362">
            <a:extLst xmlns:a="http://schemas.openxmlformats.org/drawingml/2006/main">
              <a:ext uri="{FF2B5EF4-FFF2-40B4-BE49-F238E27FC236}">
                <a16:creationId xmlns:a16="http://schemas.microsoft.com/office/drawing/2014/main" id="{F4C41D0D-5C7A-4E38-9093-F2188727D820}"/>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363">
            <a:extLst xmlns:a="http://schemas.openxmlformats.org/drawingml/2006/main">
              <a:ext uri="{FF2B5EF4-FFF2-40B4-BE49-F238E27FC236}">
                <a16:creationId xmlns:a16="http://schemas.microsoft.com/office/drawing/2014/main" id="{F2BAB91D-696E-4E33-B4EE-2DDAE990652A}"/>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A6B"/>
                </a:solidFill>
                <a:latin typeface="Meiryo"/>
                <a:ea typeface="Meiryo"/>
                <a:cs typeface="Meiryo"/>
              </a:defRPr>
            </a:pPr>
            <a:r>
              <a:rPr sz="1800" b="1">
                <a:solidFill>
                  <a:srgbClr val="167A6B"/>
                </a:solidFill>
                <a:latin typeface="Meiryo"/>
                <a:ea typeface="Meiryo"/>
                <a:cs typeface="Meiryo"/>
              </a:rPr>
              <a:t>根拠の選定計画を記録し、実際の投入量には別途上限をかける</a:t>
            </a:r>
          </a:p>
        </p:txBody>
      </p:sp>
      <p:sp>
        <p:nvSpPr>
          <p:cNvPr id="6" name="text-364">
            <a:extLst xmlns:a="http://schemas.openxmlformats.org/drawingml/2006/main">
              <a:ext uri="{FF2B5EF4-FFF2-40B4-BE49-F238E27FC236}">
                <a16:creationId xmlns:a16="http://schemas.microsoft.com/office/drawing/2014/main" id="{CCCD2C78-C035-4B73-8ED2-89EE21C7E7F1}"/>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28</a:t>
            </a:r>
          </a:p>
        </p:txBody>
      </p:sp>
      <p:sp>
        <p:nvSpPr>
          <p:cNvPr id="7" name="text-365">
            <a:extLst xmlns:a="http://schemas.openxmlformats.org/drawingml/2006/main">
              <a:ext uri="{FF2B5EF4-FFF2-40B4-BE49-F238E27FC236}">
                <a16:creationId xmlns:a16="http://schemas.microsoft.com/office/drawing/2014/main" id="{6A2335D0-9003-44E7-B382-CB4CCFC14471}"/>
              </a:ext>
            </a:extLst>
          </p:cNvPr>
          <p:cNvSpPr>
            <a:spLocks xmlns:a="http://schemas.openxmlformats.org/drawingml/2006/main" noGrp="1"/>
          </p:cNvSpPr>
          <p:nvPr/>
        </p:nvSpPr>
        <p:spPr>
          <a:xfrm xmlns:a="http://schemas.openxmlformats.org/drawingml/2006/main">
            <a:off x="68580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67A6B"/>
                </a:solidFill>
                <a:latin typeface="Meiryo"/>
                <a:ea typeface="Meiryo"/>
                <a:cs typeface="Meiryo"/>
              </a:defRPr>
            </a:pPr>
            <a:r>
              <a:rPr sz="2250" b="1">
                <a:solidFill>
                  <a:srgbClr val="167A6B"/>
                </a:solidFill>
                <a:latin typeface="Meiryo"/>
                <a:ea typeface="Meiryo"/>
                <a:cs typeface="Meiryo"/>
              </a:rPr>
              <a:t>コード根拠</a:t>
            </a:r>
          </a:p>
        </p:txBody>
      </p:sp>
      <p:sp>
        <p:nvSpPr>
          <p:cNvPr id="8" name="rule-366">
            <a:extLst xmlns:a="http://schemas.openxmlformats.org/drawingml/2006/main">
              <a:ext uri="{FF2B5EF4-FFF2-40B4-BE49-F238E27FC236}">
                <a16:creationId xmlns:a16="http://schemas.microsoft.com/office/drawing/2014/main" id="{81F5B555-8292-463A-B77A-D72E724691D3}"/>
              </a:ext>
            </a:extLst>
          </p:cNvPr>
          <p:cNvSpPr>
            <a:spLocks xmlns:a="http://schemas.openxmlformats.org/drawingml/2006/main" noGrp="1"/>
          </p:cNvSpPr>
          <p:nvPr/>
        </p:nvSpPr>
        <p:spPr>
          <a:xfrm xmlns:a="http://schemas.openxmlformats.org/drawingml/2006/main">
            <a:off x="685800" y="3438525"/>
            <a:ext cx="3314700" cy="0"/>
          </a:xfrm>
          <a:prstGeom xmlns:a="http://schemas.openxmlformats.org/drawingml/2006/main" prst="line">
            <a:avLst/>
          </a:prstGeom>
          <a:noFill xmlns:a="http://schemas.openxmlformats.org/drawingml/2006/main"/>
          <a:ln xmlns:a="http://schemas.openxmlformats.org/drawingml/2006/main" w="9525">
            <a:solidFill>
              <a:srgbClr val="167A6B"/>
            </a:solidFill>
          </a:ln>
        </p:spPr>
      </p:sp>
      <p:sp>
        <p:nvSpPr>
          <p:cNvPr id="9" name="text-367">
            <a:extLst xmlns:a="http://schemas.openxmlformats.org/drawingml/2006/main">
              <a:ext uri="{FF2B5EF4-FFF2-40B4-BE49-F238E27FC236}">
                <a16:creationId xmlns:a16="http://schemas.microsoft.com/office/drawing/2014/main" id="{4A1B1E08-8CF4-43CD-8CDD-B1FA81302796}"/>
              </a:ext>
            </a:extLst>
          </p:cNvPr>
          <p:cNvSpPr>
            <a:spLocks xmlns:a="http://schemas.openxmlformats.org/drawingml/2006/main" noGrp="1"/>
          </p:cNvSpPr>
          <p:nvPr/>
        </p:nvSpPr>
        <p:spPr>
          <a:xfrm xmlns:a="http://schemas.openxmlformats.org/drawingml/2006/main">
            <a:off x="68580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C/C++は関数と</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呼出候補を抽出</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その他は差分行を根拠化</a:t>
            </a:r>
          </a:p>
        </p:txBody>
      </p:sp>
      <p:sp>
        <p:nvSpPr>
          <p:cNvPr id="10" name="text-368">
            <a:extLst xmlns:a="http://schemas.openxmlformats.org/drawingml/2006/main">
              <a:ext uri="{FF2B5EF4-FFF2-40B4-BE49-F238E27FC236}">
                <a16:creationId xmlns:a16="http://schemas.microsoft.com/office/drawing/2014/main" id="{E87624A6-8BC6-4E55-A4BB-76CB70FAA34C}"/>
              </a:ext>
            </a:extLst>
          </p:cNvPr>
          <p:cNvSpPr>
            <a:spLocks xmlns:a="http://schemas.openxmlformats.org/drawingml/2006/main" noGrp="1"/>
          </p:cNvSpPr>
          <p:nvPr/>
        </p:nvSpPr>
        <p:spPr>
          <a:xfrm xmlns:a="http://schemas.openxmlformats.org/drawingml/2006/main">
            <a:off x="443865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67A6B"/>
                </a:solidFill>
                <a:latin typeface="Meiryo"/>
                <a:ea typeface="Meiryo"/>
                <a:cs typeface="Meiryo"/>
              </a:defRPr>
            </a:pPr>
            <a:r>
              <a:rPr sz="2250" b="1">
                <a:solidFill>
                  <a:srgbClr val="167A6B"/>
                </a:solidFill>
                <a:latin typeface="Meiryo"/>
                <a:ea typeface="Meiryo"/>
                <a:cs typeface="Meiryo"/>
              </a:rPr>
              <a:t>範囲と量の計画</a:t>
            </a:r>
          </a:p>
        </p:txBody>
      </p:sp>
      <p:sp>
        <p:nvSpPr>
          <p:cNvPr id="11" name="rule-369">
            <a:extLst xmlns:a="http://schemas.openxmlformats.org/drawingml/2006/main">
              <a:ext uri="{FF2B5EF4-FFF2-40B4-BE49-F238E27FC236}">
                <a16:creationId xmlns:a16="http://schemas.microsoft.com/office/drawing/2014/main" id="{6BE5DEA3-147B-4A0E-BF8C-3A11ED9207D0}"/>
              </a:ext>
            </a:extLst>
          </p:cNvPr>
          <p:cNvSpPr>
            <a:spLocks xmlns:a="http://schemas.openxmlformats.org/drawingml/2006/main" noGrp="1"/>
          </p:cNvSpPr>
          <p:nvPr/>
        </p:nvSpPr>
        <p:spPr>
          <a:xfrm xmlns:a="http://schemas.openxmlformats.org/drawingml/2006/main">
            <a:off x="4438650" y="3438525"/>
            <a:ext cx="3314700" cy="0"/>
          </a:xfrm>
          <a:prstGeom xmlns:a="http://schemas.openxmlformats.org/drawingml/2006/main" prst="line">
            <a:avLst/>
          </a:prstGeom>
          <a:noFill xmlns:a="http://schemas.openxmlformats.org/drawingml/2006/main"/>
          <a:ln xmlns:a="http://schemas.openxmlformats.org/drawingml/2006/main" w="9525">
            <a:solidFill>
              <a:srgbClr val="167A6B"/>
            </a:solidFill>
          </a:ln>
        </p:spPr>
      </p:sp>
      <p:sp>
        <p:nvSpPr>
          <p:cNvPr id="12" name="text-370">
            <a:extLst xmlns:a="http://schemas.openxmlformats.org/drawingml/2006/main">
              <a:ext uri="{FF2B5EF4-FFF2-40B4-BE49-F238E27FC236}">
                <a16:creationId xmlns:a16="http://schemas.microsoft.com/office/drawing/2014/main" id="{471DE058-B8EE-4597-9918-F3C9CF8FEB2F}"/>
              </a:ext>
            </a:extLst>
          </p:cNvPr>
          <p:cNvSpPr>
            <a:spLocks xmlns:a="http://schemas.openxmlformats.org/drawingml/2006/main" noGrp="1"/>
          </p:cNvSpPr>
          <p:nvPr/>
        </p:nvSpPr>
        <p:spPr>
          <a:xfrm xmlns:a="http://schemas.openxmlformats.org/drawingml/2006/main">
            <a:off x="443865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必要に応じて</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リポジトリ索引を利用</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優先度と推定量をもとに</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採用・除外を記録</a:t>
            </a:r>
          </a:p>
        </p:txBody>
      </p:sp>
      <p:sp>
        <p:nvSpPr>
          <p:cNvPr id="13" name="text-371">
            <a:extLst xmlns:a="http://schemas.openxmlformats.org/drawingml/2006/main">
              <a:ext uri="{FF2B5EF4-FFF2-40B4-BE49-F238E27FC236}">
                <a16:creationId xmlns:a16="http://schemas.microsoft.com/office/drawing/2014/main" id="{391F7DF5-C363-4268-B9EB-FFF6B5CC01A2}"/>
              </a:ext>
            </a:extLst>
          </p:cNvPr>
          <p:cNvSpPr>
            <a:spLocks xmlns:a="http://schemas.openxmlformats.org/drawingml/2006/main" noGrp="1"/>
          </p:cNvSpPr>
          <p:nvPr/>
        </p:nvSpPr>
        <p:spPr>
          <a:xfrm xmlns:a="http://schemas.openxmlformats.org/drawingml/2006/main">
            <a:off x="819150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67A6B"/>
                </a:solidFill>
                <a:latin typeface="Meiryo"/>
                <a:ea typeface="Meiryo"/>
                <a:cs typeface="Meiryo"/>
              </a:defRPr>
            </a:pPr>
            <a:r>
              <a:rPr sz="2250" b="1">
                <a:solidFill>
                  <a:srgbClr val="167A6B"/>
                </a:solidFill>
                <a:latin typeface="Meiryo"/>
                <a:ea typeface="Meiryo"/>
                <a:cs typeface="Meiryo"/>
              </a:rPr>
              <a:t>生成物の台帳</a:t>
            </a:r>
          </a:p>
        </p:txBody>
      </p:sp>
      <p:sp>
        <p:nvSpPr>
          <p:cNvPr id="14" name="rule-372">
            <a:extLst xmlns:a="http://schemas.openxmlformats.org/drawingml/2006/main">
              <a:ext uri="{FF2B5EF4-FFF2-40B4-BE49-F238E27FC236}">
                <a16:creationId xmlns:a16="http://schemas.microsoft.com/office/drawing/2014/main" id="{42E517A7-393D-4B81-B311-EB2EB8A8FC1D}"/>
              </a:ext>
            </a:extLst>
          </p:cNvPr>
          <p:cNvSpPr>
            <a:spLocks xmlns:a="http://schemas.openxmlformats.org/drawingml/2006/main" noGrp="1"/>
          </p:cNvSpPr>
          <p:nvPr/>
        </p:nvSpPr>
        <p:spPr>
          <a:xfrm xmlns:a="http://schemas.openxmlformats.org/drawingml/2006/main">
            <a:off x="8191500" y="3438525"/>
            <a:ext cx="3314700" cy="0"/>
          </a:xfrm>
          <a:prstGeom xmlns:a="http://schemas.openxmlformats.org/drawingml/2006/main" prst="line">
            <a:avLst/>
          </a:prstGeom>
          <a:noFill xmlns:a="http://schemas.openxmlformats.org/drawingml/2006/main"/>
          <a:ln xmlns:a="http://schemas.openxmlformats.org/drawingml/2006/main" w="9525">
            <a:solidFill>
              <a:srgbClr val="167A6B"/>
            </a:solidFill>
          </a:ln>
        </p:spPr>
      </p:sp>
      <p:sp>
        <p:nvSpPr>
          <p:cNvPr id="15" name="text-373">
            <a:extLst xmlns:a="http://schemas.openxmlformats.org/drawingml/2006/main">
              <a:ext uri="{FF2B5EF4-FFF2-40B4-BE49-F238E27FC236}">
                <a16:creationId xmlns:a16="http://schemas.microsoft.com/office/drawing/2014/main" id="{A4516C03-F4B5-469E-AA5F-579CC120E4B7}"/>
              </a:ext>
            </a:extLst>
          </p:cNvPr>
          <p:cNvSpPr>
            <a:spLocks xmlns:a="http://schemas.openxmlformats.org/drawingml/2006/main" noGrp="1"/>
          </p:cNvSpPr>
          <p:nvPr/>
        </p:nvSpPr>
        <p:spPr>
          <a:xfrm xmlns:a="http://schemas.openxmlformats.org/drawingml/2006/main">
            <a:off x="819150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入力・内容のhashと</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依存関係を記録</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最新・古い・欠落を区別</a:t>
            </a:r>
          </a:p>
        </p:txBody>
      </p:sp>
    </p:spTree>
    <p:extLst>
      <p:ext uri="{BB962C8B-B14F-4D97-AF65-F5344CB8AC3E}">
        <p14:creationId xmlns:p14="http://schemas.microsoft.com/office/powerpoint/2010/main" val="56136156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374">
            <a:extLst xmlns:a="http://schemas.openxmlformats.org/drawingml/2006/main">
              <a:ext uri="{FF2B5EF4-FFF2-40B4-BE49-F238E27FC236}">
                <a16:creationId xmlns:a16="http://schemas.microsoft.com/office/drawing/2014/main" id="{46DDDB4C-BE0C-425B-B1BE-7F61F6C6BC66}"/>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67A6B"/>
                </a:solidFill>
                <a:latin typeface="Meiryo"/>
                <a:ea typeface="Meiryo"/>
                <a:cs typeface="Meiryo"/>
              </a:defRPr>
            </a:pPr>
            <a:r>
              <a:rPr sz="1425" b="1">
                <a:solidFill>
                  <a:srgbClr val="167A6B"/>
                </a:solidFill>
                <a:latin typeface="Meiryo"/>
                <a:ea typeface="Meiryo"/>
                <a:cs typeface="Meiryo"/>
              </a:rPr>
              <a:t>コード・文書整合</a:t>
            </a:r>
          </a:p>
        </p:txBody>
      </p:sp>
      <p:sp>
        <p:nvSpPr>
          <p:cNvPr id="2" name="text-375">
            <a:extLst xmlns:a="http://schemas.openxmlformats.org/drawingml/2006/main">
              <a:ext uri="{FF2B5EF4-FFF2-40B4-BE49-F238E27FC236}">
                <a16:creationId xmlns:a16="http://schemas.microsoft.com/office/drawing/2014/main" id="{205B1CA9-397B-47D7-9C63-FDF5F71FAC4A}"/>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文書間のトレーサビリティ</a:t>
            </a:r>
          </a:p>
        </p:txBody>
      </p:sp>
      <p:sp>
        <p:nvSpPr>
          <p:cNvPr id="3" name="text-376">
            <a:extLst xmlns:a="http://schemas.openxmlformats.org/drawingml/2006/main">
              <a:ext uri="{FF2B5EF4-FFF2-40B4-BE49-F238E27FC236}">
                <a16:creationId xmlns:a16="http://schemas.microsoft.com/office/drawing/2014/main" id="{E01C8B63-09BE-40C9-A570-5078D3877B15}"/>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元文書を変えず、候補と人間の承認を残す</a:t>
            </a:r>
          </a:p>
        </p:txBody>
      </p:sp>
      <p:sp>
        <p:nvSpPr>
          <p:cNvPr id="4" name="rule-377">
            <a:extLst xmlns:a="http://schemas.openxmlformats.org/drawingml/2006/main">
              <a:ext uri="{FF2B5EF4-FFF2-40B4-BE49-F238E27FC236}">
                <a16:creationId xmlns:a16="http://schemas.microsoft.com/office/drawing/2014/main" id="{A8758A3C-F345-47D1-B4B5-EBBCC8CBB539}"/>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378">
            <a:extLst xmlns:a="http://schemas.openxmlformats.org/drawingml/2006/main">
              <a:ext uri="{FF2B5EF4-FFF2-40B4-BE49-F238E27FC236}">
                <a16:creationId xmlns:a16="http://schemas.microsoft.com/office/drawing/2014/main" id="{B3171C3B-28A5-4680-80EB-62DDE965D0B5}"/>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A6B"/>
                </a:solidFill>
                <a:latin typeface="Meiryo"/>
                <a:ea typeface="Meiryo"/>
                <a:cs typeface="Meiryo"/>
              </a:defRPr>
            </a:pPr>
            <a:r>
              <a:rPr sz="1800" b="1">
                <a:solidFill>
                  <a:srgbClr val="167A6B"/>
                </a:solidFill>
                <a:latin typeface="Meiryo"/>
                <a:ea typeface="Meiryo"/>
                <a:cs typeface="Meiryo"/>
              </a:rPr>
              <a:t>AIの候補と人間の確定判断を、元文書とは別に保持する</a:t>
            </a:r>
          </a:p>
        </p:txBody>
      </p:sp>
      <p:sp>
        <p:nvSpPr>
          <p:cNvPr id="6" name="text-379">
            <a:extLst xmlns:a="http://schemas.openxmlformats.org/drawingml/2006/main">
              <a:ext uri="{FF2B5EF4-FFF2-40B4-BE49-F238E27FC236}">
                <a16:creationId xmlns:a16="http://schemas.microsoft.com/office/drawing/2014/main" id="{EFDA8EAA-077F-48C7-9A1F-2B793EF82942}"/>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29</a:t>
            </a:r>
          </a:p>
        </p:txBody>
      </p:sp>
      <p:sp>
        <p:nvSpPr>
          <p:cNvPr id="7" name="text-380">
            <a:extLst xmlns:a="http://schemas.openxmlformats.org/drawingml/2006/main">
              <a:ext uri="{FF2B5EF4-FFF2-40B4-BE49-F238E27FC236}">
                <a16:creationId xmlns:a16="http://schemas.microsoft.com/office/drawing/2014/main" id="{94A1DFDC-A986-4F99-8A47-F188AB4B409F}"/>
              </a:ext>
            </a:extLst>
          </p:cNvPr>
          <p:cNvSpPr>
            <a:spLocks xmlns:a="http://schemas.openxmlformats.org/drawingml/2006/main" noGrp="1"/>
          </p:cNvSpPr>
          <p:nvPr/>
        </p:nvSpPr>
        <p:spPr>
          <a:xfrm xmlns:a="http://schemas.openxmlformats.org/drawingml/2006/main">
            <a:off x="685800"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67A6B"/>
                </a:solidFill>
                <a:latin typeface="Meiryo"/>
                <a:ea typeface="Meiryo"/>
                <a:cs typeface="Meiryo"/>
              </a:defRPr>
            </a:pPr>
            <a:r>
              <a:rPr sz="1650" b="1">
                <a:solidFill>
                  <a:srgbClr val="167A6B"/>
                </a:solidFill>
                <a:latin typeface="Meiryo"/>
                <a:ea typeface="Meiryo"/>
                <a:cs typeface="Meiryo"/>
              </a:rPr>
              <a:t>01</a:t>
            </a:r>
          </a:p>
        </p:txBody>
      </p:sp>
      <p:sp>
        <p:nvSpPr>
          <p:cNvPr id="8" name="node-381">
            <a:extLst xmlns:a="http://schemas.openxmlformats.org/drawingml/2006/main">
              <a:ext uri="{FF2B5EF4-FFF2-40B4-BE49-F238E27FC236}">
                <a16:creationId xmlns:a16="http://schemas.microsoft.com/office/drawing/2014/main" id="{9FEE4472-BF4C-40E8-81C4-FCAA2071DB39}"/>
              </a:ext>
            </a:extLst>
          </p:cNvPr>
          <p:cNvSpPr>
            <a:spLocks xmlns:a="http://schemas.openxmlformats.org/drawingml/2006/main" noGrp="1"/>
          </p:cNvSpPr>
          <p:nvPr/>
        </p:nvSpPr>
        <p:spPr>
          <a:xfrm xmlns:a="http://schemas.openxmlformats.org/drawingml/2006/main">
            <a:off x="685800"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文書を選ぶ</a:t>
            </a:r>
          </a:p>
        </p:txBody>
      </p:sp>
      <p:sp>
        <p:nvSpPr>
          <p:cNvPr id="9" name="text-382">
            <a:extLst xmlns:a="http://schemas.openxmlformats.org/drawingml/2006/main">
              <a:ext uri="{FF2B5EF4-FFF2-40B4-BE49-F238E27FC236}">
                <a16:creationId xmlns:a16="http://schemas.microsoft.com/office/drawing/2014/main" id="{760CD672-6866-45B9-85A3-9856F0E9E9C0}"/>
              </a:ext>
            </a:extLst>
          </p:cNvPr>
          <p:cNvSpPr>
            <a:spLocks xmlns:a="http://schemas.openxmlformats.org/drawingml/2006/main" noGrp="1"/>
          </p:cNvSpPr>
          <p:nvPr/>
        </p:nvSpPr>
        <p:spPr>
          <a:xfrm xmlns:a="http://schemas.openxmlformats.org/drawingml/2006/main">
            <a:off x="685800"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要求・設計・テストの</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対応関係の候補を収集</a:t>
            </a:r>
          </a:p>
        </p:txBody>
      </p:sp>
      <p:sp>
        <p:nvSpPr>
          <p:cNvPr id="10" name="text-383">
            <a:extLst xmlns:a="http://schemas.openxmlformats.org/drawingml/2006/main">
              <a:ext uri="{FF2B5EF4-FFF2-40B4-BE49-F238E27FC236}">
                <a16:creationId xmlns:a16="http://schemas.microsoft.com/office/drawing/2014/main" id="{3A4B122A-C9CF-4A93-BD50-9153E28F0003}"/>
              </a:ext>
            </a:extLst>
          </p:cNvPr>
          <p:cNvSpPr>
            <a:spLocks xmlns:a="http://schemas.openxmlformats.org/drawingml/2006/main" noGrp="1"/>
          </p:cNvSpPr>
          <p:nvPr/>
        </p:nvSpPr>
        <p:spPr>
          <a:xfrm xmlns:a="http://schemas.openxmlformats.org/drawingml/2006/main">
            <a:off x="3471863"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67A6B"/>
                </a:solidFill>
                <a:latin typeface="Meiryo"/>
                <a:ea typeface="Meiryo"/>
                <a:cs typeface="Meiryo"/>
              </a:defRPr>
            </a:pPr>
            <a:r>
              <a:rPr sz="1650" b="1">
                <a:solidFill>
                  <a:srgbClr val="167A6B"/>
                </a:solidFill>
                <a:latin typeface="Meiryo"/>
                <a:ea typeface="Meiryo"/>
                <a:cs typeface="Meiryo"/>
              </a:rPr>
              <a:t>02</a:t>
            </a:r>
          </a:p>
        </p:txBody>
      </p:sp>
      <p:sp>
        <p:nvSpPr>
          <p:cNvPr id="11" name="node-384">
            <a:extLst xmlns:a="http://schemas.openxmlformats.org/drawingml/2006/main">
              <a:ext uri="{FF2B5EF4-FFF2-40B4-BE49-F238E27FC236}">
                <a16:creationId xmlns:a16="http://schemas.microsoft.com/office/drawing/2014/main" id="{2490E659-02BC-4FCD-AD94-3129031FFFF2}"/>
              </a:ext>
            </a:extLst>
          </p:cNvPr>
          <p:cNvSpPr>
            <a:spLocks xmlns:a="http://schemas.openxmlformats.org/drawingml/2006/main" noGrp="1"/>
          </p:cNvSpPr>
          <p:nvPr/>
        </p:nvSpPr>
        <p:spPr>
          <a:xfrm xmlns:a="http://schemas.openxmlformats.org/drawingml/2006/main">
            <a:off x="3471863"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候補をつくる</a:t>
            </a:r>
          </a:p>
        </p:txBody>
      </p:sp>
      <p:sp>
        <p:nvSpPr>
          <p:cNvPr id="12" name="text-385">
            <a:extLst xmlns:a="http://schemas.openxmlformats.org/drawingml/2006/main">
              <a:ext uri="{FF2B5EF4-FFF2-40B4-BE49-F238E27FC236}">
                <a16:creationId xmlns:a16="http://schemas.microsoft.com/office/drawing/2014/main" id="{6881FD3B-C04A-4214-8F28-79C658425BED}"/>
              </a:ext>
            </a:extLst>
          </p:cNvPr>
          <p:cNvSpPr>
            <a:spLocks xmlns:a="http://schemas.openxmlformats.org/drawingml/2006/main" noGrp="1"/>
          </p:cNvSpPr>
          <p:nvPr/>
        </p:nvSpPr>
        <p:spPr>
          <a:xfrm xmlns:a="http://schemas.openxmlformats.org/drawingml/2006/main">
            <a:off x="3471863"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AIが項目と関連を提案</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初期状態はproposed</a:t>
            </a:r>
          </a:p>
        </p:txBody>
      </p:sp>
      <p:sp>
        <p:nvSpPr>
          <p:cNvPr id="13" name="text-386">
            <a:extLst xmlns:a="http://schemas.openxmlformats.org/drawingml/2006/main">
              <a:ext uri="{FF2B5EF4-FFF2-40B4-BE49-F238E27FC236}">
                <a16:creationId xmlns:a16="http://schemas.microsoft.com/office/drawing/2014/main" id="{C97D5D03-9DC8-440B-B755-C63B2BC7FE7E}"/>
              </a:ext>
            </a:extLst>
          </p:cNvPr>
          <p:cNvSpPr>
            <a:spLocks xmlns:a="http://schemas.openxmlformats.org/drawingml/2006/main" noGrp="1"/>
          </p:cNvSpPr>
          <p:nvPr/>
        </p:nvSpPr>
        <p:spPr>
          <a:xfrm xmlns:a="http://schemas.openxmlformats.org/drawingml/2006/main">
            <a:off x="6257925"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67A6B"/>
                </a:solidFill>
                <a:latin typeface="Meiryo"/>
                <a:ea typeface="Meiryo"/>
                <a:cs typeface="Meiryo"/>
              </a:defRPr>
            </a:pPr>
            <a:r>
              <a:rPr sz="1650" b="1">
                <a:solidFill>
                  <a:srgbClr val="167A6B"/>
                </a:solidFill>
                <a:latin typeface="Meiryo"/>
                <a:ea typeface="Meiryo"/>
                <a:cs typeface="Meiryo"/>
              </a:rPr>
              <a:t>03</a:t>
            </a:r>
          </a:p>
        </p:txBody>
      </p:sp>
      <p:sp>
        <p:nvSpPr>
          <p:cNvPr id="14" name="node-387">
            <a:extLst xmlns:a="http://schemas.openxmlformats.org/drawingml/2006/main">
              <a:ext uri="{FF2B5EF4-FFF2-40B4-BE49-F238E27FC236}">
                <a16:creationId xmlns:a16="http://schemas.microsoft.com/office/drawing/2014/main" id="{EDC5D1FB-4225-4F56-B82C-2A3B2542C903}"/>
              </a:ext>
            </a:extLst>
          </p:cNvPr>
          <p:cNvSpPr>
            <a:spLocks xmlns:a="http://schemas.openxmlformats.org/drawingml/2006/main" noGrp="1"/>
          </p:cNvSpPr>
          <p:nvPr/>
        </p:nvSpPr>
        <p:spPr>
          <a:xfrm xmlns:a="http://schemas.openxmlformats.org/drawingml/2006/main">
            <a:off x="6257925"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人間が確認</a:t>
            </a:r>
          </a:p>
        </p:txBody>
      </p:sp>
      <p:sp>
        <p:nvSpPr>
          <p:cNvPr id="15" name="text-388">
            <a:extLst xmlns:a="http://schemas.openxmlformats.org/drawingml/2006/main">
              <a:ext uri="{FF2B5EF4-FFF2-40B4-BE49-F238E27FC236}">
                <a16:creationId xmlns:a16="http://schemas.microsoft.com/office/drawing/2014/main" id="{0C3C48C3-E65F-45F9-BDCF-6E9061F935F7}"/>
              </a:ext>
            </a:extLst>
          </p:cNvPr>
          <p:cNvSpPr>
            <a:spLocks xmlns:a="http://schemas.openxmlformats.org/drawingml/2006/main" noGrp="1"/>
          </p:cNvSpPr>
          <p:nvPr/>
        </p:nvSpPr>
        <p:spPr>
          <a:xfrm xmlns:a="http://schemas.openxmlformats.org/drawingml/2006/main">
            <a:off x="6257925"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承認・棄却・廃止</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を人間が判断</a:t>
            </a:r>
          </a:p>
        </p:txBody>
      </p:sp>
      <p:sp>
        <p:nvSpPr>
          <p:cNvPr id="16" name="text-389">
            <a:extLst xmlns:a="http://schemas.openxmlformats.org/drawingml/2006/main">
              <a:ext uri="{FF2B5EF4-FFF2-40B4-BE49-F238E27FC236}">
                <a16:creationId xmlns:a16="http://schemas.microsoft.com/office/drawing/2014/main" id="{752B9E44-4F14-4CFA-A4A0-DE95BFA16547}"/>
              </a:ext>
            </a:extLst>
          </p:cNvPr>
          <p:cNvSpPr>
            <a:spLocks xmlns:a="http://schemas.openxmlformats.org/drawingml/2006/main" noGrp="1"/>
          </p:cNvSpPr>
          <p:nvPr/>
        </p:nvSpPr>
        <p:spPr>
          <a:xfrm xmlns:a="http://schemas.openxmlformats.org/drawingml/2006/main">
            <a:off x="9043988"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67A6B"/>
                </a:solidFill>
                <a:latin typeface="Meiryo"/>
                <a:ea typeface="Meiryo"/>
                <a:cs typeface="Meiryo"/>
              </a:defRPr>
            </a:pPr>
            <a:r>
              <a:rPr sz="1650" b="1">
                <a:solidFill>
                  <a:srgbClr val="167A6B"/>
                </a:solidFill>
                <a:latin typeface="Meiryo"/>
                <a:ea typeface="Meiryo"/>
                <a:cs typeface="Meiryo"/>
              </a:rPr>
              <a:t>04</a:t>
            </a:r>
          </a:p>
        </p:txBody>
      </p:sp>
      <p:sp>
        <p:nvSpPr>
          <p:cNvPr id="17" name="node-390">
            <a:extLst xmlns:a="http://schemas.openxmlformats.org/drawingml/2006/main">
              <a:ext uri="{FF2B5EF4-FFF2-40B4-BE49-F238E27FC236}">
                <a16:creationId xmlns:a16="http://schemas.microsoft.com/office/drawing/2014/main" id="{5B0FC23C-B686-43A6-A24B-CF12E61ADDF7}"/>
              </a:ext>
            </a:extLst>
          </p:cNvPr>
          <p:cNvSpPr>
            <a:spLocks xmlns:a="http://schemas.openxmlformats.org/drawingml/2006/main" noGrp="1"/>
          </p:cNvSpPr>
          <p:nvPr/>
        </p:nvSpPr>
        <p:spPr>
          <a:xfrm xmlns:a="http://schemas.openxmlformats.org/drawingml/2006/main">
            <a:off x="9043988"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検証して使う</a:t>
            </a:r>
          </a:p>
        </p:txBody>
      </p:sp>
      <p:sp>
        <p:nvSpPr>
          <p:cNvPr id="18" name="text-391">
            <a:extLst xmlns:a="http://schemas.openxmlformats.org/drawingml/2006/main">
              <a:ext uri="{FF2B5EF4-FFF2-40B4-BE49-F238E27FC236}">
                <a16:creationId xmlns:a16="http://schemas.microsoft.com/office/drawing/2014/main" id="{13770089-BB72-43D1-8EA6-E783D22E858A}"/>
              </a:ext>
            </a:extLst>
          </p:cNvPr>
          <p:cNvSpPr>
            <a:spLocks xmlns:a="http://schemas.openxmlformats.org/drawingml/2006/main" noGrp="1"/>
          </p:cNvSpPr>
          <p:nvPr/>
        </p:nvSpPr>
        <p:spPr>
          <a:xfrm xmlns:a="http://schemas.openxmlformats.org/drawingml/2006/main">
            <a:off x="9043988"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gateで検証</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承認項目を入力へ反映</a:t>
            </a:r>
          </a:p>
        </p:txBody>
      </p:sp>
      <p:cxnSp>
        <p:nvCxnSpPr>
          <p:cNvPr id="40" name=""/>
          <p:cNvCxnSpPr>
            <a:stCxn xmlns:a="http://schemas.openxmlformats.org/drawingml/2006/main" id="8" idx="3"/>
            <a:endCxn xmlns:a="http://schemas.openxmlformats.org/drawingml/2006/main" id="11" idx="1"/>
          </p:cNvCxnSpPr>
          <p:nvPr/>
        </p:nvCxnSpPr>
        <p:spPr>
          <a:xfrm xmlns:a="http://schemas.openxmlformats.org/drawingml/2006/main">
            <a:off x="3148013"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1" name=""/>
          <p:cNvCxnSpPr>
            <a:stCxn xmlns:a="http://schemas.openxmlformats.org/drawingml/2006/main" id="11" idx="3"/>
            <a:endCxn xmlns:a="http://schemas.openxmlformats.org/drawingml/2006/main" id="14" idx="1"/>
          </p:cNvCxnSpPr>
          <p:nvPr/>
        </p:nvCxnSpPr>
        <p:spPr>
          <a:xfrm xmlns:a="http://schemas.openxmlformats.org/drawingml/2006/main">
            <a:off x="5934076" y="3338513"/>
            <a:ext cx="323849"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2" name=""/>
          <p:cNvCxnSpPr>
            <a:stCxn xmlns:a="http://schemas.openxmlformats.org/drawingml/2006/main" id="14" idx="3"/>
            <a:endCxn xmlns:a="http://schemas.openxmlformats.org/drawingml/2006/main" id="17" idx="1"/>
          </p:cNvCxnSpPr>
          <p:nvPr/>
        </p:nvCxnSpPr>
        <p:spPr>
          <a:xfrm xmlns:a="http://schemas.openxmlformats.org/drawingml/2006/main">
            <a:off x="8720138"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30920488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392">
            <a:extLst xmlns:a="http://schemas.openxmlformats.org/drawingml/2006/main">
              <a:ext uri="{FF2B5EF4-FFF2-40B4-BE49-F238E27FC236}">
                <a16:creationId xmlns:a16="http://schemas.microsoft.com/office/drawing/2014/main" id="{BFBA7173-79EE-4B8F-9CB8-5E6D92E2F797}"/>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67A6B"/>
                </a:solidFill>
                <a:latin typeface="Meiryo"/>
                <a:ea typeface="Meiryo"/>
                <a:cs typeface="Meiryo"/>
              </a:defRPr>
            </a:pPr>
            <a:r>
              <a:rPr sz="1425" b="1">
                <a:solidFill>
                  <a:srgbClr val="167A6B"/>
                </a:solidFill>
                <a:latin typeface="Meiryo"/>
                <a:ea typeface="Meiryo"/>
                <a:cs typeface="Meiryo"/>
              </a:rPr>
              <a:t>コード・文書整合</a:t>
            </a:r>
          </a:p>
        </p:txBody>
      </p:sp>
      <p:sp>
        <p:nvSpPr>
          <p:cNvPr id="2" name="text-393">
            <a:extLst xmlns:a="http://schemas.openxmlformats.org/drawingml/2006/main">
              <a:ext uri="{FF2B5EF4-FFF2-40B4-BE49-F238E27FC236}">
                <a16:creationId xmlns:a16="http://schemas.microsoft.com/office/drawing/2014/main" id="{BCD06055-61A3-43AF-813A-239D291D147F}"/>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Bobへ渡すレビュー資料</a:t>
            </a:r>
          </a:p>
        </p:txBody>
      </p:sp>
      <p:sp>
        <p:nvSpPr>
          <p:cNvPr id="3" name="text-394">
            <a:extLst xmlns:a="http://schemas.openxmlformats.org/drawingml/2006/main">
              <a:ext uri="{FF2B5EF4-FFF2-40B4-BE49-F238E27FC236}">
                <a16:creationId xmlns:a16="http://schemas.microsoft.com/office/drawing/2014/main" id="{2E8EC9C9-A7DA-40BA-BC55-4D72C18EB1B0}"/>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何を比較し、どの根拠を渡したかを残す</a:t>
            </a:r>
          </a:p>
        </p:txBody>
      </p:sp>
      <p:sp>
        <p:nvSpPr>
          <p:cNvPr id="4" name="rule-395">
            <a:extLst xmlns:a="http://schemas.openxmlformats.org/drawingml/2006/main">
              <a:ext uri="{FF2B5EF4-FFF2-40B4-BE49-F238E27FC236}">
                <a16:creationId xmlns:a16="http://schemas.microsoft.com/office/drawing/2014/main" id="{3B3AC080-9D89-4946-8B47-73BD6B68706F}"/>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396">
            <a:extLst xmlns:a="http://schemas.openxmlformats.org/drawingml/2006/main">
              <a:ext uri="{FF2B5EF4-FFF2-40B4-BE49-F238E27FC236}">
                <a16:creationId xmlns:a16="http://schemas.microsoft.com/office/drawing/2014/main" id="{26E722BD-5043-4E9F-87E2-41187B90EBA4}"/>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A6B"/>
                </a:solidFill>
                <a:latin typeface="Meiryo"/>
                <a:ea typeface="Meiryo"/>
                <a:cs typeface="Meiryo"/>
              </a:defRPr>
            </a:pPr>
            <a:r>
              <a:rPr sz="1800" b="1">
                <a:solidFill>
                  <a:srgbClr val="167A6B"/>
                </a:solidFill>
                <a:latin typeface="Meiryo"/>
                <a:ea typeface="Meiryo"/>
                <a:cs typeface="Meiryo"/>
              </a:rPr>
              <a:t>投入内容と生成情報をファイルで残し、後から参照できるようにする</a:t>
            </a:r>
          </a:p>
        </p:txBody>
      </p:sp>
      <p:sp>
        <p:nvSpPr>
          <p:cNvPr id="6" name="text-397">
            <a:extLst xmlns:a="http://schemas.openxmlformats.org/drawingml/2006/main">
              <a:ext uri="{FF2B5EF4-FFF2-40B4-BE49-F238E27FC236}">
                <a16:creationId xmlns:a16="http://schemas.microsoft.com/office/drawing/2014/main" id="{33B9B9F1-139F-4502-9ABF-209AC67844D8}"/>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30</a:t>
            </a:r>
          </a:p>
        </p:txBody>
      </p:sp>
      <p:sp>
        <p:nvSpPr>
          <p:cNvPr id="7" name="node-398">
            <a:extLst xmlns:a="http://schemas.openxmlformats.org/drawingml/2006/main">
              <a:ext uri="{FF2B5EF4-FFF2-40B4-BE49-F238E27FC236}">
                <a16:creationId xmlns:a16="http://schemas.microsoft.com/office/drawing/2014/main" id="{ED8AFC3D-DEA5-4678-8BD4-F2EEC08F1BEE}"/>
              </a:ext>
            </a:extLst>
          </p:cNvPr>
          <p:cNvSpPr>
            <a:spLocks xmlns:a="http://schemas.openxmlformats.org/drawingml/2006/main" noGrp="1"/>
          </p:cNvSpPr>
          <p:nvPr/>
        </p:nvSpPr>
        <p:spPr>
          <a:xfrm xmlns:a="http://schemas.openxmlformats.org/drawingml/2006/main">
            <a:off x="685800" y="2190750"/>
            <a:ext cx="3238500" cy="952500"/>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条件と目録</a:t>
            </a:r>
          </a:p>
        </p:txBody>
      </p:sp>
      <p:sp>
        <p:nvSpPr>
          <p:cNvPr id="8" name="text-399">
            <a:extLst xmlns:a="http://schemas.openxmlformats.org/drawingml/2006/main">
              <a:ext uri="{FF2B5EF4-FFF2-40B4-BE49-F238E27FC236}">
                <a16:creationId xmlns:a16="http://schemas.microsoft.com/office/drawing/2014/main" id="{2DC75023-9462-45F4-A797-5A839142B65E}"/>
              </a:ext>
            </a:extLst>
          </p:cNvPr>
          <p:cNvSpPr>
            <a:spLocks xmlns:a="http://schemas.openxmlformats.org/drawingml/2006/main" noGrp="1"/>
          </p:cNvSpPr>
          <p:nvPr/>
        </p:nvSpPr>
        <p:spPr>
          <a:xfrm xmlns:a="http://schemas.openxmlformats.org/drawingml/2006/main">
            <a:off x="4314825" y="2238375"/>
            <a:ext cx="7191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入力条件・変更ファイル・根拠IDの一覧</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manifestに生成情報と入力ハッシュ</a:t>
            </a:r>
          </a:p>
        </p:txBody>
      </p:sp>
      <p:sp>
        <p:nvSpPr>
          <p:cNvPr id="9" name="node-400">
            <a:extLst xmlns:a="http://schemas.openxmlformats.org/drawingml/2006/main">
              <a:ext uri="{FF2B5EF4-FFF2-40B4-BE49-F238E27FC236}">
                <a16:creationId xmlns:a16="http://schemas.microsoft.com/office/drawing/2014/main" id="{B69BE32C-69C2-441C-9624-CAAAEEAE6656}"/>
              </a:ext>
            </a:extLst>
          </p:cNvPr>
          <p:cNvSpPr>
            <a:spLocks xmlns:a="http://schemas.openxmlformats.org/drawingml/2006/main" noGrp="1"/>
          </p:cNvSpPr>
          <p:nvPr/>
        </p:nvSpPr>
        <p:spPr>
          <a:xfrm xmlns:a="http://schemas.openxmlformats.org/drawingml/2006/main">
            <a:off x="685800" y="3295650"/>
            <a:ext cx="3238500" cy="952500"/>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比較に使う根拠</a:t>
            </a:r>
          </a:p>
        </p:txBody>
      </p:sp>
      <p:sp>
        <p:nvSpPr>
          <p:cNvPr id="10" name="text-401">
            <a:extLst xmlns:a="http://schemas.openxmlformats.org/drawingml/2006/main">
              <a:ext uri="{FF2B5EF4-FFF2-40B4-BE49-F238E27FC236}">
                <a16:creationId xmlns:a16="http://schemas.microsoft.com/office/drawing/2014/main" id="{1F25ADDB-4208-4C97-B8FF-1599A4DAEDE1}"/>
              </a:ext>
            </a:extLst>
          </p:cNvPr>
          <p:cNvSpPr>
            <a:spLocks xmlns:a="http://schemas.openxmlformats.org/drawingml/2006/main" noGrp="1"/>
          </p:cNvSpPr>
          <p:nvPr/>
        </p:nvSpPr>
        <p:spPr>
          <a:xfrm xmlns:a="http://schemas.openxmlformats.org/drawingml/2006/main">
            <a:off x="4314825" y="3343275"/>
            <a:ext cx="7191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文書抜粋・差分・コード断片・対応候補</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抽出や切り詰めの警告も記録</a:t>
            </a:r>
          </a:p>
        </p:txBody>
      </p:sp>
      <p:cxnSp>
        <p:nvCxnSpPr>
          <p:cNvPr id="25" name=""/>
          <p:cNvCxnSpPr>
            <a:stCxn xmlns:a="http://schemas.openxmlformats.org/drawingml/2006/main" id="7" idx="2"/>
            <a:endCxn xmlns:a="http://schemas.openxmlformats.org/drawingml/2006/main" id="9" idx="0"/>
          </p:cNvCxnSpPr>
          <p:nvPr/>
        </p:nvCxnSpPr>
        <p:spPr>
          <a:xfrm xmlns:a="http://schemas.openxmlformats.org/drawingml/2006/main">
            <a:off x="2305050" y="3143250"/>
            <a:ext cx="0" cy="15240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
        <p:nvSpPr>
          <p:cNvPr id="12" name="node-402">
            <a:extLst xmlns:a="http://schemas.openxmlformats.org/drawingml/2006/main">
              <a:ext uri="{FF2B5EF4-FFF2-40B4-BE49-F238E27FC236}">
                <a16:creationId xmlns:a16="http://schemas.microsoft.com/office/drawing/2014/main" id="{380390FF-5F67-4A47-A7A5-EED6EB26B359}"/>
              </a:ext>
            </a:extLst>
          </p:cNvPr>
          <p:cNvSpPr>
            <a:spLocks xmlns:a="http://schemas.openxmlformats.org/drawingml/2006/main" noGrp="1"/>
          </p:cNvSpPr>
          <p:nvPr/>
        </p:nvSpPr>
        <p:spPr>
          <a:xfrm xmlns:a="http://schemas.openxmlformats.org/drawingml/2006/main">
            <a:off x="685800" y="4400550"/>
            <a:ext cx="3238500" cy="952500"/>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Bobへの入力</a:t>
            </a:r>
          </a:p>
        </p:txBody>
      </p:sp>
      <p:sp>
        <p:nvSpPr>
          <p:cNvPr id="13" name="text-403">
            <a:extLst xmlns:a="http://schemas.openxmlformats.org/drawingml/2006/main">
              <a:ext uri="{FF2B5EF4-FFF2-40B4-BE49-F238E27FC236}">
                <a16:creationId xmlns:a16="http://schemas.microsoft.com/office/drawing/2014/main" id="{5CEBDB61-58AE-4A00-A85F-9A6070ECAB01}"/>
              </a:ext>
            </a:extLst>
          </p:cNvPr>
          <p:cNvSpPr>
            <a:spLocks xmlns:a="http://schemas.openxmlformats.org/drawingml/2006/main" noGrp="1"/>
          </p:cNvSpPr>
          <p:nvPr/>
        </p:nvSpPr>
        <p:spPr>
          <a:xfrm xmlns:a="http://schemas.openxmlformats.org/drawingml/2006/main">
            <a:off x="4314825" y="4448175"/>
            <a:ext cx="7191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promptと根拠をbob-input.mdへ集約</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生成した内容をプレビューして確認</a:t>
            </a:r>
          </a:p>
        </p:txBody>
      </p:sp>
      <p:cxnSp>
        <p:nvCxnSpPr>
          <p:cNvPr id="28" name=""/>
          <p:cNvCxnSpPr>
            <a:stCxn xmlns:a="http://schemas.openxmlformats.org/drawingml/2006/main" id="9" idx="2"/>
            <a:endCxn xmlns:a="http://schemas.openxmlformats.org/drawingml/2006/main" id="12" idx="0"/>
          </p:cNvCxnSpPr>
          <p:nvPr/>
        </p:nvCxnSpPr>
        <p:spPr>
          <a:xfrm xmlns:a="http://schemas.openxmlformats.org/drawingml/2006/main">
            <a:off x="2305050" y="4248150"/>
            <a:ext cx="0" cy="15240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158146530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404">
            <a:extLst xmlns:a="http://schemas.openxmlformats.org/drawingml/2006/main">
              <a:ext uri="{FF2B5EF4-FFF2-40B4-BE49-F238E27FC236}">
                <a16:creationId xmlns:a16="http://schemas.microsoft.com/office/drawing/2014/main" id="{659A3328-A2CC-411D-92F2-A6BF72A950B3}"/>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67A6B"/>
                </a:solidFill>
                <a:latin typeface="Meiryo"/>
                <a:ea typeface="Meiryo"/>
                <a:cs typeface="Meiryo"/>
              </a:defRPr>
            </a:pPr>
            <a:r>
              <a:rPr sz="1425" b="1">
                <a:solidFill>
                  <a:srgbClr val="167A6B"/>
                </a:solidFill>
                <a:latin typeface="Meiryo"/>
                <a:ea typeface="Meiryo"/>
                <a:cs typeface="Meiryo"/>
              </a:rPr>
              <a:t>コード・文書整合</a:t>
            </a:r>
          </a:p>
        </p:txBody>
      </p:sp>
      <p:sp>
        <p:nvSpPr>
          <p:cNvPr id="2" name="text-405">
            <a:extLst xmlns:a="http://schemas.openxmlformats.org/drawingml/2006/main">
              <a:ext uri="{FF2B5EF4-FFF2-40B4-BE49-F238E27FC236}">
                <a16:creationId xmlns:a16="http://schemas.microsoft.com/office/drawing/2014/main" id="{DA91E37D-1306-411A-A52E-29CD7935115B}"/>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Bob出力の形式・根拠ID検証</a:t>
            </a:r>
          </a:p>
        </p:txBody>
      </p:sp>
      <p:sp>
        <p:nvSpPr>
          <p:cNvPr id="3" name="text-406">
            <a:extLst xmlns:a="http://schemas.openxmlformats.org/drawingml/2006/main">
              <a:ext uri="{FF2B5EF4-FFF2-40B4-BE49-F238E27FC236}">
                <a16:creationId xmlns:a16="http://schemas.microsoft.com/office/drawing/2014/main" id="{19C64B9B-F54D-4AB0-9407-D1805AEA6710}"/>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検証結果を確認して、指摘の判断へ進む</a:t>
            </a:r>
          </a:p>
        </p:txBody>
      </p:sp>
      <p:sp>
        <p:nvSpPr>
          <p:cNvPr id="4" name="rule-407">
            <a:extLst xmlns:a="http://schemas.openxmlformats.org/drawingml/2006/main">
              <a:ext uri="{FF2B5EF4-FFF2-40B4-BE49-F238E27FC236}">
                <a16:creationId xmlns:a16="http://schemas.microsoft.com/office/drawing/2014/main" id="{DA572880-6015-4371-BA2D-E008E5D39582}"/>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408">
            <a:extLst xmlns:a="http://schemas.openxmlformats.org/drawingml/2006/main">
              <a:ext uri="{FF2B5EF4-FFF2-40B4-BE49-F238E27FC236}">
                <a16:creationId xmlns:a16="http://schemas.microsoft.com/office/drawing/2014/main" id="{0FDE9016-9961-4C7E-908E-43DC34FD9AD3}"/>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A6B"/>
                </a:solidFill>
                <a:latin typeface="Meiryo"/>
                <a:ea typeface="Meiryo"/>
                <a:cs typeface="Meiryo"/>
              </a:defRPr>
            </a:pPr>
            <a:r>
              <a:rPr sz="1800" b="1">
                <a:solidFill>
                  <a:srgbClr val="167A6B"/>
                </a:solidFill>
                <a:latin typeface="Meiryo"/>
                <a:ea typeface="Meiryo"/>
                <a:cs typeface="Meiryo"/>
              </a:rPr>
              <a:t>機械検証は形式と参照の確認。指摘内容の妥当性は人間が判断する</a:t>
            </a:r>
          </a:p>
        </p:txBody>
      </p:sp>
      <p:sp>
        <p:nvSpPr>
          <p:cNvPr id="6" name="text-409">
            <a:extLst xmlns:a="http://schemas.openxmlformats.org/drawingml/2006/main">
              <a:ext uri="{FF2B5EF4-FFF2-40B4-BE49-F238E27FC236}">
                <a16:creationId xmlns:a16="http://schemas.microsoft.com/office/drawing/2014/main" id="{E3616E93-EB11-4170-AB1D-37D8A73D8EB1}"/>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31</a:t>
            </a:r>
          </a:p>
        </p:txBody>
      </p:sp>
      <p:sp>
        <p:nvSpPr>
          <p:cNvPr id="7" name="text-410">
            <a:extLst xmlns:a="http://schemas.openxmlformats.org/drawingml/2006/main">
              <a:ext uri="{FF2B5EF4-FFF2-40B4-BE49-F238E27FC236}">
                <a16:creationId xmlns:a16="http://schemas.microsoft.com/office/drawing/2014/main" id="{9A723444-195C-451E-A47D-579F0214CFB4}"/>
              </a:ext>
            </a:extLst>
          </p:cNvPr>
          <p:cNvSpPr>
            <a:spLocks xmlns:a="http://schemas.openxmlformats.org/drawingml/2006/main" noGrp="1"/>
          </p:cNvSpPr>
          <p:nvPr/>
        </p:nvSpPr>
        <p:spPr>
          <a:xfrm xmlns:a="http://schemas.openxmlformats.org/drawingml/2006/main">
            <a:off x="685800"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67A6B"/>
                </a:solidFill>
                <a:latin typeface="Meiryo"/>
                <a:ea typeface="Meiryo"/>
                <a:cs typeface="Meiryo"/>
              </a:defRPr>
            </a:pPr>
            <a:r>
              <a:rPr sz="1650" b="1">
                <a:solidFill>
                  <a:srgbClr val="167A6B"/>
                </a:solidFill>
                <a:latin typeface="Meiryo"/>
                <a:ea typeface="Meiryo"/>
                <a:cs typeface="Meiryo"/>
              </a:rPr>
              <a:t>01</a:t>
            </a:r>
          </a:p>
        </p:txBody>
      </p:sp>
      <p:sp>
        <p:nvSpPr>
          <p:cNvPr id="8" name="node-411">
            <a:extLst xmlns:a="http://schemas.openxmlformats.org/drawingml/2006/main">
              <a:ext uri="{FF2B5EF4-FFF2-40B4-BE49-F238E27FC236}">
                <a16:creationId xmlns:a16="http://schemas.microsoft.com/office/drawing/2014/main" id="{B8211A08-82E2-4199-8905-8C036135E4D4}"/>
              </a:ext>
            </a:extLst>
          </p:cNvPr>
          <p:cNvSpPr>
            <a:spLocks xmlns:a="http://schemas.openxmlformats.org/drawingml/2006/main" noGrp="1"/>
          </p:cNvSpPr>
          <p:nvPr/>
        </p:nvSpPr>
        <p:spPr>
          <a:xfrm xmlns:a="http://schemas.openxmlformats.org/drawingml/2006/main">
            <a:off x="685800"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出力を取り込む</a:t>
            </a:r>
          </a:p>
        </p:txBody>
      </p:sp>
      <p:sp>
        <p:nvSpPr>
          <p:cNvPr id="9" name="text-412">
            <a:extLst xmlns:a="http://schemas.openxmlformats.org/drawingml/2006/main">
              <a:ext uri="{FF2B5EF4-FFF2-40B4-BE49-F238E27FC236}">
                <a16:creationId xmlns:a16="http://schemas.microsoft.com/office/drawing/2014/main" id="{8491B34F-D87F-476A-A107-32C0A2CEC08C}"/>
              </a:ext>
            </a:extLst>
          </p:cNvPr>
          <p:cNvSpPr>
            <a:spLocks xmlns:a="http://schemas.openxmlformats.org/drawingml/2006/main" noGrp="1"/>
          </p:cNvSpPr>
          <p:nvPr/>
        </p:nvSpPr>
        <p:spPr>
          <a:xfrm xmlns:a="http://schemas.openxmlformats.org/drawingml/2006/main">
            <a:off x="685800"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Bob出力のYAML</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を取り込む</a:t>
            </a:r>
          </a:p>
        </p:txBody>
      </p:sp>
      <p:sp>
        <p:nvSpPr>
          <p:cNvPr id="10" name="text-413">
            <a:extLst xmlns:a="http://schemas.openxmlformats.org/drawingml/2006/main">
              <a:ext uri="{FF2B5EF4-FFF2-40B4-BE49-F238E27FC236}">
                <a16:creationId xmlns:a16="http://schemas.microsoft.com/office/drawing/2014/main" id="{3CDD6935-0DBB-4193-9371-10AC336FD146}"/>
              </a:ext>
            </a:extLst>
          </p:cNvPr>
          <p:cNvSpPr>
            <a:spLocks xmlns:a="http://schemas.openxmlformats.org/drawingml/2006/main" noGrp="1"/>
          </p:cNvSpPr>
          <p:nvPr/>
        </p:nvSpPr>
        <p:spPr>
          <a:xfrm xmlns:a="http://schemas.openxmlformats.org/drawingml/2006/main">
            <a:off x="3471863"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67A6B"/>
                </a:solidFill>
                <a:latin typeface="Meiryo"/>
                <a:ea typeface="Meiryo"/>
                <a:cs typeface="Meiryo"/>
              </a:defRPr>
            </a:pPr>
            <a:r>
              <a:rPr sz="1650" b="1">
                <a:solidFill>
                  <a:srgbClr val="167A6B"/>
                </a:solidFill>
                <a:latin typeface="Meiryo"/>
                <a:ea typeface="Meiryo"/>
                <a:cs typeface="Meiryo"/>
              </a:rPr>
              <a:t>02</a:t>
            </a:r>
          </a:p>
        </p:txBody>
      </p:sp>
      <p:sp>
        <p:nvSpPr>
          <p:cNvPr id="11" name="node-414">
            <a:extLst xmlns:a="http://schemas.openxmlformats.org/drawingml/2006/main">
              <a:ext uri="{FF2B5EF4-FFF2-40B4-BE49-F238E27FC236}">
                <a16:creationId xmlns:a16="http://schemas.microsoft.com/office/drawing/2014/main" id="{F0AAC8CE-3AC1-4DAF-9904-ED10AD6170AD}"/>
              </a:ext>
            </a:extLst>
          </p:cNvPr>
          <p:cNvSpPr>
            <a:spLocks xmlns:a="http://schemas.openxmlformats.org/drawingml/2006/main" noGrp="1"/>
          </p:cNvSpPr>
          <p:nvPr/>
        </p:nvSpPr>
        <p:spPr>
          <a:xfrm xmlns:a="http://schemas.openxmlformats.org/drawingml/2006/main">
            <a:off x="3471863"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形式を検証</a:t>
            </a:r>
          </a:p>
        </p:txBody>
      </p:sp>
      <p:sp>
        <p:nvSpPr>
          <p:cNvPr id="12" name="text-415">
            <a:extLst xmlns:a="http://schemas.openxmlformats.org/drawingml/2006/main">
              <a:ext uri="{FF2B5EF4-FFF2-40B4-BE49-F238E27FC236}">
                <a16:creationId xmlns:a16="http://schemas.microsoft.com/office/drawing/2014/main" id="{4ED91DF6-57A9-4055-B442-6B46905264CB}"/>
              </a:ext>
            </a:extLst>
          </p:cNvPr>
          <p:cNvSpPr>
            <a:spLocks xmlns:a="http://schemas.openxmlformats.org/drawingml/2006/main" noGrp="1"/>
          </p:cNvSpPr>
          <p:nvPr/>
        </p:nvSpPr>
        <p:spPr>
          <a:xfrm xmlns:a="http://schemas.openxmlformats.org/drawingml/2006/main">
            <a:off x="3471863"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schemaに沿う</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項目・値か確認</a:t>
            </a:r>
          </a:p>
        </p:txBody>
      </p:sp>
      <p:sp>
        <p:nvSpPr>
          <p:cNvPr id="13" name="text-416">
            <a:extLst xmlns:a="http://schemas.openxmlformats.org/drawingml/2006/main">
              <a:ext uri="{FF2B5EF4-FFF2-40B4-BE49-F238E27FC236}">
                <a16:creationId xmlns:a16="http://schemas.microsoft.com/office/drawing/2014/main" id="{C2970961-ADBD-481D-B92F-805BC2B1CBD9}"/>
              </a:ext>
            </a:extLst>
          </p:cNvPr>
          <p:cNvSpPr>
            <a:spLocks xmlns:a="http://schemas.openxmlformats.org/drawingml/2006/main" noGrp="1"/>
          </p:cNvSpPr>
          <p:nvPr/>
        </p:nvSpPr>
        <p:spPr>
          <a:xfrm xmlns:a="http://schemas.openxmlformats.org/drawingml/2006/main">
            <a:off x="6257925"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67A6B"/>
                </a:solidFill>
                <a:latin typeface="Meiryo"/>
                <a:ea typeface="Meiryo"/>
                <a:cs typeface="Meiryo"/>
              </a:defRPr>
            </a:pPr>
            <a:r>
              <a:rPr sz="1650" b="1">
                <a:solidFill>
                  <a:srgbClr val="167A6B"/>
                </a:solidFill>
                <a:latin typeface="Meiryo"/>
                <a:ea typeface="Meiryo"/>
                <a:cs typeface="Meiryo"/>
              </a:rPr>
              <a:t>03</a:t>
            </a:r>
          </a:p>
        </p:txBody>
      </p:sp>
      <p:sp>
        <p:nvSpPr>
          <p:cNvPr id="14" name="node-417">
            <a:extLst xmlns:a="http://schemas.openxmlformats.org/drawingml/2006/main">
              <a:ext uri="{FF2B5EF4-FFF2-40B4-BE49-F238E27FC236}">
                <a16:creationId xmlns:a16="http://schemas.microsoft.com/office/drawing/2014/main" id="{6BD3826C-A9B6-40BA-9B5C-0DD0DD96C5B0}"/>
              </a:ext>
            </a:extLst>
          </p:cNvPr>
          <p:cNvSpPr>
            <a:spLocks xmlns:a="http://schemas.openxmlformats.org/drawingml/2006/main" noGrp="1"/>
          </p:cNvSpPr>
          <p:nvPr/>
        </p:nvSpPr>
        <p:spPr>
          <a:xfrm xmlns:a="http://schemas.openxmlformats.org/drawingml/2006/main">
            <a:off x="6257925"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根拠を照合</a:t>
            </a:r>
          </a:p>
        </p:txBody>
      </p:sp>
      <p:sp>
        <p:nvSpPr>
          <p:cNvPr id="15" name="text-418">
            <a:extLst xmlns:a="http://schemas.openxmlformats.org/drawingml/2006/main">
              <a:ext uri="{FF2B5EF4-FFF2-40B4-BE49-F238E27FC236}">
                <a16:creationId xmlns:a16="http://schemas.microsoft.com/office/drawing/2014/main" id="{25F6EB19-977E-4C3E-99A6-314F30503C58}"/>
              </a:ext>
            </a:extLst>
          </p:cNvPr>
          <p:cNvSpPr>
            <a:spLocks xmlns:a="http://schemas.openxmlformats.org/drawingml/2006/main" noGrp="1"/>
          </p:cNvSpPr>
          <p:nvPr/>
        </p:nvSpPr>
        <p:spPr>
          <a:xfrm xmlns:a="http://schemas.openxmlformats.org/drawingml/2006/main">
            <a:off x="6257925"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参照IDが根拠一覧に</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存在するか確認</a:t>
            </a:r>
          </a:p>
        </p:txBody>
      </p:sp>
      <p:sp>
        <p:nvSpPr>
          <p:cNvPr id="16" name="text-419">
            <a:extLst xmlns:a="http://schemas.openxmlformats.org/drawingml/2006/main">
              <a:ext uri="{FF2B5EF4-FFF2-40B4-BE49-F238E27FC236}">
                <a16:creationId xmlns:a16="http://schemas.microsoft.com/office/drawing/2014/main" id="{55EBD3DF-5955-410A-BCDC-CBF8D75A856C}"/>
              </a:ext>
            </a:extLst>
          </p:cNvPr>
          <p:cNvSpPr>
            <a:spLocks xmlns:a="http://schemas.openxmlformats.org/drawingml/2006/main" noGrp="1"/>
          </p:cNvSpPr>
          <p:nvPr/>
        </p:nvSpPr>
        <p:spPr>
          <a:xfrm xmlns:a="http://schemas.openxmlformats.org/drawingml/2006/main">
            <a:off x="9043988" y="2352675"/>
            <a:ext cx="2462213"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67A6B"/>
                </a:solidFill>
                <a:latin typeface="Meiryo"/>
                <a:ea typeface="Meiryo"/>
                <a:cs typeface="Meiryo"/>
              </a:defRPr>
            </a:pPr>
            <a:r>
              <a:rPr sz="1650" b="1">
                <a:solidFill>
                  <a:srgbClr val="167A6B"/>
                </a:solidFill>
                <a:latin typeface="Meiryo"/>
                <a:ea typeface="Meiryo"/>
                <a:cs typeface="Meiryo"/>
              </a:rPr>
              <a:t>04</a:t>
            </a:r>
          </a:p>
        </p:txBody>
      </p:sp>
      <p:sp>
        <p:nvSpPr>
          <p:cNvPr id="17" name="node-420">
            <a:extLst xmlns:a="http://schemas.openxmlformats.org/drawingml/2006/main">
              <a:ext uri="{FF2B5EF4-FFF2-40B4-BE49-F238E27FC236}">
                <a16:creationId xmlns:a16="http://schemas.microsoft.com/office/drawing/2014/main" id="{A524075C-0FB4-4EF8-8DE6-BCDB439AA22D}"/>
              </a:ext>
            </a:extLst>
          </p:cNvPr>
          <p:cNvSpPr>
            <a:spLocks xmlns:a="http://schemas.openxmlformats.org/drawingml/2006/main" noGrp="1"/>
          </p:cNvSpPr>
          <p:nvPr/>
        </p:nvSpPr>
        <p:spPr>
          <a:xfrm xmlns:a="http://schemas.openxmlformats.org/drawingml/2006/main">
            <a:off x="9043988" y="2876550"/>
            <a:ext cx="2462213"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167A6B"/>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167A6B"/>
                </a:solidFill>
                <a:latin typeface="Meiryo"/>
                <a:ea typeface="Meiryo"/>
                <a:cs typeface="Meiryo"/>
              </a:defRPr>
            </a:pPr>
            <a:r>
              <a:rPr sz="1950" b="1">
                <a:solidFill>
                  <a:srgbClr val="167A6B"/>
                </a:solidFill>
                <a:latin typeface="Meiryo"/>
                <a:ea typeface="Meiryo"/>
                <a:cs typeface="Meiryo"/>
              </a:rPr>
              <a:t>結果を確認</a:t>
            </a:r>
          </a:p>
        </p:txBody>
      </p:sp>
      <p:sp>
        <p:nvSpPr>
          <p:cNvPr id="18" name="text-421">
            <a:extLst xmlns:a="http://schemas.openxmlformats.org/drawingml/2006/main">
              <a:ext uri="{FF2B5EF4-FFF2-40B4-BE49-F238E27FC236}">
                <a16:creationId xmlns:a16="http://schemas.microsoft.com/office/drawing/2014/main" id="{B4975310-7014-4E5A-99A2-ECE75A6E8BF7}"/>
              </a:ext>
            </a:extLst>
          </p:cNvPr>
          <p:cNvSpPr>
            <a:spLocks xmlns:a="http://schemas.openxmlformats.org/drawingml/2006/main" noGrp="1"/>
          </p:cNvSpPr>
          <p:nvPr/>
        </p:nvSpPr>
        <p:spPr>
          <a:xfrm xmlns:a="http://schemas.openxmlformats.org/drawingml/2006/main">
            <a:off x="9043988" y="4076700"/>
            <a:ext cx="246221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元出力と正規化出力の</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検証結果を確認</a:t>
            </a:r>
          </a:p>
        </p:txBody>
      </p:sp>
      <p:cxnSp>
        <p:nvCxnSpPr>
          <p:cNvPr id="40" name=""/>
          <p:cNvCxnSpPr>
            <a:stCxn xmlns:a="http://schemas.openxmlformats.org/drawingml/2006/main" id="8" idx="3"/>
            <a:endCxn xmlns:a="http://schemas.openxmlformats.org/drawingml/2006/main" id="11" idx="1"/>
          </p:cNvCxnSpPr>
          <p:nvPr/>
        </p:nvCxnSpPr>
        <p:spPr>
          <a:xfrm xmlns:a="http://schemas.openxmlformats.org/drawingml/2006/main">
            <a:off x="3148013"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1" name=""/>
          <p:cNvCxnSpPr>
            <a:stCxn xmlns:a="http://schemas.openxmlformats.org/drawingml/2006/main" id="11" idx="3"/>
            <a:endCxn xmlns:a="http://schemas.openxmlformats.org/drawingml/2006/main" id="14" idx="1"/>
          </p:cNvCxnSpPr>
          <p:nvPr/>
        </p:nvCxnSpPr>
        <p:spPr>
          <a:xfrm xmlns:a="http://schemas.openxmlformats.org/drawingml/2006/main">
            <a:off x="5934076" y="3338513"/>
            <a:ext cx="323849"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2" name=""/>
          <p:cNvCxnSpPr>
            <a:stCxn xmlns:a="http://schemas.openxmlformats.org/drawingml/2006/main" id="14" idx="3"/>
            <a:endCxn xmlns:a="http://schemas.openxmlformats.org/drawingml/2006/main" id="17" idx="1"/>
          </p:cNvCxnSpPr>
          <p:nvPr/>
        </p:nvCxnSpPr>
        <p:spPr>
          <a:xfrm xmlns:a="http://schemas.openxmlformats.org/drawingml/2006/main">
            <a:off x="8720138"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17058548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422">
            <a:extLst xmlns:a="http://schemas.openxmlformats.org/drawingml/2006/main">
              <a:ext uri="{FF2B5EF4-FFF2-40B4-BE49-F238E27FC236}">
                <a16:creationId xmlns:a16="http://schemas.microsoft.com/office/drawing/2014/main" id="{9B156266-703D-44ED-BC3F-6D1E9C292E98}"/>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67A6B"/>
                </a:solidFill>
                <a:latin typeface="Meiryo"/>
                <a:ea typeface="Meiryo"/>
                <a:cs typeface="Meiryo"/>
              </a:defRPr>
            </a:pPr>
            <a:r>
              <a:rPr sz="1425" b="1">
                <a:solidFill>
                  <a:srgbClr val="167A6B"/>
                </a:solidFill>
                <a:latin typeface="Meiryo"/>
                <a:ea typeface="Meiryo"/>
                <a:cs typeface="Meiryo"/>
              </a:rPr>
              <a:t>コード・文書整合</a:t>
            </a:r>
          </a:p>
        </p:txBody>
      </p:sp>
      <p:sp>
        <p:nvSpPr>
          <p:cNvPr id="2" name="text-423">
            <a:extLst xmlns:a="http://schemas.openxmlformats.org/drawingml/2006/main">
              <a:ext uri="{FF2B5EF4-FFF2-40B4-BE49-F238E27FC236}">
                <a16:creationId xmlns:a16="http://schemas.microsoft.com/office/drawing/2014/main" id="{C2283737-AEFA-4E32-90D7-0630B4E6DDEE}"/>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指摘の判断と引き継ぎ資料</a:t>
            </a:r>
          </a:p>
        </p:txBody>
      </p:sp>
      <p:sp>
        <p:nvSpPr>
          <p:cNvPr id="3" name="text-424">
            <a:extLst xmlns:a="http://schemas.openxmlformats.org/drawingml/2006/main">
              <a:ext uri="{FF2B5EF4-FFF2-40B4-BE49-F238E27FC236}">
                <a16:creationId xmlns:a16="http://schemas.microsoft.com/office/drawing/2014/main" id="{F984DB8E-BA82-4B77-9D1A-F212CF4BB692}"/>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出力の写しと判断を分け、一覧を再生成する</a:t>
            </a:r>
          </a:p>
        </p:txBody>
      </p:sp>
      <p:sp>
        <p:nvSpPr>
          <p:cNvPr id="4" name="rule-425">
            <a:extLst xmlns:a="http://schemas.openxmlformats.org/drawingml/2006/main">
              <a:ext uri="{FF2B5EF4-FFF2-40B4-BE49-F238E27FC236}">
                <a16:creationId xmlns:a16="http://schemas.microsoft.com/office/drawing/2014/main" id="{B5445B3F-3677-4A3F-99EA-CC8B4BB9722F}"/>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426">
            <a:extLst xmlns:a="http://schemas.openxmlformats.org/drawingml/2006/main">
              <a:ext uri="{FF2B5EF4-FFF2-40B4-BE49-F238E27FC236}">
                <a16:creationId xmlns:a16="http://schemas.microsoft.com/office/drawing/2014/main" id="{4CF1F4B3-66A0-4DED-BD2C-22B76FF30317}"/>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A6B"/>
                </a:solidFill>
                <a:latin typeface="Meiryo"/>
                <a:ea typeface="Meiryo"/>
                <a:cs typeface="Meiryo"/>
              </a:defRPr>
            </a:pPr>
            <a:r>
              <a:rPr sz="1800" b="1">
                <a:solidFill>
                  <a:srgbClr val="167A6B"/>
                </a:solidFill>
                <a:latin typeface="Meiryo"/>
                <a:ea typeface="Meiryo"/>
                <a:cs typeface="Meiryo"/>
              </a:rPr>
              <a:t>AIの指摘候補に、人間の理由と担当を加えて次の作業につなぐ</a:t>
            </a:r>
          </a:p>
        </p:txBody>
      </p:sp>
      <p:sp>
        <p:nvSpPr>
          <p:cNvPr id="6" name="text-427">
            <a:extLst xmlns:a="http://schemas.openxmlformats.org/drawingml/2006/main">
              <a:ext uri="{FF2B5EF4-FFF2-40B4-BE49-F238E27FC236}">
                <a16:creationId xmlns:a16="http://schemas.microsoft.com/office/drawing/2014/main" id="{0865A8C4-5B89-49DD-ABEC-5C6F226C44F2}"/>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32</a:t>
            </a:r>
          </a:p>
        </p:txBody>
      </p:sp>
      <p:sp>
        <p:nvSpPr>
          <p:cNvPr id="7" name="text-428">
            <a:extLst xmlns:a="http://schemas.openxmlformats.org/drawingml/2006/main">
              <a:ext uri="{FF2B5EF4-FFF2-40B4-BE49-F238E27FC236}">
                <a16:creationId xmlns:a16="http://schemas.microsoft.com/office/drawing/2014/main" id="{134805CB-4ABE-45AD-A500-B65FB687C136}"/>
              </a:ext>
            </a:extLst>
          </p:cNvPr>
          <p:cNvSpPr>
            <a:spLocks xmlns:a="http://schemas.openxmlformats.org/drawingml/2006/main" noGrp="1"/>
          </p:cNvSpPr>
          <p:nvPr/>
        </p:nvSpPr>
        <p:spPr>
          <a:xfrm xmlns:a="http://schemas.openxmlformats.org/drawingml/2006/main">
            <a:off x="68580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67A6B"/>
                </a:solidFill>
                <a:latin typeface="Meiryo"/>
                <a:ea typeface="Meiryo"/>
                <a:cs typeface="Meiryo"/>
              </a:defRPr>
            </a:pPr>
            <a:r>
              <a:rPr sz="2250" b="1">
                <a:solidFill>
                  <a:srgbClr val="167A6B"/>
                </a:solidFill>
                <a:latin typeface="Meiryo"/>
                <a:ea typeface="Meiryo"/>
                <a:cs typeface="Meiryo"/>
              </a:rPr>
              <a:t>元出力の写し</a:t>
            </a:r>
          </a:p>
        </p:txBody>
      </p:sp>
      <p:sp>
        <p:nvSpPr>
          <p:cNvPr id="8" name="rule-429">
            <a:extLst xmlns:a="http://schemas.openxmlformats.org/drawingml/2006/main">
              <a:ext uri="{FF2B5EF4-FFF2-40B4-BE49-F238E27FC236}">
                <a16:creationId xmlns:a16="http://schemas.microsoft.com/office/drawing/2014/main" id="{8757036D-326A-4D16-9ED4-FED7752BC4CF}"/>
              </a:ext>
            </a:extLst>
          </p:cNvPr>
          <p:cNvSpPr>
            <a:spLocks xmlns:a="http://schemas.openxmlformats.org/drawingml/2006/main" noGrp="1"/>
          </p:cNvSpPr>
          <p:nvPr/>
        </p:nvSpPr>
        <p:spPr>
          <a:xfrm xmlns:a="http://schemas.openxmlformats.org/drawingml/2006/main">
            <a:off x="685800" y="3438525"/>
            <a:ext cx="3314700" cy="0"/>
          </a:xfrm>
          <a:prstGeom xmlns:a="http://schemas.openxmlformats.org/drawingml/2006/main" prst="line">
            <a:avLst/>
          </a:prstGeom>
          <a:noFill xmlns:a="http://schemas.openxmlformats.org/drawingml/2006/main"/>
          <a:ln xmlns:a="http://schemas.openxmlformats.org/drawingml/2006/main" w="9525">
            <a:solidFill>
              <a:srgbClr val="167A6B"/>
            </a:solidFill>
          </a:ln>
        </p:spPr>
      </p:sp>
      <p:sp>
        <p:nvSpPr>
          <p:cNvPr id="9" name="text-430">
            <a:extLst xmlns:a="http://schemas.openxmlformats.org/drawingml/2006/main">
              <a:ext uri="{FF2B5EF4-FFF2-40B4-BE49-F238E27FC236}">
                <a16:creationId xmlns:a16="http://schemas.microsoft.com/office/drawing/2014/main" id="{D5A7D12D-990B-4C5C-B243-127DE7459DEF}"/>
              </a:ext>
            </a:extLst>
          </p:cNvPr>
          <p:cNvSpPr>
            <a:spLocks xmlns:a="http://schemas.openxmlformats.org/drawingml/2006/main" noGrp="1"/>
          </p:cNvSpPr>
          <p:nvPr/>
        </p:nvSpPr>
        <p:spPr>
          <a:xfrm xmlns:a="http://schemas.openxmlformats.org/drawingml/2006/main">
            <a:off x="68580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Bob由来のsourceを保存</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後から判断の対象を追跡</a:t>
            </a:r>
          </a:p>
        </p:txBody>
      </p:sp>
      <p:sp>
        <p:nvSpPr>
          <p:cNvPr id="10" name="text-431">
            <a:extLst xmlns:a="http://schemas.openxmlformats.org/drawingml/2006/main">
              <a:ext uri="{FF2B5EF4-FFF2-40B4-BE49-F238E27FC236}">
                <a16:creationId xmlns:a16="http://schemas.microsoft.com/office/drawing/2014/main" id="{B77580DA-D43A-4F4E-AF67-A3C720D5235D}"/>
              </a:ext>
            </a:extLst>
          </p:cNvPr>
          <p:cNvSpPr>
            <a:spLocks xmlns:a="http://schemas.openxmlformats.org/drawingml/2006/main" noGrp="1"/>
          </p:cNvSpPr>
          <p:nvPr/>
        </p:nvSpPr>
        <p:spPr>
          <a:xfrm xmlns:a="http://schemas.openxmlformats.org/drawingml/2006/main">
            <a:off x="443865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67A6B"/>
                </a:solidFill>
                <a:latin typeface="Meiryo"/>
                <a:ea typeface="Meiryo"/>
                <a:cs typeface="Meiryo"/>
              </a:defRPr>
            </a:pPr>
            <a:r>
              <a:rPr sz="2250" b="1">
                <a:solidFill>
                  <a:srgbClr val="167A6B"/>
                </a:solidFill>
                <a:latin typeface="Meiryo"/>
                <a:ea typeface="Meiryo"/>
                <a:cs typeface="Meiryo"/>
              </a:rPr>
              <a:t>人間の判断</a:t>
            </a:r>
          </a:p>
        </p:txBody>
      </p:sp>
      <p:sp>
        <p:nvSpPr>
          <p:cNvPr id="11" name="rule-432">
            <a:extLst xmlns:a="http://schemas.openxmlformats.org/drawingml/2006/main">
              <a:ext uri="{FF2B5EF4-FFF2-40B4-BE49-F238E27FC236}">
                <a16:creationId xmlns:a16="http://schemas.microsoft.com/office/drawing/2014/main" id="{9F17DA6A-5047-44B6-A297-6683A6DD2D5D}"/>
              </a:ext>
            </a:extLst>
          </p:cNvPr>
          <p:cNvSpPr>
            <a:spLocks xmlns:a="http://schemas.openxmlformats.org/drawingml/2006/main" noGrp="1"/>
          </p:cNvSpPr>
          <p:nvPr/>
        </p:nvSpPr>
        <p:spPr>
          <a:xfrm xmlns:a="http://schemas.openxmlformats.org/drawingml/2006/main">
            <a:off x="4438650" y="3438525"/>
            <a:ext cx="3314700" cy="0"/>
          </a:xfrm>
          <a:prstGeom xmlns:a="http://schemas.openxmlformats.org/drawingml/2006/main" prst="line">
            <a:avLst/>
          </a:prstGeom>
          <a:noFill xmlns:a="http://schemas.openxmlformats.org/drawingml/2006/main"/>
          <a:ln xmlns:a="http://schemas.openxmlformats.org/drawingml/2006/main" w="9525">
            <a:solidFill>
              <a:srgbClr val="167A6B"/>
            </a:solidFill>
          </a:ln>
        </p:spPr>
      </p:sp>
      <p:sp>
        <p:nvSpPr>
          <p:cNvPr id="12" name="text-433">
            <a:extLst xmlns:a="http://schemas.openxmlformats.org/drawingml/2006/main">
              <a:ext uri="{FF2B5EF4-FFF2-40B4-BE49-F238E27FC236}">
                <a16:creationId xmlns:a16="http://schemas.microsoft.com/office/drawing/2014/main" id="{FA5EAEA4-CCCF-4C40-B826-4D8056C69AE7}"/>
              </a:ext>
            </a:extLst>
          </p:cNvPr>
          <p:cNvSpPr>
            <a:spLocks xmlns:a="http://schemas.openxmlformats.org/drawingml/2006/main" noGrp="1"/>
          </p:cNvSpPr>
          <p:nvPr/>
        </p:nvSpPr>
        <p:spPr>
          <a:xfrm xmlns:a="http://schemas.openxmlformats.org/drawingml/2006/main">
            <a:off x="443865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採用・棄却・追加調査</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保留・質問を選択</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理由・担当者・期限を記録</a:t>
            </a:r>
          </a:p>
        </p:txBody>
      </p:sp>
      <p:sp>
        <p:nvSpPr>
          <p:cNvPr id="13" name="text-434">
            <a:extLst xmlns:a="http://schemas.openxmlformats.org/drawingml/2006/main">
              <a:ext uri="{FF2B5EF4-FFF2-40B4-BE49-F238E27FC236}">
                <a16:creationId xmlns:a16="http://schemas.microsoft.com/office/drawing/2014/main" id="{2D8F1D2A-D43B-4B0A-829D-8CF8C926A0B7}"/>
              </a:ext>
            </a:extLst>
          </p:cNvPr>
          <p:cNvSpPr>
            <a:spLocks xmlns:a="http://schemas.openxmlformats.org/drawingml/2006/main" noGrp="1"/>
          </p:cNvSpPr>
          <p:nvPr/>
        </p:nvSpPr>
        <p:spPr>
          <a:xfrm xmlns:a="http://schemas.openxmlformats.org/drawingml/2006/main">
            <a:off x="819150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67A6B"/>
                </a:solidFill>
                <a:latin typeface="Meiryo"/>
                <a:ea typeface="Meiryo"/>
                <a:cs typeface="Meiryo"/>
              </a:defRPr>
            </a:pPr>
            <a:r>
              <a:rPr sz="2250" b="1">
                <a:solidFill>
                  <a:srgbClr val="167A6B"/>
                </a:solidFill>
                <a:latin typeface="Meiryo"/>
                <a:ea typeface="Meiryo"/>
                <a:cs typeface="Meiryo"/>
              </a:rPr>
              <a:t>引き継ぎ資料</a:t>
            </a:r>
          </a:p>
        </p:txBody>
      </p:sp>
      <p:sp>
        <p:nvSpPr>
          <p:cNvPr id="14" name="rule-435">
            <a:extLst xmlns:a="http://schemas.openxmlformats.org/drawingml/2006/main">
              <a:ext uri="{FF2B5EF4-FFF2-40B4-BE49-F238E27FC236}">
                <a16:creationId xmlns:a16="http://schemas.microsoft.com/office/drawing/2014/main" id="{5FDC8950-2FDA-4FDD-AFCE-BB112EFEE2D5}"/>
              </a:ext>
            </a:extLst>
          </p:cNvPr>
          <p:cNvSpPr>
            <a:spLocks xmlns:a="http://schemas.openxmlformats.org/drawingml/2006/main" noGrp="1"/>
          </p:cNvSpPr>
          <p:nvPr/>
        </p:nvSpPr>
        <p:spPr>
          <a:xfrm xmlns:a="http://schemas.openxmlformats.org/drawingml/2006/main">
            <a:off x="8191500" y="3438525"/>
            <a:ext cx="3314700" cy="0"/>
          </a:xfrm>
          <a:prstGeom xmlns:a="http://schemas.openxmlformats.org/drawingml/2006/main" prst="line">
            <a:avLst/>
          </a:prstGeom>
          <a:noFill xmlns:a="http://schemas.openxmlformats.org/drawingml/2006/main"/>
          <a:ln xmlns:a="http://schemas.openxmlformats.org/drawingml/2006/main" w="9525">
            <a:solidFill>
              <a:srgbClr val="167A6B"/>
            </a:solidFill>
          </a:ln>
        </p:spPr>
      </p:sp>
      <p:sp>
        <p:nvSpPr>
          <p:cNvPr id="15" name="text-436">
            <a:extLst xmlns:a="http://schemas.openxmlformats.org/drawingml/2006/main">
              <a:ext uri="{FF2B5EF4-FFF2-40B4-BE49-F238E27FC236}">
                <a16:creationId xmlns:a16="http://schemas.microsoft.com/office/drawing/2014/main" id="{6B50A914-46B5-46B3-B004-13AA49E8A9DC}"/>
              </a:ext>
            </a:extLst>
          </p:cNvPr>
          <p:cNvSpPr>
            <a:spLocks xmlns:a="http://schemas.openxmlformats.org/drawingml/2006/main" noGrp="1"/>
          </p:cNvSpPr>
          <p:nvPr/>
        </p:nvSpPr>
        <p:spPr>
          <a:xfrm xmlns:a="http://schemas.openxmlformats.org/drawingml/2006/main">
            <a:off x="819150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指摘・質問・後続作業</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を一覧化</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正式レビューや</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修正作業へ渡す</a:t>
            </a:r>
          </a:p>
        </p:txBody>
      </p:sp>
    </p:spTree>
    <p:extLst>
      <p:ext uri="{BB962C8B-B14F-4D97-AF65-F5344CB8AC3E}">
        <p14:creationId xmlns:p14="http://schemas.microsoft.com/office/powerpoint/2010/main" val="178248818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437">
            <a:extLst xmlns:a="http://schemas.openxmlformats.org/drawingml/2006/main">
              <a:ext uri="{FF2B5EF4-FFF2-40B4-BE49-F238E27FC236}">
                <a16:creationId xmlns:a16="http://schemas.microsoft.com/office/drawing/2014/main" id="{BFA90CC7-E2D3-4C7A-A6E9-BB1E86C52861}"/>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67A6B"/>
                </a:solidFill>
                <a:latin typeface="Meiryo"/>
                <a:ea typeface="Meiryo"/>
                <a:cs typeface="Meiryo"/>
              </a:defRPr>
            </a:pPr>
            <a:r>
              <a:rPr sz="1425" b="1">
                <a:solidFill>
                  <a:srgbClr val="167A6B"/>
                </a:solidFill>
                <a:latin typeface="Meiryo"/>
                <a:ea typeface="Meiryo"/>
                <a:cs typeface="Meiryo"/>
              </a:rPr>
              <a:t>コード・文書整合</a:t>
            </a:r>
          </a:p>
        </p:txBody>
      </p:sp>
      <p:sp>
        <p:nvSpPr>
          <p:cNvPr id="2" name="text-438">
            <a:extLst xmlns:a="http://schemas.openxmlformats.org/drawingml/2006/main">
              <a:ext uri="{FF2B5EF4-FFF2-40B4-BE49-F238E27FC236}">
                <a16:creationId xmlns:a16="http://schemas.microsoft.com/office/drawing/2014/main" id="{0AB31E67-47A1-4890-8B05-8F5E8DF639D8}"/>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具体例：タイムアウト時の戻り値</a:t>
            </a:r>
          </a:p>
        </p:txBody>
      </p:sp>
      <p:sp>
        <p:nvSpPr>
          <p:cNvPr id="3" name="text-439">
            <a:extLst xmlns:a="http://schemas.openxmlformats.org/drawingml/2006/main">
              <a:ext uri="{FF2B5EF4-FFF2-40B4-BE49-F238E27FC236}">
                <a16:creationId xmlns:a16="http://schemas.microsoft.com/office/drawing/2014/main" id="{373DDB84-566D-4232-83CF-87E5267538B1}"/>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同梱サンプルを用いた説明例：要求・設計・テストと戻り値を照合</a:t>
            </a:r>
          </a:p>
        </p:txBody>
      </p:sp>
      <p:sp>
        <p:nvSpPr>
          <p:cNvPr id="4" name="rule-440">
            <a:extLst xmlns:a="http://schemas.openxmlformats.org/drawingml/2006/main">
              <a:ext uri="{FF2B5EF4-FFF2-40B4-BE49-F238E27FC236}">
                <a16:creationId xmlns:a16="http://schemas.microsoft.com/office/drawing/2014/main" id="{A1BDDC5A-C02B-40CF-8963-3FC8BE82780F}"/>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441">
            <a:extLst xmlns:a="http://schemas.openxmlformats.org/drawingml/2006/main">
              <a:ext uri="{FF2B5EF4-FFF2-40B4-BE49-F238E27FC236}">
                <a16:creationId xmlns:a16="http://schemas.microsoft.com/office/drawing/2014/main" id="{26289B02-F8C5-485B-9C97-018CE4B2F2F0}"/>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67A6B"/>
                </a:solidFill>
                <a:latin typeface="Meiryo"/>
                <a:ea typeface="Meiryo"/>
                <a:cs typeface="Meiryo"/>
              </a:defRPr>
            </a:pPr>
            <a:r>
              <a:rPr sz="1800" b="1">
                <a:solidFill>
                  <a:srgbClr val="167A6B"/>
                </a:solidFill>
                <a:latin typeface="Meiryo"/>
                <a:ea typeface="Meiryo"/>
                <a:cs typeface="Meiryo"/>
              </a:rPr>
              <a:t>同じ事象の根拠を並べると、修正点と確認質問を具体化できる</a:t>
            </a:r>
          </a:p>
        </p:txBody>
      </p:sp>
      <p:sp>
        <p:nvSpPr>
          <p:cNvPr id="6" name="text-442">
            <a:extLst xmlns:a="http://schemas.openxmlformats.org/drawingml/2006/main">
              <a:ext uri="{FF2B5EF4-FFF2-40B4-BE49-F238E27FC236}">
                <a16:creationId xmlns:a16="http://schemas.microsoft.com/office/drawing/2014/main" id="{7119273B-DD6C-4D15-8E6B-D36C65413C4E}"/>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33</a:t>
            </a:r>
          </a:p>
        </p:txBody>
      </p:sp>
      <p:graphicFrame>
        <p:nvGraphicFramePr>
          <p:cNvPr id="14" name=""/>
          <p:cNvGraphicFramePr/>
          <p:nvPr/>
        </p:nvGraphicFramePr>
        <p:xfrm>
          <a:off xmlns:a="http://schemas.openxmlformats.org/drawingml/2006/main" x="685800" y="2057400"/>
          <a:ext xmlns:a="http://schemas.openxmlformats.org/drawingml/2006/main" cx="10820400" cy="3619500"/>
        </p:xfrm>
        <a:graphic xmlns:a="http://schemas.openxmlformats.org/drawingml/2006/main">
          <a:graphicData uri="http://schemas.openxmlformats.org/drawingml/2006/table">
            <a:tbl>
              <a:tblPr/>
              <a:tblGrid>
                <a:gridCol w="2762250"/>
                <a:gridCol w="4000500"/>
                <a:gridCol w="4057650"/>
              </a:tblGrid>
              <a:tr h="495300">
                <a:tc>
                  <a:txBody>
                    <a:bodyPr wrap="square" lIns="133350" tIns="76200" rIns="114300" bIns="76200">
                      <a:noAutofit/>
                    </a:bodyPr>
                    <a:lstStyle/>
                    <a:p>
                      <a:r>
                        <a:rPr sz="1800" b="1">
                          <a:solidFill>
                            <a:srgbClr val="FFFFFF"/>
                          </a:solidFill>
                          <a:latin typeface="Meiryo"/>
                          <a:ea typeface="Meiryo"/>
                          <a:cs typeface="Meiryo"/>
                        </a:rPr>
                        <a:t>根拠</a:t>
                      </a:r>
                    </a:p>
                  </a:txBody>
                  <a:tcPr marL="91440" marR="91440" marT="45720" marB="45720" anchor="ctr">
                    <a:solidFill>
                      <a:srgbClr val="167A6B"/>
                    </a:solidFill>
                  </a:tcPr>
                </a:tc>
                <a:tc>
                  <a:txBody>
                    <a:bodyPr wrap="square" lIns="133350" tIns="76200" rIns="114300" bIns="76200">
                      <a:noAutofit/>
                    </a:bodyPr>
                    <a:lstStyle/>
                    <a:p>
                      <a:r>
                        <a:rPr sz="1800" b="1">
                          <a:solidFill>
                            <a:srgbClr val="FFFFFF"/>
                          </a:solidFill>
                          <a:latin typeface="Meiryo"/>
                          <a:ea typeface="Meiryo"/>
                          <a:cs typeface="Meiryo"/>
                        </a:rPr>
                        <a:t>timeout発生時の内容</a:t>
                      </a:r>
                    </a:p>
                  </a:txBody>
                  <a:tcPr marL="91440" marR="91440" marT="45720" marB="45720" anchor="ctr">
                    <a:solidFill>
                      <a:srgbClr val="167A6B"/>
                    </a:solidFill>
                  </a:tcPr>
                </a:tc>
                <a:tc>
                  <a:txBody>
                    <a:bodyPr wrap="square" lIns="133350" tIns="76200" rIns="114300" bIns="76200">
                      <a:noAutofit/>
                    </a:bodyPr>
                    <a:lstStyle/>
                    <a:p>
                      <a:r>
                        <a:rPr sz="1800" b="1">
                          <a:solidFill>
                            <a:srgbClr val="FFFFFF"/>
                          </a:solidFill>
                          <a:latin typeface="Meiryo"/>
                          <a:ea typeface="Meiryo"/>
                          <a:cs typeface="Meiryo"/>
                        </a:rPr>
                        <a:t>読み取れること</a:t>
                      </a:r>
                    </a:p>
                  </a:txBody>
                  <a:tcPr marL="91440" marR="91440" marT="45720" marB="45720" anchor="ctr">
                    <a:solidFill>
                      <a:srgbClr val="167A6B"/>
                    </a:solidFill>
                  </a:tcPr>
                </a:tc>
              </a:tr>
              <a:tr h="624840">
                <a:tc>
                  <a:txBody>
                    <a:bodyPr wrap="square" lIns="133350" tIns="76200" rIns="114300" bIns="76200">
                      <a:noAutofit/>
                    </a:bodyPr>
                    <a:lstStyle/>
                    <a:p>
                      <a:r>
                        <a:rPr sz="1800" b="0">
                          <a:solidFill>
                            <a:srgbClr val="172A3A"/>
                          </a:solidFill>
                          <a:latin typeface="Meiryo"/>
                          <a:ea typeface="Meiryo"/>
                          <a:cs typeface="Meiryo"/>
                        </a:rPr>
                        <a:t>要求 REQ-123</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ERR_TIMEOUTを返す</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異常終了を上位へ伝える</a:t>
                      </a:r>
                    </a:p>
                  </a:txBody>
                  <a:tcPr marL="91440" marR="91440" marT="45720" marB="45720" anchor="ctr">
                    <a:solidFill>
                      <a:srgbClr val="F5F8FA"/>
                    </a:solidFill>
                  </a:tcPr>
                </a:tc>
              </a:tr>
              <a:tr h="624840">
                <a:tc>
                  <a:txBody>
                    <a:bodyPr wrap="square" lIns="133350" tIns="76200" rIns="114300" bIns="76200">
                      <a:noAutofit/>
                    </a:bodyPr>
                    <a:lstStyle/>
                    <a:p>
                      <a:r>
                        <a:rPr sz="1800" b="0">
                          <a:solidFill>
                            <a:srgbClr val="172A3A"/>
                          </a:solidFill>
                          <a:latin typeface="Meiryo"/>
                          <a:ea typeface="Meiryo"/>
                          <a:cs typeface="Meiryo"/>
                        </a:rPr>
                        <a:t>詳細設計 DD-88</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カウンタ加算＋ERR_TIMEOUT</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処理と戻り値を規定</a:t>
                      </a:r>
                    </a:p>
                  </a:txBody>
                  <a:tcPr marL="91440" marR="91440" marT="45720" marB="45720" anchor="ctr">
                    <a:solidFill>
                      <a:srgbClr val="FFFFFF"/>
                    </a:solidFill>
                  </a:tcPr>
                </a:tc>
              </a:tr>
              <a:tr h="624840">
                <a:tc>
                  <a:txBody>
                    <a:bodyPr wrap="square" lIns="133350" tIns="76200" rIns="114300" bIns="76200">
                      <a:noAutofit/>
                    </a:bodyPr>
                    <a:lstStyle/>
                    <a:p>
                      <a:r>
                        <a:rPr sz="1800" b="0">
                          <a:solidFill>
                            <a:srgbClr val="172A3A"/>
                          </a:solidFill>
                          <a:latin typeface="Meiryo"/>
                          <a:ea typeface="Meiryo"/>
                          <a:cs typeface="Meiryo"/>
                        </a:rPr>
                        <a:t>変更後コード</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カウンタ加算＋ERR_OK</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戻り値が文書と食い違う</a:t>
                      </a:r>
                    </a:p>
                  </a:txBody>
                  <a:tcPr marL="91440" marR="91440" marT="45720" marB="45720" anchor="ctr">
                    <a:solidFill>
                      <a:srgbClr val="F5F8FA"/>
                    </a:solidFill>
                  </a:tcPr>
                </a:tc>
              </a:tr>
              <a:tr h="624840">
                <a:tc>
                  <a:txBody>
                    <a:bodyPr wrap="square" lIns="133350" tIns="76200" rIns="114300" bIns="76200">
                      <a:noAutofit/>
                    </a:bodyPr>
                    <a:lstStyle/>
                    <a:p>
                      <a:r>
                        <a:rPr sz="1800" b="0">
                          <a:solidFill>
                            <a:srgbClr val="172A3A"/>
                          </a:solidFill>
                          <a:latin typeface="Meiryo"/>
                          <a:ea typeface="Meiryo"/>
                          <a:cs typeface="Meiryo"/>
                        </a:rPr>
                        <a:t>テスト TC-789</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期待値はERR_TIMEOUT</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異常系の期待結果とも食い違う</a:t>
                      </a:r>
                    </a:p>
                  </a:txBody>
                  <a:tcPr marL="91440" marR="91440" marT="45720" marB="45720" anchor="ctr">
                    <a:solidFill>
                      <a:srgbClr val="FFFFFF"/>
                    </a:solidFill>
                  </a:tcPr>
                </a:tc>
              </a:tr>
              <a:tr h="624840">
                <a:tc>
                  <a:txBody>
                    <a:bodyPr wrap="square" lIns="133350" tIns="76200" rIns="114300" bIns="76200">
                      <a:noAutofit/>
                    </a:bodyPr>
                    <a:lstStyle/>
                    <a:p>
                      <a:r>
                        <a:rPr sz="1800" b="0">
                          <a:solidFill>
                            <a:srgbClr val="172A3A"/>
                          </a:solidFill>
                          <a:latin typeface="Meiryo"/>
                          <a:ea typeface="Meiryo"/>
                          <a:cs typeface="Meiryo"/>
                        </a:rPr>
                        <a:t>人間の確認</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実装の誤りか、仕様変更か</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根拠を示して正式レビューへ</a:t>
                      </a:r>
                    </a:p>
                  </a:txBody>
                  <a:tcPr marL="91440" marR="91440" marT="45720" marB="45720" anchor="ctr">
                    <a:solidFill>
                      <a:srgbClr val="F5F8FA"/>
                    </a:solidFill>
                  </a:tcPr>
                </a:tc>
              </a:tr>
            </a:tbl>
          </a:graphicData>
        </a:graphic>
      </p:graphicFrame>
    </p:spTree>
    <p:extLst>
      <p:ext uri="{BB962C8B-B14F-4D97-AF65-F5344CB8AC3E}">
        <p14:creationId xmlns:p14="http://schemas.microsoft.com/office/powerpoint/2010/main" val="106987052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443">
            <a:extLst xmlns:a="http://schemas.openxmlformats.org/drawingml/2006/main">
              <a:ext uri="{FF2B5EF4-FFF2-40B4-BE49-F238E27FC236}">
                <a16:creationId xmlns:a16="http://schemas.microsoft.com/office/drawing/2014/main" id="{8D38A34D-AB0A-4BB8-84F0-29ECDA8AB9A6}"/>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354E63"/>
                </a:solidFill>
                <a:latin typeface="Meiryo"/>
                <a:ea typeface="Meiryo"/>
                <a:cs typeface="Meiryo"/>
              </a:defRPr>
            </a:pPr>
            <a:r>
              <a:rPr sz="1425" b="1">
                <a:solidFill>
                  <a:srgbClr val="354E63"/>
                </a:solidFill>
                <a:latin typeface="Meiryo"/>
                <a:ea typeface="Meiryo"/>
                <a:cs typeface="Meiryo"/>
              </a:rPr>
              <a:t>連携と利用開始</a:t>
            </a:r>
          </a:p>
        </p:txBody>
      </p:sp>
      <p:sp>
        <p:nvSpPr>
          <p:cNvPr id="2" name="text-444">
            <a:extLst xmlns:a="http://schemas.openxmlformats.org/drawingml/2006/main">
              <a:ext uri="{FF2B5EF4-FFF2-40B4-BE49-F238E27FC236}">
                <a16:creationId xmlns:a16="http://schemas.microsoft.com/office/drawing/2014/main" id="{F6EC993D-E281-4594-B50F-534BD83103C4}"/>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コード事前チェックの一連の実行例</a:t>
            </a:r>
          </a:p>
        </p:txBody>
      </p:sp>
      <p:sp>
        <p:nvSpPr>
          <p:cNvPr id="3" name="text-445">
            <a:extLst xmlns:a="http://schemas.openxmlformats.org/drawingml/2006/main">
              <a:ext uri="{FF2B5EF4-FFF2-40B4-BE49-F238E27FC236}">
                <a16:creationId xmlns:a16="http://schemas.microsoft.com/office/drawing/2014/main" id="{F739800D-41B0-4783-80F2-35875E74C5AC}"/>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ワークフロー管理が整合プレレビューを工程として実行する</a:t>
            </a:r>
          </a:p>
        </p:txBody>
      </p:sp>
      <p:sp>
        <p:nvSpPr>
          <p:cNvPr id="4" name="rule-446">
            <a:extLst xmlns:a="http://schemas.openxmlformats.org/drawingml/2006/main">
              <a:ext uri="{FF2B5EF4-FFF2-40B4-BE49-F238E27FC236}">
                <a16:creationId xmlns:a16="http://schemas.microsoft.com/office/drawing/2014/main" id="{0AC09D16-EA9B-46E2-B9DB-3FD2D1483A6B}"/>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447">
            <a:extLst xmlns:a="http://schemas.openxmlformats.org/drawingml/2006/main">
              <a:ext uri="{FF2B5EF4-FFF2-40B4-BE49-F238E27FC236}">
                <a16:creationId xmlns:a16="http://schemas.microsoft.com/office/drawing/2014/main" id="{F77B4E30-7180-4210-923E-A660009A7B89}"/>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4E63"/>
                </a:solidFill>
                <a:latin typeface="Meiryo"/>
                <a:ea typeface="Meiryo"/>
                <a:cs typeface="Meiryo"/>
              </a:defRPr>
            </a:pPr>
            <a:r>
              <a:rPr sz="1800" b="1">
                <a:solidFill>
                  <a:srgbClr val="354E63"/>
                </a:solidFill>
                <a:latin typeface="Meiryo"/>
                <a:ea typeface="Meiryo"/>
                <a:cs typeface="Meiryo"/>
              </a:rPr>
              <a:t>同梱のprocess-code-precheckに基づく処理例</a:t>
            </a:r>
          </a:p>
        </p:txBody>
      </p:sp>
      <p:sp>
        <p:nvSpPr>
          <p:cNvPr id="6" name="text-448">
            <a:extLst xmlns:a="http://schemas.openxmlformats.org/drawingml/2006/main">
              <a:ext uri="{FF2B5EF4-FFF2-40B4-BE49-F238E27FC236}">
                <a16:creationId xmlns:a16="http://schemas.microsoft.com/office/drawing/2014/main" id="{D2C6A3AF-0AE5-4C4F-9F09-329935D33F72}"/>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34</a:t>
            </a:r>
          </a:p>
        </p:txBody>
      </p:sp>
      <p:sp>
        <p:nvSpPr>
          <p:cNvPr id="7" name="text-449">
            <a:extLst xmlns:a="http://schemas.openxmlformats.org/drawingml/2006/main">
              <a:ext uri="{FF2B5EF4-FFF2-40B4-BE49-F238E27FC236}">
                <a16:creationId xmlns:a16="http://schemas.microsoft.com/office/drawing/2014/main" id="{BCAEE86E-FAD5-4322-9011-11D5241FC8BF}"/>
              </a:ext>
            </a:extLst>
          </p:cNvPr>
          <p:cNvSpPr>
            <a:spLocks xmlns:a="http://schemas.openxmlformats.org/drawingml/2006/main" noGrp="1"/>
          </p:cNvSpPr>
          <p:nvPr/>
        </p:nvSpPr>
        <p:spPr>
          <a:xfrm xmlns:a="http://schemas.openxmlformats.org/drawingml/2006/main">
            <a:off x="6858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4E63"/>
                </a:solidFill>
                <a:latin typeface="Meiryo"/>
                <a:ea typeface="Meiryo"/>
                <a:cs typeface="Meiryo"/>
              </a:defRPr>
            </a:pPr>
            <a:r>
              <a:rPr sz="1650" b="1">
                <a:solidFill>
                  <a:srgbClr val="354E63"/>
                </a:solidFill>
                <a:latin typeface="Meiryo"/>
                <a:ea typeface="Meiryo"/>
                <a:cs typeface="Meiryo"/>
              </a:rPr>
              <a:t>01</a:t>
            </a:r>
          </a:p>
        </p:txBody>
      </p:sp>
      <p:sp>
        <p:nvSpPr>
          <p:cNvPr id="8" name="node-450">
            <a:extLst xmlns:a="http://schemas.openxmlformats.org/drawingml/2006/main">
              <a:ext uri="{FF2B5EF4-FFF2-40B4-BE49-F238E27FC236}">
                <a16:creationId xmlns:a16="http://schemas.microsoft.com/office/drawing/2014/main" id="{E95CFD33-F2B9-4A9C-B681-AC7F7628C9B5}"/>
              </a:ext>
            </a:extLst>
          </p:cNvPr>
          <p:cNvSpPr>
            <a:spLocks xmlns:a="http://schemas.openxmlformats.org/drawingml/2006/main" noGrp="1"/>
          </p:cNvSpPr>
          <p:nvPr/>
        </p:nvSpPr>
        <p:spPr>
          <a:xfrm xmlns:a="http://schemas.openxmlformats.org/drawingml/2006/main">
            <a:off x="6858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354E63"/>
                </a:solidFill>
                <a:latin typeface="Meiryo"/>
                <a:ea typeface="Meiryo"/>
                <a:cs typeface="Meiryo"/>
              </a:defRPr>
            </a:pPr>
            <a:r>
              <a:rPr sz="1950" b="1">
                <a:solidFill>
                  <a:srgbClr val="354E63"/>
                </a:solidFill>
                <a:latin typeface="Meiryo"/>
                <a:ea typeface="Meiryo"/>
                <a:cs typeface="Meiryo"/>
              </a:rPr>
              <a:t>入力と証跡</a:t>
            </a:r>
          </a:p>
        </p:txBody>
      </p:sp>
      <p:sp>
        <p:nvSpPr>
          <p:cNvPr id="9" name="text-451">
            <a:extLst xmlns:a="http://schemas.openxmlformats.org/drawingml/2006/main">
              <a:ext uri="{FF2B5EF4-FFF2-40B4-BE49-F238E27FC236}">
                <a16:creationId xmlns:a16="http://schemas.microsoft.com/office/drawing/2014/main" id="{897E6F0C-5750-4C55-9D2C-AFE1A9CCD84A}"/>
              </a:ext>
            </a:extLst>
          </p:cNvPr>
          <p:cNvSpPr>
            <a:spLocks xmlns:a="http://schemas.openxmlformats.org/drawingml/2006/main" noGrp="1"/>
          </p:cNvSpPr>
          <p:nvPr/>
        </p:nvSpPr>
        <p:spPr>
          <a:xfrm xmlns:a="http://schemas.openxmlformats.org/drawingml/2006/main">
            <a:off x="6858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工程入力と</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カタログを検証</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証跡を収集</a:t>
            </a:r>
          </a:p>
        </p:txBody>
      </p:sp>
      <p:sp>
        <p:nvSpPr>
          <p:cNvPr id="10" name="text-452">
            <a:extLst xmlns:a="http://schemas.openxmlformats.org/drawingml/2006/main">
              <a:ext uri="{FF2B5EF4-FFF2-40B4-BE49-F238E27FC236}">
                <a16:creationId xmlns:a16="http://schemas.microsoft.com/office/drawing/2014/main" id="{D83047E4-8639-4BA7-9AEC-6AB239A72EF6}"/>
              </a:ext>
            </a:extLst>
          </p:cNvPr>
          <p:cNvSpPr>
            <a:spLocks xmlns:a="http://schemas.openxmlformats.org/drawingml/2006/main" noGrp="1"/>
          </p:cNvSpPr>
          <p:nvPr/>
        </p:nvSpPr>
        <p:spPr>
          <a:xfrm xmlns:a="http://schemas.openxmlformats.org/drawingml/2006/main">
            <a:off x="291465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4E63"/>
                </a:solidFill>
                <a:latin typeface="Meiryo"/>
                <a:ea typeface="Meiryo"/>
                <a:cs typeface="Meiryo"/>
              </a:defRPr>
            </a:pPr>
            <a:r>
              <a:rPr sz="1650" b="1">
                <a:solidFill>
                  <a:srgbClr val="354E63"/>
                </a:solidFill>
                <a:latin typeface="Meiryo"/>
                <a:ea typeface="Meiryo"/>
                <a:cs typeface="Meiryo"/>
              </a:rPr>
              <a:t>02</a:t>
            </a:r>
          </a:p>
        </p:txBody>
      </p:sp>
      <p:sp>
        <p:nvSpPr>
          <p:cNvPr id="11" name="node-453">
            <a:extLst xmlns:a="http://schemas.openxmlformats.org/drawingml/2006/main">
              <a:ext uri="{FF2B5EF4-FFF2-40B4-BE49-F238E27FC236}">
                <a16:creationId xmlns:a16="http://schemas.microsoft.com/office/drawing/2014/main" id="{7DD1AF92-81B9-49DE-A6E3-51809659CD66}"/>
              </a:ext>
            </a:extLst>
          </p:cNvPr>
          <p:cNvSpPr>
            <a:spLocks xmlns:a="http://schemas.openxmlformats.org/drawingml/2006/main" noGrp="1"/>
          </p:cNvSpPr>
          <p:nvPr/>
        </p:nvSpPr>
        <p:spPr>
          <a:xfrm xmlns:a="http://schemas.openxmlformats.org/drawingml/2006/main">
            <a:off x="291465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354E63"/>
                </a:solidFill>
                <a:latin typeface="Meiryo"/>
                <a:ea typeface="Meiryo"/>
                <a:cs typeface="Meiryo"/>
              </a:defRPr>
            </a:pPr>
            <a:r>
              <a:rPr sz="1950" b="1">
                <a:solidFill>
                  <a:srgbClr val="354E63"/>
                </a:solidFill>
                <a:latin typeface="Meiryo"/>
                <a:ea typeface="Meiryo"/>
                <a:cs typeface="Meiryo"/>
              </a:rPr>
              <a:t>整合レビュー</a:t>
            </a:r>
          </a:p>
        </p:txBody>
      </p:sp>
      <p:sp>
        <p:nvSpPr>
          <p:cNvPr id="12" name="text-454">
            <a:extLst xmlns:a="http://schemas.openxmlformats.org/drawingml/2006/main">
              <a:ext uri="{FF2B5EF4-FFF2-40B4-BE49-F238E27FC236}">
                <a16:creationId xmlns:a16="http://schemas.microsoft.com/office/drawing/2014/main" id="{87084568-7FDC-4C23-B6BC-637C41F334B6}"/>
              </a:ext>
            </a:extLst>
          </p:cNvPr>
          <p:cNvSpPr>
            <a:spLocks xmlns:a="http://schemas.openxmlformats.org/drawingml/2006/main" noGrp="1"/>
          </p:cNvSpPr>
          <p:nvPr/>
        </p:nvSpPr>
        <p:spPr>
          <a:xfrm xmlns:a="http://schemas.openxmlformats.org/drawingml/2006/main">
            <a:off x="291465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資料を生成</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Bobでレビュー</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検証・指摘整理</a:t>
            </a:r>
          </a:p>
        </p:txBody>
      </p:sp>
      <p:sp>
        <p:nvSpPr>
          <p:cNvPr id="13" name="text-455">
            <a:extLst xmlns:a="http://schemas.openxmlformats.org/drawingml/2006/main">
              <a:ext uri="{FF2B5EF4-FFF2-40B4-BE49-F238E27FC236}">
                <a16:creationId xmlns:a16="http://schemas.microsoft.com/office/drawing/2014/main" id="{CAF6A785-BC08-482E-BB22-942809756372}"/>
              </a:ext>
            </a:extLst>
          </p:cNvPr>
          <p:cNvSpPr>
            <a:spLocks xmlns:a="http://schemas.openxmlformats.org/drawingml/2006/main" noGrp="1"/>
          </p:cNvSpPr>
          <p:nvPr/>
        </p:nvSpPr>
        <p:spPr>
          <a:xfrm xmlns:a="http://schemas.openxmlformats.org/drawingml/2006/main">
            <a:off x="51435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4E63"/>
                </a:solidFill>
                <a:latin typeface="Meiryo"/>
                <a:ea typeface="Meiryo"/>
                <a:cs typeface="Meiryo"/>
              </a:defRPr>
            </a:pPr>
            <a:r>
              <a:rPr sz="1650" b="1">
                <a:solidFill>
                  <a:srgbClr val="354E63"/>
                </a:solidFill>
                <a:latin typeface="Meiryo"/>
                <a:ea typeface="Meiryo"/>
                <a:cs typeface="Meiryo"/>
              </a:rPr>
              <a:t>03</a:t>
            </a:r>
          </a:p>
        </p:txBody>
      </p:sp>
      <p:sp>
        <p:nvSpPr>
          <p:cNvPr id="14" name="node-456">
            <a:extLst xmlns:a="http://schemas.openxmlformats.org/drawingml/2006/main">
              <a:ext uri="{FF2B5EF4-FFF2-40B4-BE49-F238E27FC236}">
                <a16:creationId xmlns:a16="http://schemas.microsoft.com/office/drawing/2014/main" id="{14A697B5-8F95-4551-A480-9D0BDCBF5E16}"/>
              </a:ext>
            </a:extLst>
          </p:cNvPr>
          <p:cNvSpPr>
            <a:spLocks xmlns:a="http://schemas.openxmlformats.org/drawingml/2006/main" noGrp="1"/>
          </p:cNvSpPr>
          <p:nvPr/>
        </p:nvSpPr>
        <p:spPr>
          <a:xfrm xmlns:a="http://schemas.openxmlformats.org/drawingml/2006/main">
            <a:off x="51435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354E63"/>
                </a:solidFill>
                <a:latin typeface="Meiryo"/>
                <a:ea typeface="Meiryo"/>
                <a:cs typeface="Meiryo"/>
              </a:defRPr>
            </a:pPr>
            <a:r>
              <a:rPr sz="1950" b="1">
                <a:solidFill>
                  <a:srgbClr val="354E63"/>
                </a:solidFill>
                <a:latin typeface="Meiryo"/>
                <a:ea typeface="Meiryo"/>
                <a:cs typeface="Meiryo"/>
              </a:rPr>
              <a:t>工程結果</a:t>
            </a:r>
          </a:p>
        </p:txBody>
      </p:sp>
      <p:sp>
        <p:nvSpPr>
          <p:cNvPr id="15" name="text-457">
            <a:extLst xmlns:a="http://schemas.openxmlformats.org/drawingml/2006/main">
              <a:ext uri="{FF2B5EF4-FFF2-40B4-BE49-F238E27FC236}">
                <a16:creationId xmlns:a16="http://schemas.microsoft.com/office/drawing/2014/main" id="{C9178672-50F0-43A7-9535-0CA0A01E8CF7}"/>
              </a:ext>
            </a:extLst>
          </p:cNvPr>
          <p:cNvSpPr>
            <a:spLocks xmlns:a="http://schemas.openxmlformats.org/drawingml/2006/main" noGrp="1"/>
          </p:cNvSpPr>
          <p:nvPr/>
        </p:nvSpPr>
        <p:spPr>
          <a:xfrm xmlns:a="http://schemas.openxmlformats.org/drawingml/2006/main">
            <a:off x="51435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工程形式へ変換</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根拠と結果を</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検証</a:t>
            </a:r>
          </a:p>
        </p:txBody>
      </p:sp>
      <p:sp>
        <p:nvSpPr>
          <p:cNvPr id="16" name="text-458">
            <a:extLst xmlns:a="http://schemas.openxmlformats.org/drawingml/2006/main">
              <a:ext uri="{FF2B5EF4-FFF2-40B4-BE49-F238E27FC236}">
                <a16:creationId xmlns:a16="http://schemas.microsoft.com/office/drawing/2014/main" id="{1552919A-C46E-4EED-8C3E-96D77562B11F}"/>
              </a:ext>
            </a:extLst>
          </p:cNvPr>
          <p:cNvSpPr>
            <a:spLocks xmlns:a="http://schemas.openxmlformats.org/drawingml/2006/main" noGrp="1"/>
          </p:cNvSpPr>
          <p:nvPr/>
        </p:nvSpPr>
        <p:spPr>
          <a:xfrm xmlns:a="http://schemas.openxmlformats.org/drawingml/2006/main">
            <a:off x="737235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4E63"/>
                </a:solidFill>
                <a:latin typeface="Meiryo"/>
                <a:ea typeface="Meiryo"/>
                <a:cs typeface="Meiryo"/>
              </a:defRPr>
            </a:pPr>
            <a:r>
              <a:rPr sz="1650" b="1">
                <a:solidFill>
                  <a:srgbClr val="354E63"/>
                </a:solidFill>
                <a:latin typeface="Meiryo"/>
                <a:ea typeface="Meiryo"/>
                <a:cs typeface="Meiryo"/>
              </a:rPr>
              <a:t>04</a:t>
            </a:r>
          </a:p>
        </p:txBody>
      </p:sp>
      <p:sp>
        <p:nvSpPr>
          <p:cNvPr id="17" name="node-459">
            <a:extLst xmlns:a="http://schemas.openxmlformats.org/drawingml/2006/main">
              <a:ext uri="{FF2B5EF4-FFF2-40B4-BE49-F238E27FC236}">
                <a16:creationId xmlns:a16="http://schemas.microsoft.com/office/drawing/2014/main" id="{A9734475-1182-4F80-AFBF-3FDE60CE95AB}"/>
              </a:ext>
            </a:extLst>
          </p:cNvPr>
          <p:cNvSpPr>
            <a:spLocks xmlns:a="http://schemas.openxmlformats.org/drawingml/2006/main" noGrp="1"/>
          </p:cNvSpPr>
          <p:nvPr/>
        </p:nvSpPr>
        <p:spPr>
          <a:xfrm xmlns:a="http://schemas.openxmlformats.org/drawingml/2006/main">
            <a:off x="737235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354E63"/>
                </a:solidFill>
                <a:latin typeface="Meiryo"/>
                <a:ea typeface="Meiryo"/>
                <a:cs typeface="Meiryo"/>
              </a:defRPr>
            </a:pPr>
            <a:r>
              <a:rPr sz="1950" b="1">
                <a:solidFill>
                  <a:srgbClr val="354E63"/>
                </a:solidFill>
                <a:latin typeface="Meiryo"/>
                <a:ea typeface="Meiryo"/>
                <a:cs typeface="Meiryo"/>
              </a:rPr>
              <a:t>人間の確認</a:t>
            </a:r>
          </a:p>
        </p:txBody>
      </p:sp>
      <p:sp>
        <p:nvSpPr>
          <p:cNvPr id="18" name="text-460">
            <a:extLst xmlns:a="http://schemas.openxmlformats.org/drawingml/2006/main">
              <a:ext uri="{FF2B5EF4-FFF2-40B4-BE49-F238E27FC236}">
                <a16:creationId xmlns:a16="http://schemas.microsoft.com/office/drawing/2014/main" id="{D357AC4E-4982-4333-9260-9067CD002950}"/>
              </a:ext>
            </a:extLst>
          </p:cNvPr>
          <p:cNvSpPr>
            <a:spLocks xmlns:a="http://schemas.openxmlformats.org/drawingml/2006/main" noGrp="1"/>
          </p:cNvSpPr>
          <p:nvPr/>
        </p:nvSpPr>
        <p:spPr>
          <a:xfrm xmlns:a="http://schemas.openxmlformats.org/drawingml/2006/main">
            <a:off x="737235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内容を確認</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記録へ進むか</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判断</a:t>
            </a:r>
          </a:p>
        </p:txBody>
      </p:sp>
      <p:sp>
        <p:nvSpPr>
          <p:cNvPr id="19" name="text-461">
            <a:extLst xmlns:a="http://schemas.openxmlformats.org/drawingml/2006/main">
              <a:ext uri="{FF2B5EF4-FFF2-40B4-BE49-F238E27FC236}">
                <a16:creationId xmlns:a16="http://schemas.microsoft.com/office/drawing/2014/main" id="{A0F0553F-C90F-4A5E-89A5-F60F3E53B9DA}"/>
              </a:ext>
            </a:extLst>
          </p:cNvPr>
          <p:cNvSpPr>
            <a:spLocks xmlns:a="http://schemas.openxmlformats.org/drawingml/2006/main" noGrp="1"/>
          </p:cNvSpPr>
          <p:nvPr/>
        </p:nvSpPr>
        <p:spPr>
          <a:xfrm xmlns:a="http://schemas.openxmlformats.org/drawingml/2006/main">
            <a:off x="96012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4E63"/>
                </a:solidFill>
                <a:latin typeface="Meiryo"/>
                <a:ea typeface="Meiryo"/>
                <a:cs typeface="Meiryo"/>
              </a:defRPr>
            </a:pPr>
            <a:r>
              <a:rPr sz="1650" b="1">
                <a:solidFill>
                  <a:srgbClr val="354E63"/>
                </a:solidFill>
                <a:latin typeface="Meiryo"/>
                <a:ea typeface="Meiryo"/>
                <a:cs typeface="Meiryo"/>
              </a:rPr>
              <a:t>05</a:t>
            </a:r>
          </a:p>
        </p:txBody>
      </p:sp>
      <p:sp>
        <p:nvSpPr>
          <p:cNvPr id="20" name="node-462">
            <a:extLst xmlns:a="http://schemas.openxmlformats.org/drawingml/2006/main">
              <a:ext uri="{FF2B5EF4-FFF2-40B4-BE49-F238E27FC236}">
                <a16:creationId xmlns:a16="http://schemas.microsoft.com/office/drawing/2014/main" id="{00E46CAA-C04F-4523-B22D-7BEB19838126}"/>
              </a:ext>
            </a:extLst>
          </p:cNvPr>
          <p:cNvSpPr>
            <a:spLocks xmlns:a="http://schemas.openxmlformats.org/drawingml/2006/main" noGrp="1"/>
          </p:cNvSpPr>
          <p:nvPr/>
        </p:nvSpPr>
        <p:spPr>
          <a:xfrm xmlns:a="http://schemas.openxmlformats.org/drawingml/2006/main">
            <a:off x="96012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354E63"/>
                </a:solidFill>
                <a:latin typeface="Meiryo"/>
                <a:ea typeface="Meiryo"/>
                <a:cs typeface="Meiryo"/>
              </a:defRPr>
            </a:pPr>
            <a:r>
              <a:rPr sz="1950" b="1">
                <a:solidFill>
                  <a:srgbClr val="354E63"/>
                </a:solidFill>
                <a:latin typeface="Meiryo"/>
                <a:ea typeface="Meiryo"/>
                <a:cs typeface="Meiryo"/>
              </a:rPr>
              <a:t>記録と集計</a:t>
            </a:r>
          </a:p>
        </p:txBody>
      </p:sp>
      <p:sp>
        <p:nvSpPr>
          <p:cNvPr id="21" name="text-463">
            <a:extLst xmlns:a="http://schemas.openxmlformats.org/drawingml/2006/main">
              <a:ext uri="{FF2B5EF4-FFF2-40B4-BE49-F238E27FC236}">
                <a16:creationId xmlns:a16="http://schemas.microsoft.com/office/drawing/2014/main" id="{974AD0AF-7775-43E6-9ECD-D5516D1DAB00}"/>
              </a:ext>
            </a:extLst>
          </p:cNvPr>
          <p:cNvSpPr>
            <a:spLocks xmlns:a="http://schemas.openxmlformats.org/drawingml/2006/main" noGrp="1"/>
          </p:cNvSpPr>
          <p:nvPr/>
        </p:nvSpPr>
        <p:spPr>
          <a:xfrm xmlns:a="http://schemas.openxmlformats.org/drawingml/2006/main">
            <a:off x="96012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工程記録を保存</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キャンペーン</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単位で集計</a:t>
            </a:r>
          </a:p>
        </p:txBody>
      </p:sp>
      <p:cxnSp>
        <p:nvCxnSpPr>
          <p:cNvPr id="47" name=""/>
          <p:cNvCxnSpPr>
            <a:stCxn xmlns:a="http://schemas.openxmlformats.org/drawingml/2006/main" id="8" idx="3"/>
            <a:endCxn xmlns:a="http://schemas.openxmlformats.org/drawingml/2006/main" id="11" idx="1"/>
          </p:cNvCxnSpPr>
          <p:nvPr/>
        </p:nvCxnSpPr>
        <p:spPr>
          <a:xfrm xmlns:a="http://schemas.openxmlformats.org/drawingml/2006/main">
            <a:off x="259080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8" name=""/>
          <p:cNvCxnSpPr>
            <a:stCxn xmlns:a="http://schemas.openxmlformats.org/drawingml/2006/main" id="11" idx="3"/>
            <a:endCxn xmlns:a="http://schemas.openxmlformats.org/drawingml/2006/main" id="14" idx="1"/>
          </p:cNvCxnSpPr>
          <p:nvPr/>
        </p:nvCxnSpPr>
        <p:spPr>
          <a:xfrm xmlns:a="http://schemas.openxmlformats.org/drawingml/2006/main">
            <a:off x="481965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9" name=""/>
          <p:cNvCxnSpPr>
            <a:stCxn xmlns:a="http://schemas.openxmlformats.org/drawingml/2006/main" id="14" idx="3"/>
            <a:endCxn xmlns:a="http://schemas.openxmlformats.org/drawingml/2006/main" id="17" idx="1"/>
          </p:cNvCxnSpPr>
          <p:nvPr/>
        </p:nvCxnSpPr>
        <p:spPr>
          <a:xfrm xmlns:a="http://schemas.openxmlformats.org/drawingml/2006/main">
            <a:off x="704850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50" name=""/>
          <p:cNvCxnSpPr>
            <a:stCxn xmlns:a="http://schemas.openxmlformats.org/drawingml/2006/main" id="17" idx="3"/>
            <a:endCxn xmlns:a="http://schemas.openxmlformats.org/drawingml/2006/main" id="20" idx="1"/>
          </p:cNvCxnSpPr>
          <p:nvPr/>
        </p:nvCxnSpPr>
        <p:spPr>
          <a:xfrm xmlns:a="http://schemas.openxmlformats.org/drawingml/2006/main">
            <a:off x="927735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22514168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464">
            <a:extLst xmlns:a="http://schemas.openxmlformats.org/drawingml/2006/main">
              <a:ext uri="{FF2B5EF4-FFF2-40B4-BE49-F238E27FC236}">
                <a16:creationId xmlns:a16="http://schemas.microsoft.com/office/drawing/2014/main" id="{EBC06051-7E25-4263-9343-F599BB53C72F}"/>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354E63"/>
                </a:solidFill>
                <a:latin typeface="Meiryo"/>
                <a:ea typeface="Meiryo"/>
                <a:cs typeface="Meiryo"/>
              </a:defRPr>
            </a:pPr>
            <a:r>
              <a:rPr sz="1425" b="1">
                <a:solidFill>
                  <a:srgbClr val="354E63"/>
                </a:solidFill>
                <a:latin typeface="Meiryo"/>
                <a:ea typeface="Meiryo"/>
                <a:cs typeface="Meiryo"/>
              </a:rPr>
              <a:t>連携と利用開始</a:t>
            </a:r>
          </a:p>
        </p:txBody>
      </p:sp>
      <p:sp>
        <p:nvSpPr>
          <p:cNvPr id="2" name="text-465">
            <a:extLst xmlns:a="http://schemas.openxmlformats.org/drawingml/2006/main">
              <a:ext uri="{FF2B5EF4-FFF2-40B4-BE49-F238E27FC236}">
                <a16:creationId xmlns:a16="http://schemas.microsoft.com/office/drawing/2014/main" id="{D83F1B0F-0DD3-4E91-A7D6-67D18C69A50B}"/>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拡張間APIと機能追加の仕組み</a:t>
            </a:r>
          </a:p>
        </p:txBody>
      </p:sp>
      <p:sp>
        <p:nvSpPr>
          <p:cNvPr id="3" name="text-466">
            <a:extLst xmlns:a="http://schemas.openxmlformats.org/drawingml/2006/main">
              <a:ext uri="{FF2B5EF4-FFF2-40B4-BE49-F238E27FC236}">
                <a16:creationId xmlns:a16="http://schemas.microsoft.com/office/drawing/2014/main" id="{B0D338BA-CA0B-4B50-8CCF-5B0885DC1584}"/>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providerとsinkを登録し、実行基盤から呼び出す</a:t>
            </a:r>
          </a:p>
        </p:txBody>
      </p:sp>
      <p:sp>
        <p:nvSpPr>
          <p:cNvPr id="4" name="rule-467">
            <a:extLst xmlns:a="http://schemas.openxmlformats.org/drawingml/2006/main">
              <a:ext uri="{FF2B5EF4-FFF2-40B4-BE49-F238E27FC236}">
                <a16:creationId xmlns:a16="http://schemas.microsoft.com/office/drawing/2014/main" id="{2F269476-510F-4B33-932B-95B9E0D3914A}"/>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468">
            <a:extLst xmlns:a="http://schemas.openxmlformats.org/drawingml/2006/main">
              <a:ext uri="{FF2B5EF4-FFF2-40B4-BE49-F238E27FC236}">
                <a16:creationId xmlns:a16="http://schemas.microsoft.com/office/drawing/2014/main" id="{4CCD6CA0-D335-4594-9CF3-82C89E4361ED}"/>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4E63"/>
                </a:solidFill>
                <a:latin typeface="Meiryo"/>
                <a:ea typeface="Meiryo"/>
                <a:cs typeface="Meiryo"/>
              </a:defRPr>
            </a:pPr>
            <a:r>
              <a:rPr sz="1800" b="1">
                <a:solidFill>
                  <a:srgbClr val="354E63"/>
                </a:solidFill>
                <a:latin typeface="Meiryo"/>
                <a:ea typeface="Meiryo"/>
                <a:cs typeface="Meiryo"/>
              </a:rPr>
              <a:t>専門処理をレビュー拡張に置き、手順と状態管理は共通基盤が担う</a:t>
            </a:r>
          </a:p>
        </p:txBody>
      </p:sp>
      <p:sp>
        <p:nvSpPr>
          <p:cNvPr id="6" name="text-469">
            <a:extLst xmlns:a="http://schemas.openxmlformats.org/drawingml/2006/main">
              <a:ext uri="{FF2B5EF4-FFF2-40B4-BE49-F238E27FC236}">
                <a16:creationId xmlns:a16="http://schemas.microsoft.com/office/drawing/2014/main" id="{26B56241-08B1-4B58-929F-D39563FDC0CE}"/>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35</a:t>
            </a:r>
          </a:p>
        </p:txBody>
      </p:sp>
      <p:graphicFrame>
        <p:nvGraphicFramePr>
          <p:cNvPr id="14" name=""/>
          <p:cNvGraphicFramePr/>
          <p:nvPr/>
        </p:nvGraphicFramePr>
        <p:xfrm>
          <a:off xmlns:a="http://schemas.openxmlformats.org/drawingml/2006/main" x="685800" y="2057400"/>
          <a:ext xmlns:a="http://schemas.openxmlformats.org/drawingml/2006/main" cx="10820400" cy="3619500"/>
        </p:xfrm>
        <a:graphic xmlns:a="http://schemas.openxmlformats.org/drawingml/2006/main">
          <a:graphicData uri="http://schemas.openxmlformats.org/drawingml/2006/table">
            <a:tbl>
              <a:tblPr/>
              <a:tblGrid>
                <a:gridCol w="3714750"/>
                <a:gridCol w="3429000"/>
                <a:gridCol w="3676650"/>
              </a:tblGrid>
              <a:tr h="495300">
                <a:tc>
                  <a:txBody>
                    <a:bodyPr wrap="square" lIns="133350" tIns="76200" rIns="114300" bIns="76200">
                      <a:noAutofit/>
                    </a:bodyPr>
                    <a:lstStyle/>
                    <a:p>
                      <a:r>
                        <a:rPr sz="1800" b="1">
                          <a:solidFill>
                            <a:srgbClr val="FFFFFF"/>
                          </a:solidFill>
                          <a:latin typeface="Meiryo"/>
                          <a:ea typeface="Meiryo"/>
                          <a:cs typeface="Meiryo"/>
                        </a:rPr>
                        <a:t>接続点</a:t>
                      </a:r>
                    </a:p>
                  </a:txBody>
                  <a:tcPr marL="91440" marR="91440" marT="45720" marB="45720" anchor="ctr">
                    <a:solidFill>
                      <a:srgbClr val="354E63"/>
                    </a:solidFill>
                  </a:tcPr>
                </a:tc>
                <a:tc>
                  <a:txBody>
                    <a:bodyPr wrap="square" lIns="133350" tIns="76200" rIns="114300" bIns="76200">
                      <a:noAutofit/>
                    </a:bodyPr>
                    <a:lstStyle/>
                    <a:p>
                      <a:r>
                        <a:rPr sz="1800" b="1">
                          <a:solidFill>
                            <a:srgbClr val="FFFFFF"/>
                          </a:solidFill>
                          <a:latin typeface="Meiryo"/>
                          <a:ea typeface="Meiryo"/>
                          <a:cs typeface="Meiryo"/>
                        </a:rPr>
                        <a:t>役割</a:t>
                      </a:r>
                    </a:p>
                  </a:txBody>
                  <a:tcPr marL="91440" marR="91440" marT="45720" marB="45720" anchor="ctr">
                    <a:solidFill>
                      <a:srgbClr val="354E63"/>
                    </a:solidFill>
                  </a:tcPr>
                </a:tc>
                <a:tc>
                  <a:txBody>
                    <a:bodyPr wrap="square" lIns="133350" tIns="76200" rIns="114300" bIns="76200">
                      <a:noAutofit/>
                    </a:bodyPr>
                    <a:lstStyle/>
                    <a:p>
                      <a:r>
                        <a:rPr sz="1800" b="1">
                          <a:solidFill>
                            <a:srgbClr val="FFFFFF"/>
                          </a:solidFill>
                          <a:latin typeface="Meiryo"/>
                          <a:ea typeface="Meiryo"/>
                          <a:cs typeface="Meiryo"/>
                        </a:rPr>
                        <a:t>利用例</a:t>
                      </a:r>
                    </a:p>
                  </a:txBody>
                  <a:tcPr marL="91440" marR="91440" marT="45720" marB="45720" anchor="ctr">
                    <a:solidFill>
                      <a:srgbClr val="354E63"/>
                    </a:solidFill>
                  </a:tcPr>
                </a:tc>
              </a:tr>
              <a:tr h="781050">
                <a:tc>
                  <a:txBody>
                    <a:bodyPr wrap="square" lIns="133350" tIns="76200" rIns="114300" bIns="76200">
                      <a:noAutofit/>
                    </a:bodyPr>
                    <a:lstStyle/>
                    <a:p>
                      <a:r>
                        <a:rPr sz="1800" b="0">
                          <a:solidFill>
                            <a:srgbClr val="172A3A"/>
                          </a:solidFill>
                          <a:latin typeface="Meiryo"/>
                          <a:ea typeface="Meiryo"/>
                          <a:cs typeface="Meiryo"/>
                        </a:rPr>
                        <a:t>registerActionProvider</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機械処理の呼び出し口</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レビュー資料生成・出力検証</a:t>
                      </a:r>
                    </a:p>
                  </a:txBody>
                  <a:tcPr marL="91440" marR="91440" marT="45720" marB="45720" anchor="ctr">
                    <a:solidFill>
                      <a:srgbClr val="F5F8FA"/>
                    </a:solidFill>
                  </a:tcPr>
                </a:tc>
              </a:tr>
              <a:tr h="781050">
                <a:tc>
                  <a:txBody>
                    <a:bodyPr wrap="square" lIns="133350" tIns="76200" rIns="114300" bIns="76200">
                      <a:noAutofit/>
                    </a:bodyPr>
                    <a:lstStyle/>
                    <a:p>
                      <a:r>
                        <a:rPr sz="1800" b="0">
                          <a:solidFill>
                            <a:srgbClr val="172A3A"/>
                          </a:solidFill>
                          <a:latin typeface="Meiryo"/>
                          <a:ea typeface="Meiryo"/>
                          <a:cs typeface="Meiryo"/>
                        </a:rPr>
                        <a:t>registerAgentProvider</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AI実行の呼び出し口</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promptとstateを渡して結果取得</a:t>
                      </a:r>
                    </a:p>
                  </a:txBody>
                  <a:tcPr marL="91440" marR="91440" marT="45720" marB="45720" anchor="ctr">
                    <a:solidFill>
                      <a:srgbClr val="FFFFFF"/>
                    </a:solidFill>
                  </a:tcPr>
                </a:tc>
              </a:tr>
              <a:tr h="781050">
                <a:tc>
                  <a:txBody>
                    <a:bodyPr wrap="square" lIns="133350" tIns="76200" rIns="114300" bIns="76200">
                      <a:noAutofit/>
                    </a:bodyPr>
                    <a:lstStyle/>
                    <a:p>
                      <a:r>
                        <a:rPr sz="1800" b="0">
                          <a:solidFill>
                            <a:srgbClr val="172A3A"/>
                          </a:solidFill>
                          <a:latin typeface="Meiryo"/>
                          <a:ea typeface="Meiryo"/>
                          <a:cs typeface="Meiryo"/>
                        </a:rPr>
                        <a:t>registerResultSink</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結果の保存・転送先</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ファイル保存・domain処理への連携</a:t>
                      </a:r>
                    </a:p>
                  </a:txBody>
                  <a:tcPr marL="91440" marR="91440" marT="45720" marB="45720" anchor="ctr">
                    <a:solidFill>
                      <a:srgbClr val="F5F8FA"/>
                    </a:solidFill>
                  </a:tcPr>
                </a:tc>
              </a:tr>
              <a:tr h="781050">
                <a:tc>
                  <a:txBody>
                    <a:bodyPr wrap="square" lIns="133350" tIns="76200" rIns="114300" bIns="76200">
                      <a:noAutofit/>
                    </a:bodyPr>
                    <a:lstStyle/>
                    <a:p>
                      <a:r>
                        <a:rPr sz="1800" b="0">
                          <a:solidFill>
                            <a:srgbClr val="172A3A"/>
                          </a:solidFill>
                          <a:latin typeface="Meiryo"/>
                          <a:ea typeface="Meiryo"/>
                          <a:cs typeface="Meiryo"/>
                        </a:rPr>
                        <a:t>runWorkflow / runWorkflowStep</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定義全体やstepの実行</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通常実行・指定step実行</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5625253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470">
            <a:extLst xmlns:a="http://schemas.openxmlformats.org/drawingml/2006/main">
              <a:ext uri="{FF2B5EF4-FFF2-40B4-BE49-F238E27FC236}">
                <a16:creationId xmlns:a16="http://schemas.microsoft.com/office/drawing/2014/main" id="{245CAE70-5105-4D4C-BFE1-F7C242F24C1B}"/>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354E63"/>
                </a:solidFill>
                <a:latin typeface="Meiryo"/>
                <a:ea typeface="Meiryo"/>
                <a:cs typeface="Meiryo"/>
              </a:defRPr>
            </a:pPr>
            <a:r>
              <a:rPr sz="1425" b="1">
                <a:solidFill>
                  <a:srgbClr val="354E63"/>
                </a:solidFill>
                <a:latin typeface="Meiryo"/>
                <a:ea typeface="Meiryo"/>
                <a:cs typeface="Meiryo"/>
              </a:rPr>
              <a:t>連携と利用開始</a:t>
            </a:r>
          </a:p>
        </p:txBody>
      </p:sp>
      <p:sp>
        <p:nvSpPr>
          <p:cNvPr id="2" name="text-471">
            <a:extLst xmlns:a="http://schemas.openxmlformats.org/drawingml/2006/main">
              <a:ext uri="{FF2B5EF4-FFF2-40B4-BE49-F238E27FC236}">
                <a16:creationId xmlns:a16="http://schemas.microsoft.com/office/drawing/2014/main" id="{058B1530-E14B-4E24-81FD-53D232FC2942}"/>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対応形式・依存ツール・解析の限界</a:t>
            </a:r>
          </a:p>
        </p:txBody>
      </p:sp>
      <p:sp>
        <p:nvSpPr>
          <p:cNvPr id="3" name="text-472">
            <a:extLst xmlns:a="http://schemas.openxmlformats.org/drawingml/2006/main">
              <a:ext uri="{FF2B5EF4-FFF2-40B4-BE49-F238E27FC236}">
                <a16:creationId xmlns:a16="http://schemas.microsoft.com/office/drawing/2014/main" id="{5BBA2F9F-83AE-4D88-89DC-FC51892E2F07}"/>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用途ごとに、扱える入力と必要な実行環境を確認する</a:t>
            </a:r>
          </a:p>
        </p:txBody>
      </p:sp>
      <p:sp>
        <p:nvSpPr>
          <p:cNvPr id="4" name="rule-473">
            <a:extLst xmlns:a="http://schemas.openxmlformats.org/drawingml/2006/main">
              <a:ext uri="{FF2B5EF4-FFF2-40B4-BE49-F238E27FC236}">
                <a16:creationId xmlns:a16="http://schemas.microsoft.com/office/drawing/2014/main" id="{0B6763D7-146A-4019-B868-CE740438A68E}"/>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474">
            <a:extLst xmlns:a="http://schemas.openxmlformats.org/drawingml/2006/main">
              <a:ext uri="{FF2B5EF4-FFF2-40B4-BE49-F238E27FC236}">
                <a16:creationId xmlns:a16="http://schemas.microsoft.com/office/drawing/2014/main" id="{56E4CB4E-5D7B-4268-8035-4DD7A6DBE2F3}"/>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4E63"/>
                </a:solidFill>
                <a:latin typeface="Meiryo"/>
                <a:ea typeface="Meiryo"/>
                <a:cs typeface="Meiryo"/>
              </a:defRPr>
            </a:pPr>
            <a:r>
              <a:rPr sz="1800" b="1">
                <a:solidFill>
                  <a:srgbClr val="354E63"/>
                </a:solidFill>
                <a:latin typeface="Meiryo"/>
                <a:ea typeface="Meiryo"/>
                <a:cs typeface="Meiryo"/>
              </a:rPr>
              <a:t>AIが出した候補は、根拠と実際の仕様に照らして人が確認する</a:t>
            </a:r>
          </a:p>
        </p:txBody>
      </p:sp>
      <p:sp>
        <p:nvSpPr>
          <p:cNvPr id="6" name="text-475">
            <a:extLst xmlns:a="http://schemas.openxmlformats.org/drawingml/2006/main">
              <a:ext uri="{FF2B5EF4-FFF2-40B4-BE49-F238E27FC236}">
                <a16:creationId xmlns:a16="http://schemas.microsoft.com/office/drawing/2014/main" id="{5DE41925-9916-4AE3-BA95-10DEEEE04967}"/>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36</a:t>
            </a:r>
          </a:p>
        </p:txBody>
      </p:sp>
      <p:graphicFrame>
        <p:nvGraphicFramePr>
          <p:cNvPr id="14" name=""/>
          <p:cNvGraphicFramePr/>
          <p:nvPr/>
        </p:nvGraphicFramePr>
        <p:xfrm>
          <a:off xmlns:a="http://schemas.openxmlformats.org/drawingml/2006/main" x="685800" y="2057400"/>
          <a:ext xmlns:a="http://schemas.openxmlformats.org/drawingml/2006/main" cx="10820400" cy="3543300"/>
        </p:xfrm>
        <a:graphic xmlns:a="http://schemas.openxmlformats.org/drawingml/2006/main">
          <a:graphicData uri="http://schemas.openxmlformats.org/drawingml/2006/table">
            <a:tbl>
              <a:tblPr/>
              <a:tblGrid>
                <a:gridCol w="2762250"/>
                <a:gridCol w="4000500"/>
                <a:gridCol w="4057650"/>
              </a:tblGrid>
              <a:tr h="495300">
                <a:tc>
                  <a:txBody>
                    <a:bodyPr wrap="square" lIns="133350" tIns="76200" rIns="114300" bIns="76200">
                      <a:noAutofit/>
                    </a:bodyPr>
                    <a:lstStyle/>
                    <a:p>
                      <a:r>
                        <a:rPr sz="1800" b="1">
                          <a:solidFill>
                            <a:srgbClr val="FFFFFF"/>
                          </a:solidFill>
                          <a:latin typeface="Meiryo"/>
                          <a:ea typeface="Meiryo"/>
                          <a:cs typeface="Meiryo"/>
                        </a:rPr>
                        <a:t>対象</a:t>
                      </a:r>
                    </a:p>
                  </a:txBody>
                  <a:tcPr marL="91440" marR="91440" marT="45720" marB="45720" anchor="ctr">
                    <a:solidFill>
                      <a:srgbClr val="354E63"/>
                    </a:solidFill>
                  </a:tcPr>
                </a:tc>
                <a:tc>
                  <a:txBody>
                    <a:bodyPr wrap="square" lIns="133350" tIns="76200" rIns="114300" bIns="76200">
                      <a:noAutofit/>
                    </a:bodyPr>
                    <a:lstStyle/>
                    <a:p>
                      <a:r>
                        <a:rPr sz="1800" b="1">
                          <a:solidFill>
                            <a:srgbClr val="FFFFFF"/>
                          </a:solidFill>
                          <a:latin typeface="Meiryo"/>
                          <a:ea typeface="Meiryo"/>
                          <a:cs typeface="Meiryo"/>
                        </a:rPr>
                        <a:t>入力・依存</a:t>
                      </a:r>
                    </a:p>
                  </a:txBody>
                  <a:tcPr marL="91440" marR="91440" marT="45720" marB="45720" anchor="ctr">
                    <a:solidFill>
                      <a:srgbClr val="354E63"/>
                    </a:solidFill>
                  </a:tcPr>
                </a:tc>
                <a:tc>
                  <a:txBody>
                    <a:bodyPr wrap="square" lIns="133350" tIns="76200" rIns="114300" bIns="76200">
                      <a:noAutofit/>
                    </a:bodyPr>
                    <a:lstStyle/>
                    <a:p>
                      <a:r>
                        <a:rPr sz="1800" b="1">
                          <a:solidFill>
                            <a:srgbClr val="FFFFFF"/>
                          </a:solidFill>
                          <a:latin typeface="Meiryo"/>
                          <a:ea typeface="Meiryo"/>
                          <a:cs typeface="Meiryo"/>
                        </a:rPr>
                        <a:t>主な制約</a:t>
                      </a:r>
                    </a:p>
                  </a:txBody>
                  <a:tcPr marL="91440" marR="91440" marT="45720" marB="45720" anchor="ctr">
                    <a:solidFill>
                      <a:srgbClr val="354E63"/>
                    </a:solidFill>
                  </a:tcPr>
                </a:tc>
              </a:tr>
              <a:tr h="1016000">
                <a:tc>
                  <a:txBody>
                    <a:bodyPr wrap="square" lIns="133350" tIns="76200" rIns="114300" bIns="76200">
                      <a:noAutofit/>
                    </a:bodyPr>
                    <a:lstStyle/>
                    <a:p>
                      <a:r>
                        <a:rPr sz="1800" b="0">
                          <a:solidFill>
                            <a:srgbClr val="172A3A"/>
                          </a:solidFill>
                          <a:latin typeface="Meiryo"/>
                          <a:ea typeface="Meiryo"/>
                          <a:cs typeface="Meiryo"/>
                        </a:rPr>
                        <a:t>ワークフロー</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WORKFLOW.md</a:t>
                      </a:r>
                    </a:p>
                    <a:p>
                      <a:r>
                        <a:rPr sz="1800" b="0">
                          <a:solidFill>
                            <a:srgbClr val="172A3A"/>
                          </a:solidFill>
                          <a:latin typeface="Meiryo"/>
                          <a:ea typeface="Meiryo"/>
                          <a:cs typeface="Meiryo"/>
                        </a:rPr>
                        <a:t>AI stepはBobまたはprovider</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Bobなしでも編集・検証等は可能</a:t>
                      </a:r>
                    </a:p>
                    <a:p>
                      <a:r>
                        <a:rPr sz="1800" b="0">
                          <a:solidFill>
                            <a:srgbClr val="172A3A"/>
                          </a:solidFill>
                          <a:latin typeface="Meiryo"/>
                          <a:ea typeface="Meiryo"/>
                          <a:cs typeface="Meiryo"/>
                        </a:rPr>
                        <a:t>AI実行には接続先が必要</a:t>
                      </a:r>
                    </a:p>
                  </a:txBody>
                  <a:tcPr marL="91440" marR="91440" marT="45720" marB="45720" anchor="ctr">
                    <a:solidFill>
                      <a:srgbClr val="F5F8FA"/>
                    </a:solidFill>
                  </a:tcPr>
                </a:tc>
              </a:tr>
              <a:tr h="1016000">
                <a:tc>
                  <a:txBody>
                    <a:bodyPr wrap="square" lIns="133350" tIns="76200" rIns="114300" bIns="76200">
                      <a:noAutofit/>
                    </a:bodyPr>
                    <a:lstStyle/>
                    <a:p>
                      <a:r>
                        <a:rPr sz="1800" b="0">
                          <a:solidFill>
                            <a:srgbClr val="172A3A"/>
                          </a:solidFill>
                          <a:latin typeface="Meiryo"/>
                          <a:ea typeface="Meiryo"/>
                          <a:cs typeface="Meiryo"/>
                        </a:rPr>
                        <a:t>Bazaarレビュー</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Bazaar CLI</a:t>
                      </a:r>
                    </a:p>
                    <a:p>
                      <a:r>
                        <a:rPr sz="1800" b="0">
                          <a:solidFill>
                            <a:srgbClr val="172A3A"/>
                          </a:solidFill>
                          <a:latin typeface="Meiryo"/>
                          <a:ea typeface="Meiryo"/>
                          <a:cs typeface="Meiryo"/>
                        </a:rPr>
                        <a:t>規約作成はDOCX・XLSX・PDF等</a:t>
                      </a:r>
                    </a:p>
                  </a:txBody>
                  <a:tcPr marL="91440" marR="91440" marT="45720" marB="45720" anchor="ctr">
                    <a:solidFill>
                      <a:srgbClr val="FFFFFF"/>
                    </a:solidFill>
                  </a:tcPr>
                </a:tc>
                <a:tc>
                  <a:txBody>
                    <a:bodyPr wrap="square" lIns="133350" tIns="76200" rIns="114300" bIns="76200">
                      <a:noAutofit/>
                    </a:bodyPr>
                    <a:lstStyle/>
                    <a:p>
                      <a:r>
                        <a:rPr sz="1800" b="0">
                          <a:solidFill>
                            <a:srgbClr val="172A3A"/>
                          </a:solidFill>
                          <a:latin typeface="Meiryo"/>
                          <a:ea typeface="Meiryo"/>
                          <a:cs typeface="Meiryo"/>
                        </a:rPr>
                        <a:t>PDFはpdftotextと抽出可能な文字</a:t>
                      </a:r>
                    </a:p>
                    <a:p>
                      <a:r>
                        <a:rPr sz="1800" b="0">
                          <a:solidFill>
                            <a:srgbClr val="172A3A"/>
                          </a:solidFill>
                          <a:latin typeface="Meiryo"/>
                          <a:ea typeface="Meiryo"/>
                          <a:cs typeface="Meiryo"/>
                        </a:rPr>
                        <a:t>旧Office形式は変換が必要</a:t>
                      </a:r>
                    </a:p>
                  </a:txBody>
                  <a:tcPr marL="91440" marR="91440" marT="45720" marB="45720" anchor="ctr">
                    <a:solidFill>
                      <a:srgbClr val="FFFFFF"/>
                    </a:solidFill>
                  </a:tcPr>
                </a:tc>
              </a:tr>
              <a:tr h="1016000">
                <a:tc>
                  <a:txBody>
                    <a:bodyPr wrap="square" lIns="133350" tIns="76200" rIns="114300" bIns="76200">
                      <a:noAutofit/>
                    </a:bodyPr>
                    <a:lstStyle/>
                    <a:p>
                      <a:r>
                        <a:rPr sz="1800" b="0">
                          <a:solidFill>
                            <a:srgbClr val="172A3A"/>
                          </a:solidFill>
                          <a:latin typeface="Meiryo"/>
                          <a:ea typeface="Meiryo"/>
                          <a:cs typeface="Meiryo"/>
                        </a:rPr>
                        <a:t>整合プレレビュー</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Git / Bazaar差分</a:t>
                      </a:r>
                    </a:p>
                    <a:p>
                      <a:r>
                        <a:rPr sz="1800" b="0">
                          <a:solidFill>
                            <a:srgbClr val="172A3A"/>
                          </a:solidFill>
                          <a:latin typeface="Meiryo"/>
                          <a:ea typeface="Meiryo"/>
                          <a:cs typeface="Meiryo"/>
                        </a:rPr>
                        <a:t>Markdown・DOCX・XLSX</a:t>
                      </a:r>
                    </a:p>
                  </a:txBody>
                  <a:tcPr marL="91440" marR="91440" marT="45720" marB="45720" anchor="ctr">
                    <a:solidFill>
                      <a:srgbClr val="F5F8FA"/>
                    </a:solidFill>
                  </a:tcPr>
                </a:tc>
                <a:tc>
                  <a:txBody>
                    <a:bodyPr wrap="square" lIns="133350" tIns="76200" rIns="114300" bIns="76200">
                      <a:noAutofit/>
                    </a:bodyPr>
                    <a:lstStyle/>
                    <a:p>
                      <a:r>
                        <a:rPr sz="1800" b="0">
                          <a:solidFill>
                            <a:srgbClr val="172A3A"/>
                          </a:solidFill>
                          <a:latin typeface="Meiryo"/>
                          <a:ea typeface="Meiryo"/>
                          <a:cs typeface="Meiryo"/>
                        </a:rPr>
                        <a:t>PDFは文書抽出対象外</a:t>
                      </a:r>
                    </a:p>
                    <a:p>
                      <a:r>
                        <a:rPr sz="1800" b="0">
                          <a:solidFill>
                            <a:srgbClr val="172A3A"/>
                          </a:solidFill>
                          <a:latin typeface="Meiryo"/>
                          <a:ea typeface="Meiryo"/>
                          <a:cs typeface="Meiryo"/>
                        </a:rPr>
                        <a:t>C/C++は関数・呼出候補の抽出</a:t>
                      </a:r>
                    </a:p>
                  </a:txBody>
                  <a:tcPr marL="91440" marR="91440" marT="45720" marB="45720" anchor="ctr">
                    <a:solidFill>
                      <a:srgbClr val="F5F8FA"/>
                    </a:solidFill>
                  </a:tcPr>
                </a:tc>
              </a:tr>
            </a:tbl>
          </a:graphicData>
        </a:graphic>
      </p:graphicFrame>
    </p:spTree>
    <p:extLst>
      <p:ext uri="{BB962C8B-B14F-4D97-AF65-F5344CB8AC3E}">
        <p14:creationId xmlns:p14="http://schemas.microsoft.com/office/powerpoint/2010/main" val="23395509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476">
            <a:extLst xmlns:a="http://schemas.openxmlformats.org/drawingml/2006/main">
              <a:ext uri="{FF2B5EF4-FFF2-40B4-BE49-F238E27FC236}">
                <a16:creationId xmlns:a16="http://schemas.microsoft.com/office/drawing/2014/main" id="{A898A906-97FB-465B-BCAA-973F0CFC63E3}"/>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354E63"/>
                </a:solidFill>
                <a:latin typeface="Meiryo"/>
                <a:ea typeface="Meiryo"/>
                <a:cs typeface="Meiryo"/>
              </a:defRPr>
            </a:pPr>
            <a:r>
              <a:rPr sz="1425" b="1">
                <a:solidFill>
                  <a:srgbClr val="354E63"/>
                </a:solidFill>
                <a:latin typeface="Meiryo"/>
                <a:ea typeface="Meiryo"/>
                <a:cs typeface="Meiryo"/>
              </a:rPr>
              <a:t>連携と利用開始</a:t>
            </a:r>
          </a:p>
        </p:txBody>
      </p:sp>
      <p:sp>
        <p:nvSpPr>
          <p:cNvPr id="2" name="text-477">
            <a:extLst xmlns:a="http://schemas.openxmlformats.org/drawingml/2006/main">
              <a:ext uri="{FF2B5EF4-FFF2-40B4-BE49-F238E27FC236}">
                <a16:creationId xmlns:a16="http://schemas.microsoft.com/office/drawing/2014/main" id="{45AEFB9C-CD39-4E4E-B942-FD908AD7E5B1}"/>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導入と初回利用の手順</a:t>
            </a:r>
          </a:p>
        </p:txBody>
      </p:sp>
      <p:sp>
        <p:nvSpPr>
          <p:cNvPr id="3" name="text-478">
            <a:extLst xmlns:a="http://schemas.openxmlformats.org/drawingml/2006/main">
              <a:ext uri="{FF2B5EF4-FFF2-40B4-BE49-F238E27FC236}">
                <a16:creationId xmlns:a16="http://schemas.microsoft.com/office/drawing/2014/main" id="{E232C684-7CF0-4E41-BD2B-84B8A070618E}"/>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対象workspaceとツールを整え、サンプルで出力を確認する</a:t>
            </a:r>
          </a:p>
        </p:txBody>
      </p:sp>
      <p:sp>
        <p:nvSpPr>
          <p:cNvPr id="4" name="rule-479">
            <a:extLst xmlns:a="http://schemas.openxmlformats.org/drawingml/2006/main">
              <a:ext uri="{FF2B5EF4-FFF2-40B4-BE49-F238E27FC236}">
                <a16:creationId xmlns:a16="http://schemas.microsoft.com/office/drawing/2014/main" id="{AD41D4B6-0347-4BCD-9576-465729694315}"/>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480">
            <a:extLst xmlns:a="http://schemas.openxmlformats.org/drawingml/2006/main">
              <a:ext uri="{FF2B5EF4-FFF2-40B4-BE49-F238E27FC236}">
                <a16:creationId xmlns:a16="http://schemas.microsoft.com/office/drawing/2014/main" id="{DD00FF60-1F69-4831-A07A-B10185C25B1A}"/>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4E63"/>
                </a:solidFill>
                <a:latin typeface="Meiryo"/>
                <a:ea typeface="Meiryo"/>
                <a:cs typeface="Meiryo"/>
              </a:defRPr>
            </a:pPr>
            <a:r>
              <a:rPr sz="1800" b="1">
                <a:solidFill>
                  <a:srgbClr val="354E63"/>
                </a:solidFill>
                <a:latin typeface="Meiryo"/>
                <a:ea typeface="Meiryo"/>
                <a:cs typeface="Meiryo"/>
              </a:rPr>
              <a:t>最初は結果を追跡できる小さな対象で、入力から記録までを確認する</a:t>
            </a:r>
          </a:p>
        </p:txBody>
      </p:sp>
      <p:sp>
        <p:nvSpPr>
          <p:cNvPr id="6" name="text-481">
            <a:extLst xmlns:a="http://schemas.openxmlformats.org/drawingml/2006/main">
              <a:ext uri="{FF2B5EF4-FFF2-40B4-BE49-F238E27FC236}">
                <a16:creationId xmlns:a16="http://schemas.microsoft.com/office/drawing/2014/main" id="{0979D3C3-FEFA-44FE-9227-C80E7F17C079}"/>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37</a:t>
            </a:r>
          </a:p>
        </p:txBody>
      </p:sp>
      <p:sp>
        <p:nvSpPr>
          <p:cNvPr id="7" name="text-482">
            <a:extLst xmlns:a="http://schemas.openxmlformats.org/drawingml/2006/main">
              <a:ext uri="{FF2B5EF4-FFF2-40B4-BE49-F238E27FC236}">
                <a16:creationId xmlns:a16="http://schemas.microsoft.com/office/drawing/2014/main" id="{A96275B6-0BB1-4FC4-8AF5-524F5141A90E}"/>
              </a:ext>
            </a:extLst>
          </p:cNvPr>
          <p:cNvSpPr>
            <a:spLocks xmlns:a="http://schemas.openxmlformats.org/drawingml/2006/main" noGrp="1"/>
          </p:cNvSpPr>
          <p:nvPr/>
        </p:nvSpPr>
        <p:spPr>
          <a:xfrm xmlns:a="http://schemas.openxmlformats.org/drawingml/2006/main">
            <a:off x="6858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4E63"/>
                </a:solidFill>
                <a:latin typeface="Meiryo"/>
                <a:ea typeface="Meiryo"/>
                <a:cs typeface="Meiryo"/>
              </a:defRPr>
            </a:pPr>
            <a:r>
              <a:rPr sz="1650" b="1">
                <a:solidFill>
                  <a:srgbClr val="354E63"/>
                </a:solidFill>
                <a:latin typeface="Meiryo"/>
                <a:ea typeface="Meiryo"/>
                <a:cs typeface="Meiryo"/>
              </a:rPr>
              <a:t>01</a:t>
            </a:r>
          </a:p>
        </p:txBody>
      </p:sp>
      <p:sp>
        <p:nvSpPr>
          <p:cNvPr id="8" name="node-483">
            <a:extLst xmlns:a="http://schemas.openxmlformats.org/drawingml/2006/main">
              <a:ext uri="{FF2B5EF4-FFF2-40B4-BE49-F238E27FC236}">
                <a16:creationId xmlns:a16="http://schemas.microsoft.com/office/drawing/2014/main" id="{BF35DB08-30F1-4C30-A4A6-FBA99468D711}"/>
              </a:ext>
            </a:extLst>
          </p:cNvPr>
          <p:cNvSpPr>
            <a:spLocks xmlns:a="http://schemas.openxmlformats.org/drawingml/2006/main" noGrp="1"/>
          </p:cNvSpPr>
          <p:nvPr/>
        </p:nvSpPr>
        <p:spPr>
          <a:xfrm xmlns:a="http://schemas.openxmlformats.org/drawingml/2006/main">
            <a:off x="6858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354E63"/>
                </a:solidFill>
                <a:latin typeface="Meiryo"/>
                <a:ea typeface="Meiryo"/>
                <a:cs typeface="Meiryo"/>
              </a:defRPr>
            </a:pPr>
            <a:r>
              <a:rPr sz="1950" b="1">
                <a:solidFill>
                  <a:srgbClr val="354E63"/>
                </a:solidFill>
                <a:latin typeface="Meiryo"/>
                <a:ea typeface="Meiryo"/>
                <a:cs typeface="Meiryo"/>
              </a:rPr>
              <a:t>拡張を導入</a:t>
            </a:r>
          </a:p>
        </p:txBody>
      </p:sp>
      <p:sp>
        <p:nvSpPr>
          <p:cNvPr id="9" name="text-484">
            <a:extLst xmlns:a="http://schemas.openxmlformats.org/drawingml/2006/main">
              <a:ext uri="{FF2B5EF4-FFF2-40B4-BE49-F238E27FC236}">
                <a16:creationId xmlns:a16="http://schemas.microsoft.com/office/drawing/2014/main" id="{69C651B7-9EA6-4114-A7BB-4B32BFEE9A56}"/>
              </a:ext>
            </a:extLst>
          </p:cNvPr>
          <p:cNvSpPr>
            <a:spLocks xmlns:a="http://schemas.openxmlformats.org/drawingml/2006/main" noGrp="1"/>
          </p:cNvSpPr>
          <p:nvPr/>
        </p:nvSpPr>
        <p:spPr>
          <a:xfrm xmlns:a="http://schemas.openxmlformats.org/drawingml/2006/main">
            <a:off x="6858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VSIXを導入</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Bob・CLIを</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用途に応じ準備</a:t>
            </a:r>
          </a:p>
        </p:txBody>
      </p:sp>
      <p:sp>
        <p:nvSpPr>
          <p:cNvPr id="10" name="text-485">
            <a:extLst xmlns:a="http://schemas.openxmlformats.org/drawingml/2006/main">
              <a:ext uri="{FF2B5EF4-FFF2-40B4-BE49-F238E27FC236}">
                <a16:creationId xmlns:a16="http://schemas.microsoft.com/office/drawing/2014/main" id="{7451998A-51CE-474E-A16A-05A79AE136EC}"/>
              </a:ext>
            </a:extLst>
          </p:cNvPr>
          <p:cNvSpPr>
            <a:spLocks xmlns:a="http://schemas.openxmlformats.org/drawingml/2006/main" noGrp="1"/>
          </p:cNvSpPr>
          <p:nvPr/>
        </p:nvSpPr>
        <p:spPr>
          <a:xfrm xmlns:a="http://schemas.openxmlformats.org/drawingml/2006/main">
            <a:off x="291465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4E63"/>
                </a:solidFill>
                <a:latin typeface="Meiryo"/>
                <a:ea typeface="Meiryo"/>
                <a:cs typeface="Meiryo"/>
              </a:defRPr>
            </a:pPr>
            <a:r>
              <a:rPr sz="1650" b="1">
                <a:solidFill>
                  <a:srgbClr val="354E63"/>
                </a:solidFill>
                <a:latin typeface="Meiryo"/>
                <a:ea typeface="Meiryo"/>
                <a:cs typeface="Meiryo"/>
              </a:rPr>
              <a:t>02</a:t>
            </a:r>
          </a:p>
        </p:txBody>
      </p:sp>
      <p:sp>
        <p:nvSpPr>
          <p:cNvPr id="11" name="node-486">
            <a:extLst xmlns:a="http://schemas.openxmlformats.org/drawingml/2006/main">
              <a:ext uri="{FF2B5EF4-FFF2-40B4-BE49-F238E27FC236}">
                <a16:creationId xmlns:a16="http://schemas.microsoft.com/office/drawing/2014/main" id="{54B8F195-DC04-487E-A0CD-CE536AD9FA2A}"/>
              </a:ext>
            </a:extLst>
          </p:cNvPr>
          <p:cNvSpPr>
            <a:spLocks xmlns:a="http://schemas.openxmlformats.org/drawingml/2006/main" noGrp="1"/>
          </p:cNvSpPr>
          <p:nvPr/>
        </p:nvSpPr>
        <p:spPr>
          <a:xfrm xmlns:a="http://schemas.openxmlformats.org/drawingml/2006/main">
            <a:off x="291465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354E63"/>
                </a:solidFill>
                <a:latin typeface="Meiryo"/>
                <a:ea typeface="Meiryo"/>
                <a:cs typeface="Meiryo"/>
              </a:defRPr>
            </a:pPr>
            <a:r>
              <a:rPr sz="1950" b="1">
                <a:solidFill>
                  <a:srgbClr val="354E63"/>
                </a:solidFill>
                <a:latin typeface="Meiryo"/>
                <a:ea typeface="Meiryo"/>
                <a:cs typeface="Meiryo"/>
              </a:rPr>
              <a:t>環境を準備</a:t>
            </a:r>
          </a:p>
        </p:txBody>
      </p:sp>
      <p:sp>
        <p:nvSpPr>
          <p:cNvPr id="12" name="text-487">
            <a:extLst xmlns:a="http://schemas.openxmlformats.org/drawingml/2006/main">
              <a:ext uri="{FF2B5EF4-FFF2-40B4-BE49-F238E27FC236}">
                <a16:creationId xmlns:a16="http://schemas.microsoft.com/office/drawing/2014/main" id="{A56B44D0-521B-4694-A4D6-471AAE0683E0}"/>
              </a:ext>
            </a:extLst>
          </p:cNvPr>
          <p:cNvSpPr>
            <a:spLocks xmlns:a="http://schemas.openxmlformats.org/drawingml/2006/main" noGrp="1"/>
          </p:cNvSpPr>
          <p:nvPr/>
        </p:nvSpPr>
        <p:spPr>
          <a:xfrm xmlns:a="http://schemas.openxmlformats.org/drawingml/2006/main">
            <a:off x="291465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rootとtrust</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定義・規約</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入力を確認</a:t>
            </a:r>
          </a:p>
        </p:txBody>
      </p:sp>
      <p:sp>
        <p:nvSpPr>
          <p:cNvPr id="13" name="text-488">
            <a:extLst xmlns:a="http://schemas.openxmlformats.org/drawingml/2006/main">
              <a:ext uri="{FF2B5EF4-FFF2-40B4-BE49-F238E27FC236}">
                <a16:creationId xmlns:a16="http://schemas.microsoft.com/office/drawing/2014/main" id="{E9974E00-C425-41C9-B677-CCA59471BBF9}"/>
              </a:ext>
            </a:extLst>
          </p:cNvPr>
          <p:cNvSpPr>
            <a:spLocks xmlns:a="http://schemas.openxmlformats.org/drawingml/2006/main" noGrp="1"/>
          </p:cNvSpPr>
          <p:nvPr/>
        </p:nvSpPr>
        <p:spPr>
          <a:xfrm xmlns:a="http://schemas.openxmlformats.org/drawingml/2006/main">
            <a:off x="51435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4E63"/>
                </a:solidFill>
                <a:latin typeface="Meiryo"/>
                <a:ea typeface="Meiryo"/>
                <a:cs typeface="Meiryo"/>
              </a:defRPr>
            </a:pPr>
            <a:r>
              <a:rPr sz="1650" b="1">
                <a:solidFill>
                  <a:srgbClr val="354E63"/>
                </a:solidFill>
                <a:latin typeface="Meiryo"/>
                <a:ea typeface="Meiryo"/>
                <a:cs typeface="Meiryo"/>
              </a:rPr>
              <a:t>03</a:t>
            </a:r>
          </a:p>
        </p:txBody>
      </p:sp>
      <p:sp>
        <p:nvSpPr>
          <p:cNvPr id="14" name="node-489">
            <a:extLst xmlns:a="http://schemas.openxmlformats.org/drawingml/2006/main">
              <a:ext uri="{FF2B5EF4-FFF2-40B4-BE49-F238E27FC236}">
                <a16:creationId xmlns:a16="http://schemas.microsoft.com/office/drawing/2014/main" id="{499008D4-B458-4823-B4B5-77492D5FB7EE}"/>
              </a:ext>
            </a:extLst>
          </p:cNvPr>
          <p:cNvSpPr>
            <a:spLocks xmlns:a="http://schemas.openxmlformats.org/drawingml/2006/main" noGrp="1"/>
          </p:cNvSpPr>
          <p:nvPr/>
        </p:nvSpPr>
        <p:spPr>
          <a:xfrm xmlns:a="http://schemas.openxmlformats.org/drawingml/2006/main">
            <a:off x="51435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354E63"/>
                </a:solidFill>
                <a:latin typeface="Meiryo"/>
                <a:ea typeface="Meiryo"/>
                <a:cs typeface="Meiryo"/>
              </a:defRPr>
            </a:pPr>
            <a:r>
              <a:rPr sz="1950" b="1">
                <a:solidFill>
                  <a:srgbClr val="354E63"/>
                </a:solidFill>
                <a:latin typeface="Meiryo"/>
                <a:ea typeface="Meiryo"/>
                <a:cs typeface="Meiryo"/>
              </a:rPr>
              <a:t>画面を開く</a:t>
            </a:r>
          </a:p>
        </p:txBody>
      </p:sp>
      <p:sp>
        <p:nvSpPr>
          <p:cNvPr id="15" name="text-490">
            <a:extLst xmlns:a="http://schemas.openxmlformats.org/drawingml/2006/main">
              <a:ext uri="{FF2B5EF4-FFF2-40B4-BE49-F238E27FC236}">
                <a16:creationId xmlns:a16="http://schemas.microsoft.com/office/drawing/2014/main" id="{7A9C4502-9707-4C63-8A8D-64C8361D95EA}"/>
              </a:ext>
            </a:extLst>
          </p:cNvPr>
          <p:cNvSpPr>
            <a:spLocks xmlns:a="http://schemas.openxmlformats.org/drawingml/2006/main" noGrp="1"/>
          </p:cNvSpPr>
          <p:nvPr/>
        </p:nvSpPr>
        <p:spPr>
          <a:xfrm xmlns:a="http://schemas.openxmlformats.org/drawingml/2006/main">
            <a:off x="51435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操作ハブ</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Builder</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レビューGUI</a:t>
            </a:r>
          </a:p>
        </p:txBody>
      </p:sp>
      <p:sp>
        <p:nvSpPr>
          <p:cNvPr id="16" name="text-491">
            <a:extLst xmlns:a="http://schemas.openxmlformats.org/drawingml/2006/main">
              <a:ext uri="{FF2B5EF4-FFF2-40B4-BE49-F238E27FC236}">
                <a16:creationId xmlns:a16="http://schemas.microsoft.com/office/drawing/2014/main" id="{F73100D4-BF73-466B-8F92-BBDB3CA49393}"/>
              </a:ext>
            </a:extLst>
          </p:cNvPr>
          <p:cNvSpPr>
            <a:spLocks xmlns:a="http://schemas.openxmlformats.org/drawingml/2006/main" noGrp="1"/>
          </p:cNvSpPr>
          <p:nvPr/>
        </p:nvSpPr>
        <p:spPr>
          <a:xfrm xmlns:a="http://schemas.openxmlformats.org/drawingml/2006/main">
            <a:off x="737235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4E63"/>
                </a:solidFill>
                <a:latin typeface="Meiryo"/>
                <a:ea typeface="Meiryo"/>
                <a:cs typeface="Meiryo"/>
              </a:defRPr>
            </a:pPr>
            <a:r>
              <a:rPr sz="1650" b="1">
                <a:solidFill>
                  <a:srgbClr val="354E63"/>
                </a:solidFill>
                <a:latin typeface="Meiryo"/>
                <a:ea typeface="Meiryo"/>
                <a:cs typeface="Meiryo"/>
              </a:rPr>
              <a:t>04</a:t>
            </a:r>
          </a:p>
        </p:txBody>
      </p:sp>
      <p:sp>
        <p:nvSpPr>
          <p:cNvPr id="17" name="node-492">
            <a:extLst xmlns:a="http://schemas.openxmlformats.org/drawingml/2006/main">
              <a:ext uri="{FF2B5EF4-FFF2-40B4-BE49-F238E27FC236}">
                <a16:creationId xmlns:a16="http://schemas.microsoft.com/office/drawing/2014/main" id="{2603CB19-CE48-4C8E-8E7A-76007A7CA3F7}"/>
              </a:ext>
            </a:extLst>
          </p:cNvPr>
          <p:cNvSpPr>
            <a:spLocks xmlns:a="http://schemas.openxmlformats.org/drawingml/2006/main" noGrp="1"/>
          </p:cNvSpPr>
          <p:nvPr/>
        </p:nvSpPr>
        <p:spPr>
          <a:xfrm xmlns:a="http://schemas.openxmlformats.org/drawingml/2006/main">
            <a:off x="737235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354E63"/>
                </a:solidFill>
                <a:latin typeface="Meiryo"/>
                <a:ea typeface="Meiryo"/>
                <a:cs typeface="Meiryo"/>
              </a:defRPr>
            </a:pPr>
            <a:r>
              <a:rPr sz="1950" b="1">
                <a:solidFill>
                  <a:srgbClr val="354E63"/>
                </a:solidFill>
                <a:latin typeface="Meiryo"/>
                <a:ea typeface="Meiryo"/>
                <a:cs typeface="Meiryo"/>
              </a:rPr>
              <a:t>小さく試す</a:t>
            </a:r>
          </a:p>
        </p:txBody>
      </p:sp>
      <p:sp>
        <p:nvSpPr>
          <p:cNvPr id="18" name="text-493">
            <a:extLst xmlns:a="http://schemas.openxmlformats.org/drawingml/2006/main">
              <a:ext uri="{FF2B5EF4-FFF2-40B4-BE49-F238E27FC236}">
                <a16:creationId xmlns:a16="http://schemas.microsoft.com/office/drawing/2014/main" id="{E70F0666-BC1C-4F1D-BCDB-E81BFF98BE58}"/>
              </a:ext>
            </a:extLst>
          </p:cNvPr>
          <p:cNvSpPr>
            <a:spLocks xmlns:a="http://schemas.openxmlformats.org/drawingml/2006/main" noGrp="1"/>
          </p:cNvSpPr>
          <p:nvPr/>
        </p:nvSpPr>
        <p:spPr>
          <a:xfrm xmlns:a="http://schemas.openxmlformats.org/drawingml/2006/main">
            <a:off x="737235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サンプルを実行</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根拠・結果</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保存先を確認</a:t>
            </a:r>
          </a:p>
        </p:txBody>
      </p:sp>
      <p:sp>
        <p:nvSpPr>
          <p:cNvPr id="19" name="text-494">
            <a:extLst xmlns:a="http://schemas.openxmlformats.org/drawingml/2006/main">
              <a:ext uri="{FF2B5EF4-FFF2-40B4-BE49-F238E27FC236}">
                <a16:creationId xmlns:a16="http://schemas.microsoft.com/office/drawing/2014/main" id="{AE4351C8-C231-4576-8CC4-65CEC463A922}"/>
              </a:ext>
            </a:extLst>
          </p:cNvPr>
          <p:cNvSpPr>
            <a:spLocks xmlns:a="http://schemas.openxmlformats.org/drawingml/2006/main" noGrp="1"/>
          </p:cNvSpPr>
          <p:nvPr/>
        </p:nvSpPr>
        <p:spPr>
          <a:xfrm xmlns:a="http://schemas.openxmlformats.org/drawingml/2006/main">
            <a:off x="9601200" y="2352675"/>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54E63"/>
                </a:solidFill>
                <a:latin typeface="Meiryo"/>
                <a:ea typeface="Meiryo"/>
                <a:cs typeface="Meiryo"/>
              </a:defRPr>
            </a:pPr>
            <a:r>
              <a:rPr sz="1650" b="1">
                <a:solidFill>
                  <a:srgbClr val="354E63"/>
                </a:solidFill>
                <a:latin typeface="Meiryo"/>
                <a:ea typeface="Meiryo"/>
                <a:cs typeface="Meiryo"/>
              </a:rPr>
              <a:t>05</a:t>
            </a:r>
          </a:p>
        </p:txBody>
      </p:sp>
      <p:sp>
        <p:nvSpPr>
          <p:cNvPr id="20" name="node-495">
            <a:extLst xmlns:a="http://schemas.openxmlformats.org/drawingml/2006/main">
              <a:ext uri="{FF2B5EF4-FFF2-40B4-BE49-F238E27FC236}">
                <a16:creationId xmlns:a16="http://schemas.microsoft.com/office/drawing/2014/main" id="{C139D712-AFFE-4A8A-A05D-B7F6DD6378D7}"/>
              </a:ext>
            </a:extLst>
          </p:cNvPr>
          <p:cNvSpPr>
            <a:spLocks xmlns:a="http://schemas.openxmlformats.org/drawingml/2006/main" noGrp="1"/>
          </p:cNvSpPr>
          <p:nvPr/>
        </p:nvSpPr>
        <p:spPr>
          <a:xfrm xmlns:a="http://schemas.openxmlformats.org/drawingml/2006/main">
            <a:off x="9601200" y="2876550"/>
            <a:ext cx="1905000" cy="923925"/>
          </a:xfrm>
          <a:prstGeom xmlns:a="http://schemas.openxmlformats.org/drawingml/2006/main" prst="rect">
            <a:avLst/>
          </a:prstGeom>
          <a:solidFill xmlns:a="http://schemas.openxmlformats.org/drawingml/2006/main">
            <a:srgbClr val="FFFFFF"/>
          </a:solidFill>
          <a:ln xmlns:a="http://schemas.openxmlformats.org/drawingml/2006/main" w="16193">
            <a:solidFill>
              <a:srgbClr val="354E63"/>
            </a:solidFill>
          </a:ln>
        </p:spPr>
        <p:txBody>
          <a:bodyPr xmlns:a="http://schemas.openxmlformats.org/drawingml/2006/main" wrap="square" lIns="114300" tIns="76200" rIns="114300" bIns="76200" anchor="ctr">
            <a:noAutofit/>
          </a:bodyPr>
          <a:lstStyle xmlns:a="http://schemas.openxmlformats.org/drawingml/2006/main"/>
          <a:p xmlns:a="http://schemas.openxmlformats.org/drawingml/2006/main">
            <a:pPr algn="ctr">
              <a:defRPr sz="1950" b="1">
                <a:solidFill>
                  <a:srgbClr val="354E63"/>
                </a:solidFill>
                <a:latin typeface="Meiryo"/>
                <a:ea typeface="Meiryo"/>
                <a:cs typeface="Meiryo"/>
              </a:defRPr>
            </a:pPr>
            <a:r>
              <a:rPr sz="1950" b="1">
                <a:solidFill>
                  <a:srgbClr val="354E63"/>
                </a:solidFill>
                <a:latin typeface="Meiryo"/>
                <a:ea typeface="Meiryo"/>
                <a:cs typeface="Meiryo"/>
              </a:rPr>
              <a:t>運用へ展開</a:t>
            </a:r>
          </a:p>
        </p:txBody>
      </p:sp>
      <p:sp>
        <p:nvSpPr>
          <p:cNvPr id="21" name="text-496">
            <a:extLst xmlns:a="http://schemas.openxmlformats.org/drawingml/2006/main">
              <a:ext uri="{FF2B5EF4-FFF2-40B4-BE49-F238E27FC236}">
                <a16:creationId xmlns:a16="http://schemas.microsoft.com/office/drawing/2014/main" id="{3CA736DC-4294-42BC-9F2F-969F0F7C5C5B}"/>
              </a:ext>
            </a:extLst>
          </p:cNvPr>
          <p:cNvSpPr>
            <a:spLocks xmlns:a="http://schemas.openxmlformats.org/drawingml/2006/main" noGrp="1"/>
          </p:cNvSpPr>
          <p:nvPr/>
        </p:nvSpPr>
        <p:spPr>
          <a:xfrm xmlns:a="http://schemas.openxmlformats.org/drawingml/2006/main">
            <a:off x="9601200" y="4076700"/>
            <a:ext cx="1905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承認・再開</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チームの手順</a:t>
            </a:r>
          </a:p>
          <a:p xmlns:a="http://schemas.openxmlformats.org/drawingml/2006/main">
            <a:pPr algn="l">
              <a:defRPr sz="1800" b="0">
                <a:solidFill>
                  <a:srgbClr val="172A3A"/>
                </a:solidFill>
                <a:latin typeface="Meiryo"/>
                <a:ea typeface="Meiryo"/>
                <a:cs typeface="Meiryo"/>
              </a:defRPr>
            </a:pPr>
            <a:r>
              <a:rPr sz="1800" b="0">
                <a:solidFill>
                  <a:srgbClr val="172A3A"/>
                </a:solidFill>
                <a:latin typeface="Meiryo"/>
                <a:ea typeface="Meiryo"/>
                <a:cs typeface="Meiryo"/>
              </a:rPr>
              <a:t>を確認・整備</a:t>
            </a:r>
          </a:p>
        </p:txBody>
      </p:sp>
      <p:cxnSp>
        <p:nvCxnSpPr>
          <p:cNvPr id="47" name=""/>
          <p:cNvCxnSpPr>
            <a:stCxn xmlns:a="http://schemas.openxmlformats.org/drawingml/2006/main" id="8" idx="3"/>
            <a:endCxn xmlns:a="http://schemas.openxmlformats.org/drawingml/2006/main" id="11" idx="1"/>
          </p:cNvCxnSpPr>
          <p:nvPr/>
        </p:nvCxnSpPr>
        <p:spPr>
          <a:xfrm xmlns:a="http://schemas.openxmlformats.org/drawingml/2006/main">
            <a:off x="259080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8" name=""/>
          <p:cNvCxnSpPr>
            <a:stCxn xmlns:a="http://schemas.openxmlformats.org/drawingml/2006/main" id="11" idx="3"/>
            <a:endCxn xmlns:a="http://schemas.openxmlformats.org/drawingml/2006/main" id="14" idx="1"/>
          </p:cNvCxnSpPr>
          <p:nvPr/>
        </p:nvCxnSpPr>
        <p:spPr>
          <a:xfrm xmlns:a="http://schemas.openxmlformats.org/drawingml/2006/main">
            <a:off x="481965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49" name=""/>
          <p:cNvCxnSpPr>
            <a:stCxn xmlns:a="http://schemas.openxmlformats.org/drawingml/2006/main" id="14" idx="3"/>
            <a:endCxn xmlns:a="http://schemas.openxmlformats.org/drawingml/2006/main" id="17" idx="1"/>
          </p:cNvCxnSpPr>
          <p:nvPr/>
        </p:nvCxnSpPr>
        <p:spPr>
          <a:xfrm xmlns:a="http://schemas.openxmlformats.org/drawingml/2006/main">
            <a:off x="704850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cxnSp>
        <p:nvCxnSpPr>
          <p:cNvPr id="50" name=""/>
          <p:cNvCxnSpPr>
            <a:stCxn xmlns:a="http://schemas.openxmlformats.org/drawingml/2006/main" id="17" idx="3"/>
            <a:endCxn xmlns:a="http://schemas.openxmlformats.org/drawingml/2006/main" id="20" idx="1"/>
          </p:cNvCxnSpPr>
          <p:nvPr/>
        </p:nvCxnSpPr>
        <p:spPr>
          <a:xfrm xmlns:a="http://schemas.openxmlformats.org/drawingml/2006/main">
            <a:off x="9277350" y="3338513"/>
            <a:ext cx="323850" cy="0"/>
          </a:xfrm>
          <a:prstGeom xmlns:a="http://schemas.openxmlformats.org/drawingml/2006/main" prst="straightConnector1">
            <a:avLst/>
          </a:prstGeom>
          <a:ln xmlns:a="http://schemas.openxmlformats.org/drawingml/2006/main" w="19050">
            <a:solidFill>
              <a:srgbClr val="526574"/>
            </a:solidFill>
            <a:prstDash val="solid"/>
            <a:tailEnd type="arrow" w="med" len="med"/>
          </a:ln>
        </p:spPr>
      </p:cxnSp>
    </p:spTree>
    <p:extLst>
      <p:ext uri="{BB962C8B-B14F-4D97-AF65-F5344CB8AC3E}">
        <p14:creationId xmlns:p14="http://schemas.microsoft.com/office/powerpoint/2010/main" val="1631845323"/>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497">
            <a:extLst xmlns:a="http://schemas.openxmlformats.org/drawingml/2006/main">
              <a:ext uri="{FF2B5EF4-FFF2-40B4-BE49-F238E27FC236}">
                <a16:creationId xmlns:a16="http://schemas.microsoft.com/office/drawing/2014/main" id="{BB6B5F09-8C04-4F27-BD65-4BC989E11966}"/>
              </a:ext>
            </a:extLst>
          </p:cNvPr>
          <p:cNvSpPr>
            <a:spLocks xmlns:a="http://schemas.openxmlformats.org/drawingml/2006/main" noGrp="1"/>
          </p:cNvSpPr>
          <p:nvPr/>
        </p:nvSpPr>
        <p:spPr>
          <a:xfrm xmlns:a="http://schemas.openxmlformats.org/drawingml/2006/main">
            <a:off x="685800" y="285750"/>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354E63"/>
                </a:solidFill>
                <a:latin typeface="Meiryo"/>
                <a:ea typeface="Meiryo"/>
                <a:cs typeface="Meiryo"/>
              </a:defRPr>
            </a:pPr>
            <a:r>
              <a:rPr sz="1425" b="1">
                <a:solidFill>
                  <a:srgbClr val="354E63"/>
                </a:solidFill>
                <a:latin typeface="Meiryo"/>
                <a:ea typeface="Meiryo"/>
                <a:cs typeface="Meiryo"/>
              </a:rPr>
              <a:t>連携と利用開始</a:t>
            </a:r>
          </a:p>
        </p:txBody>
      </p:sp>
      <p:sp>
        <p:nvSpPr>
          <p:cNvPr id="2" name="text-498">
            <a:extLst xmlns:a="http://schemas.openxmlformats.org/drawingml/2006/main">
              <a:ext uri="{FF2B5EF4-FFF2-40B4-BE49-F238E27FC236}">
                <a16:creationId xmlns:a16="http://schemas.microsoft.com/office/drawing/2014/main" id="{4A672646-C4A0-4652-910E-54438CC356F7}"/>
              </a:ext>
            </a:extLst>
          </p:cNvPr>
          <p:cNvSpPr>
            <a:spLocks xmlns:a="http://schemas.openxmlformats.org/drawingml/2006/main" noGrp="1"/>
          </p:cNvSpPr>
          <p:nvPr/>
        </p:nvSpPr>
        <p:spPr>
          <a:xfrm xmlns:a="http://schemas.openxmlformats.org/drawingml/2006/main">
            <a:off x="685800" y="7524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2A3A"/>
                </a:solidFill>
                <a:latin typeface="Meiryo"/>
                <a:ea typeface="Meiryo"/>
                <a:cs typeface="Meiryo"/>
              </a:defRPr>
            </a:pPr>
            <a:r>
              <a:rPr sz="3150" b="1">
                <a:solidFill>
                  <a:srgbClr val="172A3A"/>
                </a:solidFill>
                <a:latin typeface="Meiryo"/>
                <a:ea typeface="Meiryo"/>
                <a:cs typeface="Meiryo"/>
              </a:rPr>
              <a:t>用途別の機能選択と参照資料</a:t>
            </a:r>
          </a:p>
        </p:txBody>
      </p:sp>
      <p:sp>
        <p:nvSpPr>
          <p:cNvPr id="3" name="text-499">
            <a:extLst xmlns:a="http://schemas.openxmlformats.org/drawingml/2006/main">
              <a:ext uri="{FF2B5EF4-FFF2-40B4-BE49-F238E27FC236}">
                <a16:creationId xmlns:a16="http://schemas.microsoft.com/office/drawing/2014/main" id="{40779478-66B9-4224-9E7D-B729FD989EF6}"/>
              </a:ext>
            </a:extLst>
          </p:cNvPr>
          <p:cNvSpPr>
            <a:spLocks xmlns:a="http://schemas.openxmlformats.org/drawingml/2006/main" noGrp="1"/>
          </p:cNvSpPr>
          <p:nvPr/>
        </p:nvSpPr>
        <p:spPr>
          <a:xfrm xmlns:a="http://schemas.openxmlformats.org/drawingml/2006/main">
            <a:off x="685800" y="14382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574"/>
                </a:solidFill>
                <a:latin typeface="Meiryo"/>
                <a:ea typeface="Meiryo"/>
                <a:cs typeface="Meiryo"/>
              </a:defRPr>
            </a:pPr>
            <a:r>
              <a:rPr sz="1875" b="0">
                <a:solidFill>
                  <a:srgbClr val="526574"/>
                </a:solidFill>
                <a:latin typeface="Meiryo"/>
                <a:ea typeface="Meiryo"/>
                <a:cs typeface="Meiryo"/>
              </a:rPr>
              <a:t>目的を決め、該当拡張のREADMEから詳しい手順へ進む</a:t>
            </a:r>
          </a:p>
        </p:txBody>
      </p:sp>
      <p:sp>
        <p:nvSpPr>
          <p:cNvPr id="4" name="rule-500">
            <a:extLst xmlns:a="http://schemas.openxmlformats.org/drawingml/2006/main">
              <a:ext uri="{FF2B5EF4-FFF2-40B4-BE49-F238E27FC236}">
                <a16:creationId xmlns:a16="http://schemas.microsoft.com/office/drawing/2014/main" id="{9209CF31-D66A-4710-8B3C-BAE0DDF9116E}"/>
              </a:ext>
            </a:extLst>
          </p:cNvPr>
          <p:cNvSpPr>
            <a:spLocks xmlns:a="http://schemas.openxmlformats.org/drawingml/2006/main" noGrp="1"/>
          </p:cNvSpPr>
          <p:nvPr/>
        </p:nvSpPr>
        <p:spPr>
          <a:xfrm xmlns:a="http://schemas.openxmlformats.org/drawingml/2006/main">
            <a:off x="685800" y="5743575"/>
            <a:ext cx="10820400" cy="0"/>
          </a:xfrm>
          <a:prstGeom xmlns:a="http://schemas.openxmlformats.org/drawingml/2006/main" prst="line">
            <a:avLst/>
          </a:prstGeom>
          <a:noFill xmlns:a="http://schemas.openxmlformats.org/drawingml/2006/main"/>
          <a:ln xmlns:a="http://schemas.openxmlformats.org/drawingml/2006/main" w="9525">
            <a:solidFill>
              <a:srgbClr val="D6DFE6"/>
            </a:solidFill>
          </a:ln>
        </p:spPr>
      </p:sp>
      <p:sp>
        <p:nvSpPr>
          <p:cNvPr id="5" name="text-501">
            <a:extLst xmlns:a="http://schemas.openxmlformats.org/drawingml/2006/main">
              <a:ext uri="{FF2B5EF4-FFF2-40B4-BE49-F238E27FC236}">
                <a16:creationId xmlns:a16="http://schemas.microsoft.com/office/drawing/2014/main" id="{2B9F1AAE-AE01-4482-94D7-95E59CFFBE75}"/>
              </a:ext>
            </a:extLst>
          </p:cNvPr>
          <p:cNvSpPr>
            <a:spLocks xmlns:a="http://schemas.openxmlformats.org/drawingml/2006/main" noGrp="1"/>
          </p:cNvSpPr>
          <p:nvPr/>
        </p:nvSpPr>
        <p:spPr>
          <a:xfrm xmlns:a="http://schemas.openxmlformats.org/drawingml/2006/main">
            <a:off x="685800" y="592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354E63"/>
                </a:solidFill>
                <a:latin typeface="Meiryo"/>
                <a:ea typeface="Meiryo"/>
                <a:cs typeface="Meiryo"/>
              </a:defRPr>
            </a:pPr>
            <a:r>
              <a:rPr sz="1800" b="1">
                <a:solidFill>
                  <a:srgbClr val="354E63"/>
                </a:solidFill>
                <a:latin typeface="Meiryo"/>
                <a:ea typeface="Meiryo"/>
                <a:cs typeface="Meiryo"/>
              </a:rPr>
              <a:t>各ページの発表者ノートに、詳しい説明と実装の参照元を収録</a:t>
            </a:r>
          </a:p>
        </p:txBody>
      </p:sp>
      <p:sp>
        <p:nvSpPr>
          <p:cNvPr id="6" name="text-502">
            <a:extLst xmlns:a="http://schemas.openxmlformats.org/drawingml/2006/main">
              <a:ext uri="{FF2B5EF4-FFF2-40B4-BE49-F238E27FC236}">
                <a16:creationId xmlns:a16="http://schemas.microsoft.com/office/drawing/2014/main" id="{FCD32A85-B004-4C28-93FD-604F9748575C}"/>
              </a:ext>
            </a:extLst>
          </p:cNvPr>
          <p:cNvSpPr>
            <a:spLocks xmlns:a="http://schemas.openxmlformats.org/drawingml/2006/main" noGrp="1"/>
          </p:cNvSpPr>
          <p:nvPr/>
        </p:nvSpPr>
        <p:spPr>
          <a:xfrm xmlns:a="http://schemas.openxmlformats.org/drawingml/2006/main">
            <a:off x="11172825" y="64579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574"/>
                </a:solidFill>
                <a:latin typeface="Meiryo"/>
                <a:ea typeface="Meiryo"/>
                <a:cs typeface="Meiryo"/>
              </a:defRPr>
            </a:pPr>
            <a:r>
              <a:rPr sz="1275" b="0">
                <a:solidFill>
                  <a:srgbClr val="526574"/>
                </a:solidFill>
                <a:latin typeface="Meiryo"/>
                <a:ea typeface="Meiryo"/>
                <a:cs typeface="Meiryo"/>
              </a:rPr>
              <a:t>38</a:t>
            </a:r>
          </a:p>
        </p:txBody>
      </p:sp>
      <p:sp>
        <p:nvSpPr>
          <p:cNvPr id="7" name="text-503">
            <a:extLst xmlns:a="http://schemas.openxmlformats.org/drawingml/2006/main">
              <a:ext uri="{FF2B5EF4-FFF2-40B4-BE49-F238E27FC236}">
                <a16:creationId xmlns:a16="http://schemas.microsoft.com/office/drawing/2014/main" id="{944CBB05-37D5-4ED4-9681-62E4D621D8B8}"/>
              </a:ext>
            </a:extLst>
          </p:cNvPr>
          <p:cNvSpPr>
            <a:spLocks xmlns:a="http://schemas.openxmlformats.org/drawingml/2006/main" noGrp="1"/>
          </p:cNvSpPr>
          <p:nvPr/>
        </p:nvSpPr>
        <p:spPr>
          <a:xfrm xmlns:a="http://schemas.openxmlformats.org/drawingml/2006/main">
            <a:off x="68580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54E63"/>
                </a:solidFill>
                <a:latin typeface="Meiryo"/>
                <a:ea typeface="Meiryo"/>
                <a:cs typeface="Meiryo"/>
              </a:defRPr>
            </a:pPr>
            <a:r>
              <a:rPr sz="2250" b="1">
                <a:solidFill>
                  <a:srgbClr val="354E63"/>
                </a:solidFill>
                <a:latin typeface="Meiryo"/>
                <a:ea typeface="Meiryo"/>
                <a:cs typeface="Meiryo"/>
              </a:rPr>
              <a:t>手順をそろえたい</a:t>
            </a:r>
          </a:p>
        </p:txBody>
      </p:sp>
      <p:sp>
        <p:nvSpPr>
          <p:cNvPr id="8" name="rule-504">
            <a:extLst xmlns:a="http://schemas.openxmlformats.org/drawingml/2006/main">
              <a:ext uri="{FF2B5EF4-FFF2-40B4-BE49-F238E27FC236}">
                <a16:creationId xmlns:a16="http://schemas.microsoft.com/office/drawing/2014/main" id="{B9837892-C9CE-4524-9D86-E19A875BE677}"/>
              </a:ext>
            </a:extLst>
          </p:cNvPr>
          <p:cNvSpPr>
            <a:spLocks xmlns:a="http://schemas.openxmlformats.org/drawingml/2006/main" noGrp="1"/>
          </p:cNvSpPr>
          <p:nvPr/>
        </p:nvSpPr>
        <p:spPr>
          <a:xfrm xmlns:a="http://schemas.openxmlformats.org/drawingml/2006/main">
            <a:off x="685800" y="3438525"/>
            <a:ext cx="3314700" cy="0"/>
          </a:xfrm>
          <a:prstGeom xmlns:a="http://schemas.openxmlformats.org/drawingml/2006/main" prst="line">
            <a:avLst/>
          </a:prstGeom>
          <a:noFill xmlns:a="http://schemas.openxmlformats.org/drawingml/2006/main"/>
          <a:ln xmlns:a="http://schemas.openxmlformats.org/drawingml/2006/main" w="9525">
            <a:solidFill>
              <a:srgbClr val="354E63"/>
            </a:solidFill>
          </a:ln>
        </p:spPr>
      </p:sp>
      <p:sp>
        <p:nvSpPr>
          <p:cNvPr id="9" name="text-505">
            <a:extLst xmlns:a="http://schemas.openxmlformats.org/drawingml/2006/main">
              <a:ext uri="{FF2B5EF4-FFF2-40B4-BE49-F238E27FC236}">
                <a16:creationId xmlns:a16="http://schemas.microsoft.com/office/drawing/2014/main" id="{D23A870B-F305-4F0B-8098-B7DBC09EB4AE}"/>
              </a:ext>
            </a:extLst>
          </p:cNvPr>
          <p:cNvSpPr>
            <a:spLocks xmlns:a="http://schemas.openxmlformats.org/drawingml/2006/main" noGrp="1"/>
          </p:cNvSpPr>
          <p:nvPr/>
        </p:nvSpPr>
        <p:spPr>
          <a:xfrm xmlns:a="http://schemas.openxmlformats.org/drawingml/2006/main">
            <a:off x="68580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ワークフロー管理</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作成・実行・承認・再開</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参照：ワークフロー管理README</a:t>
            </a:r>
          </a:p>
        </p:txBody>
      </p:sp>
      <p:sp>
        <p:nvSpPr>
          <p:cNvPr id="10" name="text-506">
            <a:extLst xmlns:a="http://schemas.openxmlformats.org/drawingml/2006/main">
              <a:ext uri="{FF2B5EF4-FFF2-40B4-BE49-F238E27FC236}">
                <a16:creationId xmlns:a16="http://schemas.microsoft.com/office/drawing/2014/main" id="{5B638F30-7056-4689-8AA1-BEB111EF76CE}"/>
              </a:ext>
            </a:extLst>
          </p:cNvPr>
          <p:cNvSpPr>
            <a:spLocks xmlns:a="http://schemas.openxmlformats.org/drawingml/2006/main" noGrp="1"/>
          </p:cNvSpPr>
          <p:nvPr/>
        </p:nvSpPr>
        <p:spPr>
          <a:xfrm xmlns:a="http://schemas.openxmlformats.org/drawingml/2006/main">
            <a:off x="443865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54E63"/>
                </a:solidFill>
                <a:latin typeface="Meiryo"/>
                <a:ea typeface="Meiryo"/>
                <a:cs typeface="Meiryo"/>
              </a:defRPr>
            </a:pPr>
            <a:r>
              <a:rPr sz="2250" b="1">
                <a:solidFill>
                  <a:srgbClr val="354E63"/>
                </a:solidFill>
                <a:latin typeface="Meiryo"/>
                <a:ea typeface="Meiryo"/>
                <a:cs typeface="Meiryo"/>
              </a:rPr>
              <a:t>変更を規約で見たい</a:t>
            </a:r>
          </a:p>
        </p:txBody>
      </p:sp>
      <p:sp>
        <p:nvSpPr>
          <p:cNvPr id="11" name="rule-507">
            <a:extLst xmlns:a="http://schemas.openxmlformats.org/drawingml/2006/main">
              <a:ext uri="{FF2B5EF4-FFF2-40B4-BE49-F238E27FC236}">
                <a16:creationId xmlns:a16="http://schemas.microsoft.com/office/drawing/2014/main" id="{4ABE16F5-5BF8-4E5F-969D-002B8B74804D}"/>
              </a:ext>
            </a:extLst>
          </p:cNvPr>
          <p:cNvSpPr>
            <a:spLocks xmlns:a="http://schemas.openxmlformats.org/drawingml/2006/main" noGrp="1"/>
          </p:cNvSpPr>
          <p:nvPr/>
        </p:nvSpPr>
        <p:spPr>
          <a:xfrm xmlns:a="http://schemas.openxmlformats.org/drawingml/2006/main">
            <a:off x="4438650" y="3438525"/>
            <a:ext cx="3314700" cy="0"/>
          </a:xfrm>
          <a:prstGeom xmlns:a="http://schemas.openxmlformats.org/drawingml/2006/main" prst="line">
            <a:avLst/>
          </a:prstGeom>
          <a:noFill xmlns:a="http://schemas.openxmlformats.org/drawingml/2006/main"/>
          <a:ln xmlns:a="http://schemas.openxmlformats.org/drawingml/2006/main" w="9525">
            <a:solidFill>
              <a:srgbClr val="354E63"/>
            </a:solidFill>
          </a:ln>
        </p:spPr>
      </p:sp>
      <p:sp>
        <p:nvSpPr>
          <p:cNvPr id="12" name="text-508">
            <a:extLst xmlns:a="http://schemas.openxmlformats.org/drawingml/2006/main">
              <a:ext uri="{FF2B5EF4-FFF2-40B4-BE49-F238E27FC236}">
                <a16:creationId xmlns:a16="http://schemas.microsoft.com/office/drawing/2014/main" id="{7DACC178-EA81-494F-BA34-E78F29DEB9FD}"/>
              </a:ext>
            </a:extLst>
          </p:cNvPr>
          <p:cNvSpPr>
            <a:spLocks xmlns:a="http://schemas.openxmlformats.org/drawingml/2006/main" noGrp="1"/>
          </p:cNvSpPr>
          <p:nvPr/>
        </p:nvSpPr>
        <p:spPr>
          <a:xfrm xmlns:a="http://schemas.openxmlformats.org/drawingml/2006/main">
            <a:off x="443865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Bazaarレビュー</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差分・規約・指摘・実績</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参照：BazaarレビューREADME</a:t>
            </a:r>
          </a:p>
        </p:txBody>
      </p:sp>
      <p:sp>
        <p:nvSpPr>
          <p:cNvPr id="13" name="text-509">
            <a:extLst xmlns:a="http://schemas.openxmlformats.org/drawingml/2006/main">
              <a:ext uri="{FF2B5EF4-FFF2-40B4-BE49-F238E27FC236}">
                <a16:creationId xmlns:a16="http://schemas.microsoft.com/office/drawing/2014/main" id="{186514DF-2F6E-4421-8A28-12E01BDC7D05}"/>
              </a:ext>
            </a:extLst>
          </p:cNvPr>
          <p:cNvSpPr>
            <a:spLocks xmlns:a="http://schemas.openxmlformats.org/drawingml/2006/main" noGrp="1"/>
          </p:cNvSpPr>
          <p:nvPr/>
        </p:nvSpPr>
        <p:spPr>
          <a:xfrm xmlns:a="http://schemas.openxmlformats.org/drawingml/2006/main">
            <a:off x="8191500" y="2524125"/>
            <a:ext cx="3314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354E63"/>
                </a:solidFill>
                <a:latin typeface="Meiryo"/>
                <a:ea typeface="Meiryo"/>
                <a:cs typeface="Meiryo"/>
              </a:defRPr>
            </a:pPr>
            <a:r>
              <a:rPr sz="2250" b="1">
                <a:solidFill>
                  <a:srgbClr val="354E63"/>
                </a:solidFill>
                <a:latin typeface="Meiryo"/>
                <a:ea typeface="Meiryo"/>
                <a:cs typeface="Meiryo"/>
              </a:rPr>
              <a:t>仕様とのずれを見たい</a:t>
            </a:r>
          </a:p>
        </p:txBody>
      </p:sp>
      <p:sp>
        <p:nvSpPr>
          <p:cNvPr id="14" name="rule-510">
            <a:extLst xmlns:a="http://schemas.openxmlformats.org/drawingml/2006/main">
              <a:ext uri="{FF2B5EF4-FFF2-40B4-BE49-F238E27FC236}">
                <a16:creationId xmlns:a16="http://schemas.microsoft.com/office/drawing/2014/main" id="{C47BC312-1794-4DCF-AEDC-A92465CA1F6E}"/>
              </a:ext>
            </a:extLst>
          </p:cNvPr>
          <p:cNvSpPr>
            <a:spLocks xmlns:a="http://schemas.openxmlformats.org/drawingml/2006/main" noGrp="1"/>
          </p:cNvSpPr>
          <p:nvPr/>
        </p:nvSpPr>
        <p:spPr>
          <a:xfrm xmlns:a="http://schemas.openxmlformats.org/drawingml/2006/main">
            <a:off x="8191500" y="3438525"/>
            <a:ext cx="3314700" cy="0"/>
          </a:xfrm>
          <a:prstGeom xmlns:a="http://schemas.openxmlformats.org/drawingml/2006/main" prst="line">
            <a:avLst/>
          </a:prstGeom>
          <a:noFill xmlns:a="http://schemas.openxmlformats.org/drawingml/2006/main"/>
          <a:ln xmlns:a="http://schemas.openxmlformats.org/drawingml/2006/main" w="9525">
            <a:solidFill>
              <a:srgbClr val="354E63"/>
            </a:solidFill>
          </a:ln>
        </p:spPr>
      </p:sp>
      <p:sp>
        <p:nvSpPr>
          <p:cNvPr id="15" name="text-511">
            <a:extLst xmlns:a="http://schemas.openxmlformats.org/drawingml/2006/main">
              <a:ext uri="{FF2B5EF4-FFF2-40B4-BE49-F238E27FC236}">
                <a16:creationId xmlns:a16="http://schemas.microsoft.com/office/drawing/2014/main" id="{A2C60F48-912C-4685-8ED2-23B7B334673E}"/>
              </a:ext>
            </a:extLst>
          </p:cNvPr>
          <p:cNvSpPr>
            <a:spLocks xmlns:a="http://schemas.openxmlformats.org/drawingml/2006/main" noGrp="1"/>
          </p:cNvSpPr>
          <p:nvPr/>
        </p:nvSpPr>
        <p:spPr>
          <a:xfrm xmlns:a="http://schemas.openxmlformats.org/drawingml/2006/main">
            <a:off x="8191500" y="3676650"/>
            <a:ext cx="331470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コード・文書整合</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差分・要求・設計・テスト</a:t>
            </a:r>
          </a:p>
          <a:p xmlns:a="http://schemas.openxmlformats.org/drawingml/2006/main">
            <a:pPr algn="l">
              <a:defRPr sz="1875" b="0">
                <a:solidFill>
                  <a:srgbClr val="172A3A"/>
                </a:solidFill>
                <a:latin typeface="Meiryo"/>
                <a:ea typeface="Meiryo"/>
                <a:cs typeface="Meiryo"/>
              </a:defRPr>
            </a:pPr>
            <a:r>
              <a:rPr sz="1875" b="0">
                <a:solidFill>
                  <a:srgbClr val="172A3A"/>
                </a:solidFill>
                <a:latin typeface="Meiryo"/>
                <a:ea typeface="Meiryo"/>
                <a:cs typeface="Meiryo"/>
              </a:rPr>
              <a:t>参照：整合プレレビューREADME</a:t>
            </a:r>
          </a:p>
        </p:txBody>
      </p:sp>
    </p:spTree>
    <p:extLst>
      <p:ext uri="{BB962C8B-B14F-4D97-AF65-F5344CB8AC3E}">
        <p14:creationId xmlns:p14="http://schemas.microsoft.com/office/powerpoint/2010/main" val="6513263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2026-09-17T17:37:15.3370000Z</dcterms:created>
  <dcterms:modified xsi:type="dcterms:W3CDTF">2026-09-17T17:37:15.3380000Z</dcterms:modified>
</coreProperties>
</file>